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ptos Bold" panose="020B0004020202020204" charset="0"/>
      <p:regular r:id="rId12"/>
    </p:embeddedFont>
    <p:embeddedFont>
      <p:font typeface="Aptos Italics" panose="020B0604020202020204" charset="0"/>
      <p:regular r:id="rId13"/>
    </p:embeddedFont>
    <p:embeddedFont>
      <p:font typeface="Museo RMIT VN Bold" panose="020B0604020202020204" charset="0"/>
      <p:regular r:id="rId14"/>
    </p:embeddedFont>
    <p:embeddedFont>
      <p:font typeface="Museo RMIT VN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2"/>
            <a:stretch>
              <a:fillRect/>
            </a:stretch>
          </a:blipFill>
        </p:spPr>
        <p:txBody>
          <a:bodyPr/>
          <a:lstStyle/>
          <a:p>
            <a:endParaRPr lang="en-AU" dirty="0"/>
          </a:p>
        </p:txBody>
      </p:sp>
      <p:sp>
        <p:nvSpPr>
          <p:cNvPr id="4" name="TextBox 4"/>
          <p:cNvSpPr txBox="1"/>
          <p:nvPr/>
        </p:nvSpPr>
        <p:spPr>
          <a:xfrm>
            <a:off x="4396352" y="6624086"/>
            <a:ext cx="2826394" cy="326305"/>
          </a:xfrm>
          <a:prstGeom prst="rect">
            <a:avLst/>
          </a:prstGeom>
        </p:spPr>
        <p:txBody>
          <a:bodyPr lIns="0" tIns="0" rIns="0" bIns="0" rtlCol="0" anchor="t">
            <a:spAutoFit/>
          </a:bodyPr>
          <a:lstStyle/>
          <a:p>
            <a:pPr algn="l">
              <a:lnSpc>
                <a:spcPts val="2588"/>
              </a:lnSpc>
            </a:pPr>
            <a:r>
              <a:rPr lang="en-US" sz="2156" b="1" spc="79">
                <a:solidFill>
                  <a:srgbClr val="FFFFFF"/>
                </a:solidFill>
                <a:latin typeface="Museo RMIT VN Bold"/>
                <a:ea typeface="Museo RMIT VN Bold"/>
                <a:cs typeface="Museo RMIT VN Bold"/>
                <a:sym typeface="Museo RMIT VN Bold"/>
              </a:rPr>
              <a:t>Giáo viên thực hiện</a:t>
            </a:r>
          </a:p>
        </p:txBody>
      </p:sp>
      <p:sp>
        <p:nvSpPr>
          <p:cNvPr id="5" name="TextBox 5"/>
          <p:cNvSpPr txBox="1"/>
          <p:nvPr/>
        </p:nvSpPr>
        <p:spPr>
          <a:xfrm>
            <a:off x="4301748" y="8543518"/>
            <a:ext cx="2826394" cy="321948"/>
          </a:xfrm>
          <a:prstGeom prst="rect">
            <a:avLst/>
          </a:prstGeom>
        </p:spPr>
        <p:txBody>
          <a:bodyPr wrap="square" lIns="0" tIns="0" rIns="0" bIns="0" rtlCol="0" anchor="t">
            <a:spAutoFit/>
          </a:bodyPr>
          <a:lstStyle/>
          <a:p>
            <a:pPr algn="just">
              <a:lnSpc>
                <a:spcPts val="2588"/>
              </a:lnSpc>
            </a:pPr>
            <a:r>
              <a:rPr lang="en-US" sz="2156" dirty="0">
                <a:solidFill>
                  <a:srgbClr val="FFEA00"/>
                </a:solidFill>
                <a:latin typeface="Museo RMIT VN Light"/>
                <a:ea typeface="Museo RMIT VN Light"/>
                <a:cs typeface="Museo RMIT VN Light"/>
                <a:sym typeface="Museo RMIT VN Light"/>
              </a:rPr>
              <a:t> Phạm Thị Thùy Dung</a:t>
            </a:r>
          </a:p>
        </p:txBody>
      </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3"/>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4"/>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1" name="TextBox 11"/>
          <p:cNvSpPr txBox="1"/>
          <p:nvPr/>
        </p:nvSpPr>
        <p:spPr>
          <a:xfrm>
            <a:off x="1028700" y="4083121"/>
            <a:ext cx="16230600" cy="969387"/>
          </a:xfrm>
          <a:prstGeom prst="rect">
            <a:avLst/>
          </a:prstGeom>
        </p:spPr>
        <p:txBody>
          <a:bodyPr lIns="0" tIns="0" rIns="0" bIns="0" rtlCol="0" anchor="t">
            <a:spAutoFit/>
          </a:bodyPr>
          <a:lstStyle/>
          <a:p>
            <a:pPr algn="ctr">
              <a:lnSpc>
                <a:spcPts val="7611"/>
              </a:lnSpc>
            </a:pPr>
            <a:r>
              <a:rPr lang="en-US" sz="6453" b="1" spc="-322">
                <a:solidFill>
                  <a:srgbClr val="000054"/>
                </a:solidFill>
                <a:latin typeface="Aptos Bold"/>
                <a:ea typeface="Aptos Bold"/>
                <a:cs typeface="Aptos Bold"/>
                <a:sym typeface="Aptos Bold"/>
              </a:rPr>
              <a:t>TÊN CỦA SẢN PHẨM / SÁNG KIẾN / DỰ ÁN</a:t>
            </a:r>
          </a:p>
        </p:txBody>
      </p:sp>
      <p:sp>
        <p:nvSpPr>
          <p:cNvPr id="12" name="TextBox 12"/>
          <p:cNvSpPr txBox="1"/>
          <p:nvPr/>
        </p:nvSpPr>
        <p:spPr>
          <a:xfrm>
            <a:off x="8395088" y="6718687"/>
            <a:ext cx="7229682" cy="1000274"/>
          </a:xfrm>
          <a:prstGeom prst="rect">
            <a:avLst/>
          </a:prstGeom>
        </p:spPr>
        <p:txBody>
          <a:bodyPr lIns="0" tIns="0" rIns="0" bIns="0" rtlCol="0" anchor="t">
            <a:spAutoFit/>
          </a:bodyPr>
          <a:lstStyle/>
          <a:p>
            <a:pPr algn="l">
              <a:lnSpc>
                <a:spcPts val="2999"/>
              </a:lnSpc>
            </a:pPr>
            <a:r>
              <a:rPr lang="en-US" sz="2499" b="1" spc="92" dirty="0" err="1">
                <a:solidFill>
                  <a:srgbClr val="FFFFFF"/>
                </a:solidFill>
                <a:latin typeface="Aptos Bold"/>
                <a:ea typeface="Aptos Bold"/>
                <a:cs typeface="Aptos Bold"/>
                <a:sym typeface="Aptos Bold"/>
              </a:rPr>
              <a:t>Đơn</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vị</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công</a:t>
            </a:r>
            <a:r>
              <a:rPr lang="en-US" sz="2499" b="1" spc="92" dirty="0">
                <a:solidFill>
                  <a:srgbClr val="FFFFFF"/>
                </a:solidFill>
                <a:latin typeface="Aptos Bold"/>
                <a:ea typeface="Aptos Bold"/>
                <a:cs typeface="Aptos Bold"/>
                <a:sym typeface="Aptos Bold"/>
              </a:rPr>
              <a:t> </a:t>
            </a:r>
            <a:r>
              <a:rPr lang="en-US" sz="2499" b="1" spc="92" dirty="0" err="1">
                <a:solidFill>
                  <a:srgbClr val="FFFFFF"/>
                </a:solidFill>
                <a:latin typeface="Aptos Bold"/>
                <a:ea typeface="Aptos Bold"/>
                <a:cs typeface="Aptos Bold"/>
                <a:sym typeface="Aptos Bold"/>
              </a:rPr>
              <a:t>tác</a:t>
            </a:r>
            <a:r>
              <a:rPr lang="en-US" sz="2499" b="1" spc="92" dirty="0">
                <a:solidFill>
                  <a:srgbClr val="FFFFFF"/>
                </a:solidFill>
                <a:latin typeface="Aptos Bold"/>
                <a:ea typeface="Aptos Bold"/>
                <a:cs typeface="Aptos Bold"/>
                <a:sym typeface="Aptos Bold"/>
              </a:rPr>
              <a:t>:</a:t>
            </a:r>
          </a:p>
          <a:p>
            <a:pPr algn="l">
              <a:lnSpc>
                <a:spcPts val="2400"/>
              </a:lnSpc>
            </a:pPr>
            <a:r>
              <a:rPr lang="en-US" sz="2000" spc="74" dirty="0">
                <a:solidFill>
                  <a:srgbClr val="FFFFFF"/>
                </a:solidFill>
                <a:latin typeface="Aptos"/>
                <a:ea typeface="Aptos"/>
                <a:cs typeface="Aptos"/>
                <a:sym typeface="Aptos"/>
              </a:rPr>
              <a:t>Trường </a:t>
            </a:r>
            <a:r>
              <a:rPr lang="en-US" sz="2000" spc="74" dirty="0" err="1">
                <a:solidFill>
                  <a:srgbClr val="FFFFFF"/>
                </a:solidFill>
                <a:latin typeface="Aptos"/>
                <a:ea typeface="Aptos"/>
                <a:cs typeface="Aptos"/>
                <a:sym typeface="Aptos"/>
              </a:rPr>
              <a:t>Tiểu</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học</a:t>
            </a:r>
            <a:r>
              <a:rPr lang="en-US" sz="2000" spc="74" dirty="0">
                <a:solidFill>
                  <a:srgbClr val="FFFFFF"/>
                </a:solidFill>
                <a:latin typeface="Aptos"/>
                <a:ea typeface="Aptos"/>
                <a:cs typeface="Aptos"/>
                <a:sym typeface="Aptos"/>
              </a:rPr>
              <a:t> Huỳnh Ngọc Huệ</a:t>
            </a:r>
          </a:p>
          <a:p>
            <a:pPr algn="l">
              <a:lnSpc>
                <a:spcPts val="2400"/>
              </a:lnSpc>
            </a:pPr>
            <a:r>
              <a:rPr lang="en-US" sz="2000" spc="74" dirty="0">
                <a:solidFill>
                  <a:srgbClr val="FFFFFF"/>
                </a:solidFill>
                <a:latin typeface="Aptos"/>
                <a:ea typeface="Aptos"/>
                <a:cs typeface="Aptos"/>
                <a:sym typeface="Aptos"/>
              </a:rPr>
              <a:t>158 Hà Huy </a:t>
            </a:r>
            <a:r>
              <a:rPr lang="en-US" sz="2000" spc="74" dirty="0" err="1">
                <a:solidFill>
                  <a:srgbClr val="FFFFFF"/>
                </a:solidFill>
                <a:latin typeface="Aptos"/>
                <a:ea typeface="Aptos"/>
                <a:cs typeface="Aptos"/>
                <a:sym typeface="Aptos"/>
              </a:rPr>
              <a:t>Tập</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phường</a:t>
            </a:r>
            <a:r>
              <a:rPr lang="en-US" sz="2000" spc="74" dirty="0">
                <a:solidFill>
                  <a:srgbClr val="FFFFFF"/>
                </a:solidFill>
                <a:latin typeface="Aptos"/>
                <a:ea typeface="Aptos"/>
                <a:cs typeface="Aptos"/>
                <a:sym typeface="Aptos"/>
              </a:rPr>
              <a:t> Thanh </a:t>
            </a:r>
            <a:r>
              <a:rPr lang="en-US" sz="2000" spc="74" dirty="0" err="1">
                <a:solidFill>
                  <a:srgbClr val="FFFFFF"/>
                </a:solidFill>
                <a:latin typeface="Aptos"/>
                <a:ea typeface="Aptos"/>
                <a:cs typeface="Aptos"/>
                <a:sym typeface="Aptos"/>
              </a:rPr>
              <a:t>Khê</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thành</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phố</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Đà</a:t>
            </a:r>
            <a:r>
              <a:rPr lang="en-US" sz="2000" spc="74" dirty="0">
                <a:solidFill>
                  <a:srgbClr val="FFFFFF"/>
                </a:solidFill>
                <a:latin typeface="Aptos"/>
                <a:ea typeface="Aptos"/>
                <a:cs typeface="Aptos"/>
                <a:sym typeface="Aptos"/>
              </a:rPr>
              <a:t> </a:t>
            </a:r>
            <a:r>
              <a:rPr lang="en-US" sz="2000" spc="74" dirty="0" err="1">
                <a:solidFill>
                  <a:srgbClr val="FFFFFF"/>
                </a:solidFill>
                <a:latin typeface="Aptos"/>
                <a:ea typeface="Aptos"/>
                <a:cs typeface="Aptos"/>
                <a:sym typeface="Aptos"/>
              </a:rPr>
              <a:t>Nẵng</a:t>
            </a:r>
            <a:endParaRPr lang="en-US" sz="2000" spc="74" dirty="0">
              <a:solidFill>
                <a:srgbClr val="FFFFFF"/>
              </a:solidFill>
              <a:latin typeface="Aptos"/>
              <a:ea typeface="Aptos"/>
              <a:cs typeface="Aptos"/>
              <a:sym typeface="Aptos"/>
            </a:endParaRPr>
          </a:p>
        </p:txBody>
      </p:sp>
      <p:sp>
        <p:nvSpPr>
          <p:cNvPr id="13" name="TextBox 13"/>
          <p:cNvSpPr txBox="1"/>
          <p:nvPr/>
        </p:nvSpPr>
        <p:spPr>
          <a:xfrm>
            <a:off x="8395088" y="8021732"/>
            <a:ext cx="4557809" cy="692497"/>
          </a:xfrm>
          <a:prstGeom prst="rect">
            <a:avLst/>
          </a:prstGeom>
        </p:spPr>
        <p:txBody>
          <a:bodyPr lIns="0" tIns="0" rIns="0" bIns="0" rtlCol="0" anchor="t">
            <a:spAutoFit/>
          </a:bodyPr>
          <a:lstStyle/>
          <a:p>
            <a:pPr marL="0" lvl="0" indent="0" algn="just">
              <a:lnSpc>
                <a:spcPts val="2999"/>
              </a:lnSpc>
              <a:spcBef>
                <a:spcPct val="0"/>
              </a:spcBef>
            </a:pPr>
            <a:r>
              <a:rPr lang="en-US" sz="2499" b="1" u="none" strike="noStrike" dirty="0">
                <a:solidFill>
                  <a:srgbClr val="FFFFFF"/>
                </a:solidFill>
                <a:latin typeface="Aptos Bold"/>
                <a:ea typeface="Aptos Bold"/>
                <a:cs typeface="Aptos Bold"/>
                <a:sym typeface="Aptos Bold"/>
              </a:rPr>
              <a:t>Email:</a:t>
            </a:r>
            <a:r>
              <a:rPr lang="en-US" sz="2499" u="none" strike="noStrike" dirty="0">
                <a:solidFill>
                  <a:srgbClr val="FFFFFF"/>
                </a:solidFill>
                <a:latin typeface="Aptos"/>
                <a:ea typeface="Aptos"/>
                <a:cs typeface="Aptos"/>
                <a:sym typeface="Aptos"/>
              </a:rPr>
              <a:t> </a:t>
            </a:r>
          </a:p>
          <a:p>
            <a:pPr marL="0" lvl="0" indent="0" algn="just">
              <a:lnSpc>
                <a:spcPts val="2400"/>
              </a:lnSpc>
              <a:spcBef>
                <a:spcPct val="0"/>
              </a:spcBef>
            </a:pPr>
            <a:r>
              <a:rPr lang="en-US" sz="2000" dirty="0">
                <a:solidFill>
                  <a:srgbClr val="FFFFFF"/>
                </a:solidFill>
                <a:latin typeface="Aptos"/>
                <a:ea typeface="Aptos"/>
                <a:cs typeface="Aptos"/>
                <a:sym typeface="Aptos"/>
              </a:rPr>
              <a:t>phamthithuydungdn@gmail.com</a:t>
            </a:r>
            <a:endParaRPr lang="en-US" sz="2000" u="none" strike="noStrike" dirty="0">
              <a:solidFill>
                <a:srgbClr val="FFFFFF"/>
              </a:solidFill>
              <a:latin typeface="Aptos"/>
              <a:ea typeface="Aptos"/>
              <a:cs typeface="Aptos"/>
              <a:sym typeface="Aptos"/>
            </a:endParaRPr>
          </a:p>
        </p:txBody>
      </p:sp>
      <p:pic>
        <p:nvPicPr>
          <p:cNvPr id="15" name="Picture 14">
            <a:extLst>
              <a:ext uri="{FF2B5EF4-FFF2-40B4-BE49-F238E27FC236}">
                <a16:creationId xmlns:a16="http://schemas.microsoft.com/office/drawing/2014/main" id="{50DDC656-C352-37CC-0590-567BB72E5E91}"/>
              </a:ext>
            </a:extLst>
          </p:cNvPr>
          <p:cNvPicPr>
            <a:picLocks noChangeAspect="1"/>
          </p:cNvPicPr>
          <p:nvPr/>
        </p:nvPicPr>
        <p:blipFill>
          <a:blip r:embed="rId6">
            <a:extLst>
              <a:ext uri="{28A0092B-C50C-407E-A947-70E740481C1C}">
                <a14:useLocalDpi xmlns:a14="http://schemas.microsoft.com/office/drawing/2010/main" val="0"/>
              </a:ext>
            </a:extLst>
          </a:blip>
          <a:srcRect t="21224"/>
          <a:stretch>
            <a:fillRect/>
          </a:stretch>
        </p:blipFill>
        <p:spPr>
          <a:xfrm>
            <a:off x="4754858" y="6954070"/>
            <a:ext cx="1524000" cy="1589448"/>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4"/>
                </a:lnSpc>
              </a:pPr>
              <a:endParaRPr/>
            </a:p>
          </p:txBody>
        </p:sp>
      </p:grpSp>
      <p:sp>
        <p:nvSpPr>
          <p:cNvPr id="7" name="TextBox 7"/>
          <p:cNvSpPr txBox="1"/>
          <p:nvPr/>
        </p:nvSpPr>
        <p:spPr>
          <a:xfrm>
            <a:off x="9976477" y="895350"/>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DÀN Ý SLIDE</a:t>
            </a:r>
          </a:p>
        </p:txBody>
      </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4"/>
              </a:lnSpc>
            </a:pPr>
            <a:r>
              <a:rPr lang="en-US" sz="2600" b="1" spc="96">
                <a:solidFill>
                  <a:srgbClr val="000054"/>
                </a:solidFill>
                <a:latin typeface="Aptos Bold"/>
                <a:ea typeface="Aptos Bold"/>
                <a:cs typeface="Aptos Bold"/>
                <a:sym typeface="Aptos Bold"/>
              </a:rPr>
              <a:t>Giải Thưởng Tiên Phong Ứng Dụng AI Trong Giáo Dục Việt Nam 2026</a:t>
            </a:r>
          </a:p>
        </p:txBody>
      </p:sp>
      <p:sp>
        <p:nvSpPr>
          <p:cNvPr id="9" name="TextBox 9"/>
          <p:cNvSpPr txBox="1"/>
          <p:nvPr/>
        </p:nvSpPr>
        <p:spPr>
          <a:xfrm>
            <a:off x="9302422" y="1856514"/>
            <a:ext cx="6733407" cy="1145658"/>
          </a:xfrm>
          <a:prstGeom prst="rect">
            <a:avLst/>
          </a:prstGeom>
        </p:spPr>
        <p:txBody>
          <a:bodyPr lIns="0" tIns="0" rIns="0" bIns="0" rtlCol="0" anchor="t">
            <a:spAutoFit/>
          </a:bodyPr>
          <a:lstStyle/>
          <a:p>
            <a:pPr marL="653460" lvl="1" indent="-326730" algn="l">
              <a:lnSpc>
                <a:spcPts val="4661"/>
              </a:lnSpc>
              <a:buFont typeface="Arial"/>
              <a:buChar char="•"/>
            </a:pPr>
            <a:r>
              <a:rPr lang="en-US" sz="3026" i="1">
                <a:solidFill>
                  <a:srgbClr val="000054"/>
                </a:solidFill>
                <a:latin typeface="Aptos Italics"/>
                <a:ea typeface="Aptos Italics"/>
                <a:cs typeface="Aptos Italics"/>
                <a:sym typeface="Aptos Italics"/>
              </a:rPr>
              <a:t>Liệt kê ngắn ngọn các nội dung chính trong bài trình bày</a:t>
            </a:r>
          </a:p>
        </p:txBody>
      </p:sp>
      <p:sp>
        <p:nvSpPr>
          <p:cNvPr id="10" name="TextBox 10"/>
          <p:cNvSpPr txBox="1"/>
          <p:nvPr/>
        </p:nvSpPr>
        <p:spPr>
          <a:xfrm>
            <a:off x="1882397" y="4389696"/>
            <a:ext cx="5245291" cy="1145658"/>
          </a:xfrm>
          <a:prstGeom prst="rect">
            <a:avLst/>
          </a:prstGeom>
        </p:spPr>
        <p:txBody>
          <a:bodyPr lIns="0" tIns="0" rIns="0" bIns="0" rtlCol="0" anchor="t">
            <a:spAutoFit/>
          </a:bodyPr>
          <a:lstStyle/>
          <a:p>
            <a:pPr algn="l">
              <a:lnSpc>
                <a:spcPts val="4661"/>
              </a:lnSpc>
            </a:pPr>
            <a:r>
              <a:rPr lang="en-US" sz="3026" i="1">
                <a:solidFill>
                  <a:srgbClr val="000054"/>
                </a:solidFill>
                <a:latin typeface="Aptos Italics"/>
                <a:ea typeface="Aptos Italics"/>
                <a:cs typeface="Aptos Italics"/>
                <a:sym typeface="Aptos Italics"/>
              </a:rPr>
              <a:t>[Thêm hình minh họa của dự án vào ô này]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NỘI DUNG BÀI TRÌNH BÀY</a:t>
            </a:r>
          </a:p>
        </p:txBody>
      </p:sp>
      <p:sp>
        <p:nvSpPr>
          <p:cNvPr id="4" name="TextBox 4"/>
          <p:cNvSpPr txBox="1"/>
          <p:nvPr/>
        </p:nvSpPr>
        <p:spPr>
          <a:xfrm>
            <a:off x="714375" y="2027149"/>
            <a:ext cx="16868775" cy="5551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Liệt kê ngắn ngọn các nội dung chính trong bài trình bày</a:t>
            </a:r>
          </a:p>
        </p:txBody>
      </p:sp>
      <p:sp>
        <p:nvSpPr>
          <p:cNvPr id="5" name="TextBox 5"/>
          <p:cNvSpPr txBox="1"/>
          <p:nvPr/>
        </p:nvSpPr>
        <p:spPr>
          <a:xfrm>
            <a:off x="1028700" y="4266387"/>
            <a:ext cx="16554450" cy="2917308"/>
          </a:xfrm>
          <a:prstGeom prst="rect">
            <a:avLst/>
          </a:prstGeom>
        </p:spPr>
        <p:txBody>
          <a:bodyPr lIns="0" tIns="0" rIns="0" bIns="0" rtlCol="0" anchor="t">
            <a:spAutoFit/>
          </a:bodyPr>
          <a:lstStyle/>
          <a:p>
            <a:pPr algn="l">
              <a:lnSpc>
                <a:spcPts val="4661"/>
              </a:lnSpc>
            </a:pPr>
            <a:r>
              <a:rPr lang="en-US" sz="3026" i="1">
                <a:solidFill>
                  <a:srgbClr val="000054"/>
                </a:solidFill>
                <a:latin typeface="Aptos Italics"/>
                <a:ea typeface="Aptos Italics"/>
                <a:cs typeface="Aptos Italics"/>
                <a:sym typeface="Aptos Italics"/>
              </a:rPr>
              <a:t>Nội dung trong các slides tiếp theo là đề xuất. Toàn bộ nội dung trong các slide sau cần thay thế phần hướng dẫn bằng thông tin thực tế của sản phẩm. Thầy/cô có thể điều chỉnh linh hoạt, tự do trình bày và định dạng nội dung theo phong cách riêng.</a:t>
            </a:r>
          </a:p>
          <a:p>
            <a:pPr algn="l">
              <a:lnSpc>
                <a:spcPts val="4661"/>
              </a:lnSpc>
            </a:pPr>
            <a:endParaRPr lang="en-US" sz="3026" i="1">
              <a:solidFill>
                <a:srgbClr val="000054"/>
              </a:solidFill>
              <a:latin typeface="Aptos Italics"/>
              <a:ea typeface="Aptos Italics"/>
              <a:cs typeface="Aptos Italics"/>
              <a:sym typeface="Aptos Italics"/>
            </a:endParaRPr>
          </a:p>
          <a:p>
            <a:pPr algn="l">
              <a:lnSpc>
                <a:spcPts val="4661"/>
              </a:lnSpc>
            </a:pPr>
            <a:r>
              <a:rPr lang="en-US" sz="3026" i="1">
                <a:solidFill>
                  <a:srgbClr val="000054"/>
                </a:solidFill>
                <a:latin typeface="Aptos Italics"/>
                <a:ea typeface="Aptos Italics"/>
                <a:cs typeface="Aptos Italics"/>
                <a:sym typeface="Aptos Italics"/>
              </a:rPr>
              <a:t>Lưu ý: Tổng số slide không được vượt quá 15 (bao gồm slide tiêu đề).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BỐI CẢNH VÀ VẤN ĐỀ</a:t>
            </a:r>
          </a:p>
        </p:txBody>
      </p:sp>
      <p:sp>
        <p:nvSpPr>
          <p:cNvPr id="4" name="TextBox 4"/>
          <p:cNvSpPr txBox="1"/>
          <p:nvPr/>
        </p:nvSpPr>
        <p:spPr>
          <a:xfrm>
            <a:off x="714375" y="2027149"/>
            <a:ext cx="16868775" cy="350785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Trình bày ngắn gọn dưới dạng gạch đầu dòng để nêu rõ vấn đề thực tế trong dạy học hoặc quản lý mà thầy/cô gặp phải.</a:t>
            </a:r>
          </a:p>
          <a:p>
            <a:pPr marL="1306919" lvl="2" indent="-435640" algn="l">
              <a:lnSpc>
                <a:spcPts val="4661"/>
              </a:lnSpc>
              <a:buFont typeface="Arial"/>
              <a:buChar char="⚬"/>
            </a:pPr>
            <a:r>
              <a:rPr lang="en-US" sz="3026">
                <a:solidFill>
                  <a:srgbClr val="000054"/>
                </a:solidFill>
                <a:latin typeface="Aptos"/>
                <a:ea typeface="Aptos"/>
                <a:cs typeface="Aptos"/>
                <a:sym typeface="Aptos"/>
              </a:rPr>
              <a:t>Ai là đối tượng chính (học sinh, giáo viên, hoặc nhà trường) ?</a:t>
            </a:r>
          </a:p>
          <a:p>
            <a:pPr marL="1306919" lvl="2" indent="-435640" algn="l">
              <a:lnSpc>
                <a:spcPts val="4661"/>
              </a:lnSpc>
              <a:buFont typeface="Arial"/>
              <a:buChar char="⚬"/>
            </a:pPr>
            <a:r>
              <a:rPr lang="en-US" sz="3026">
                <a:solidFill>
                  <a:srgbClr val="000054"/>
                </a:solidFill>
                <a:latin typeface="Aptos"/>
                <a:ea typeface="Aptos"/>
                <a:cs typeface="Aptos"/>
                <a:sym typeface="Aptos"/>
              </a:rPr>
              <a:t>Cung cấp số liệu hoặc thống kê nếu có để hỗ trợ giám khảo đánh giá. Thêm phản hồi, câu chuyện hoặc ví dụ cụ thể nếu có để tăng sức thuyết phục.</a:t>
            </a:r>
          </a:p>
          <a:p>
            <a:pPr algn="l">
              <a:lnSpc>
                <a:spcPts val="4661"/>
              </a:lnSpc>
            </a:pPr>
            <a:endParaRPr lang="en-US" sz="3026">
              <a:solidFill>
                <a:srgbClr val="000054"/>
              </a:solidFill>
              <a:latin typeface="Aptos"/>
              <a:ea typeface="Aptos"/>
              <a:cs typeface="Aptos"/>
              <a:sym typeface="Aptos"/>
            </a:endParaRP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2027149"/>
            <a:ext cx="16868775" cy="64606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rõ ý tưởng hoặc giải pháp AI đề ra cho vấn đề</a:t>
            </a:r>
          </a:p>
          <a:p>
            <a:pPr marL="1306919" lvl="2" indent="-435640" algn="l">
              <a:lnSpc>
                <a:spcPts val="4661"/>
              </a:lnSpc>
              <a:buFont typeface="Arial"/>
              <a:buChar char="⚬"/>
            </a:pPr>
            <a:r>
              <a:rPr lang="en-US" sz="3026">
                <a:solidFill>
                  <a:srgbClr val="000054"/>
                </a:solidFill>
                <a:latin typeface="Aptos"/>
                <a:ea typeface="Aptos"/>
                <a:cs typeface="Aptos"/>
                <a:sym typeface="Aptos"/>
              </a:rPr>
              <a:t>Ghi ngắn gọn tên công cụ, công nghệ hoặc nền tảng AI.</a:t>
            </a:r>
          </a:p>
          <a:p>
            <a:pPr marL="1306919" lvl="2" indent="-435640" algn="l">
              <a:lnSpc>
                <a:spcPts val="4661"/>
              </a:lnSpc>
              <a:buFont typeface="Arial"/>
              <a:buChar char="⚬"/>
            </a:pPr>
            <a:r>
              <a:rPr lang="en-US" sz="3026">
                <a:solidFill>
                  <a:srgbClr val="000054"/>
                </a:solidFill>
                <a:latin typeface="Aptos"/>
                <a:ea typeface="Aptos"/>
                <a:cs typeface="Aptos"/>
                <a:sym typeface="Aptos"/>
              </a:rPr>
              <a:t>Vì sao thầy/cô chọn AI? AI giải quyết điểm gì tốt hơn cách truyền thống?</a:t>
            </a:r>
          </a:p>
          <a:p>
            <a:pPr marL="1306919" lvl="2" indent="-435640" algn="l">
              <a:lnSpc>
                <a:spcPts val="4661"/>
              </a:lnSpc>
              <a:buFont typeface="Arial"/>
              <a:buChar char="⚬"/>
            </a:pPr>
            <a:r>
              <a:rPr lang="en-US" sz="3026">
                <a:solidFill>
                  <a:srgbClr val="000054"/>
                </a:solidFill>
                <a:latin typeface="Aptos"/>
                <a:ea typeface="Aptos"/>
                <a:cs typeface="Aptos"/>
                <a:sym typeface="Aptos"/>
              </a:rPr>
              <a:t>Tính đạo đức và trách nhiệm: làm sao để đảm bảo nội dung an toàn, chính xác, và khuyến khích sử dụng AI có trách nhiệm?</a:t>
            </a:r>
          </a:p>
          <a:p>
            <a:pPr algn="l">
              <a:lnSpc>
                <a:spcPts val="4661"/>
              </a:lnSpc>
            </a:pPr>
            <a:endParaRPr lang="en-US" sz="3026">
              <a:solidFill>
                <a:srgbClr val="000054"/>
              </a:solidFill>
              <a:latin typeface="Aptos"/>
              <a:ea typeface="Aptos"/>
              <a:cs typeface="Aptos"/>
              <a:sym typeface="Aptos"/>
            </a:endParaRPr>
          </a:p>
          <a:p>
            <a:pPr marL="653460" lvl="1" indent="-326730" algn="l">
              <a:lnSpc>
                <a:spcPts val="4661"/>
              </a:lnSpc>
              <a:buFont typeface="Arial"/>
              <a:buChar char="•"/>
            </a:pPr>
            <a:r>
              <a:rPr lang="en-US" sz="3026">
                <a:solidFill>
                  <a:srgbClr val="000054"/>
                </a:solidFill>
                <a:latin typeface="Aptos"/>
                <a:ea typeface="Aptos"/>
                <a:cs typeface="Aptos"/>
                <a:sym typeface="Aptos"/>
              </a:rPr>
              <a:t>Cách thực hiện giải pháp này:</a:t>
            </a:r>
          </a:p>
          <a:p>
            <a:pPr marL="1306919" lvl="2" indent="-435640" algn="l">
              <a:lnSpc>
                <a:spcPts val="4661"/>
              </a:lnSpc>
              <a:buFont typeface="Arial"/>
              <a:buChar char="⚬"/>
            </a:pPr>
            <a:r>
              <a:rPr lang="en-US" sz="3026">
                <a:solidFill>
                  <a:srgbClr val="000054"/>
                </a:solidFill>
                <a:latin typeface="Aptos"/>
                <a:ea typeface="Aptos"/>
                <a:cs typeface="Aptos"/>
                <a:sym typeface="Aptos"/>
              </a:rPr>
              <a:t>Prompt đi kèm, tài liệu đính kèm nếu có</a:t>
            </a:r>
          </a:p>
          <a:p>
            <a:pPr marL="1306919" lvl="2" indent="-435640" algn="l">
              <a:lnSpc>
                <a:spcPts val="4661"/>
              </a:lnSpc>
              <a:buFont typeface="Arial"/>
              <a:buChar char="⚬"/>
            </a:pPr>
            <a:r>
              <a:rPr lang="en-US" sz="3026">
                <a:solidFill>
                  <a:srgbClr val="000054"/>
                </a:solidFill>
                <a:latin typeface="Aptos"/>
                <a:ea typeface="Aptos"/>
                <a:cs typeface="Aptos"/>
                <a:sym typeface="Aptos"/>
              </a:rPr>
              <a:t>Cung cấp vài ảnh chụp màn hình của sán phẩm nếu có. </a:t>
            </a:r>
          </a:p>
          <a:p>
            <a:pPr marL="1306919" lvl="2" indent="-435640" algn="l">
              <a:lnSpc>
                <a:spcPts val="4661"/>
              </a:lnSpc>
              <a:buFont typeface="Arial"/>
              <a:buChar char="⚬"/>
            </a:pPr>
            <a:r>
              <a:rPr lang="en-US" sz="3026">
                <a:solidFill>
                  <a:srgbClr val="000054"/>
                </a:solidFill>
                <a:latin typeface="Aptos"/>
                <a:ea typeface="Aptos"/>
                <a:cs typeface="Aptos"/>
                <a:sym typeface="Aptos"/>
              </a:rPr>
              <a:t>Có thể nhúng kèm link, video, ảnh, âm thanh kèm theo</a:t>
            </a:r>
          </a:p>
          <a:p>
            <a:pPr algn="l">
              <a:lnSpc>
                <a:spcPts val="4661"/>
              </a:lnSpc>
            </a:pPr>
            <a:endParaRPr lang="en-US" sz="3026">
              <a:solidFill>
                <a:srgbClr val="000054"/>
              </a:solidFill>
              <a:latin typeface="Aptos"/>
              <a:ea typeface="Aptos"/>
              <a:cs typeface="Aptos"/>
              <a:sym typeface="Aptos"/>
            </a:endParaRP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p:cNvSpPr txBox="1"/>
          <p:nvPr/>
        </p:nvSpPr>
        <p:spPr>
          <a:xfrm>
            <a:off x="882811" y="1005632"/>
            <a:ext cx="1330466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Ý TƯỞNG VÀ GIẢI PHÁP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TRIỂN KHAI THỰC TẾ</a:t>
            </a:r>
          </a:p>
        </p:txBody>
      </p:sp>
      <p:sp>
        <p:nvSpPr>
          <p:cNvPr id="3" name="TextBox 3"/>
          <p:cNvSpPr txBox="1"/>
          <p:nvPr/>
        </p:nvSpPr>
        <p:spPr>
          <a:xfrm>
            <a:off x="714375" y="2027149"/>
            <a:ext cx="16868775" cy="29173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mô tả cách triển khai giải pháp</a:t>
            </a:r>
          </a:p>
          <a:p>
            <a:pPr marL="1306919" lvl="2" indent="-435640" algn="l">
              <a:lnSpc>
                <a:spcPts val="4661"/>
              </a:lnSpc>
              <a:buFont typeface="Arial"/>
              <a:buChar char="⚬"/>
            </a:pPr>
            <a:r>
              <a:rPr lang="en-US" sz="3026">
                <a:solidFill>
                  <a:srgbClr val="000054"/>
                </a:solidFill>
                <a:latin typeface="Aptos"/>
                <a:ea typeface="Aptos"/>
                <a:cs typeface="Aptos"/>
                <a:sym typeface="Aptos"/>
              </a:rPr>
              <a:t>Triển khai ra sao (ví dụ, giáo án, hoạt động lớp, tích hợp vào phần mềm quản lý ?)</a:t>
            </a:r>
          </a:p>
          <a:p>
            <a:pPr marL="1306919" lvl="2" indent="-435640" algn="l">
              <a:lnSpc>
                <a:spcPts val="4661"/>
              </a:lnSpc>
              <a:buFont typeface="Arial"/>
              <a:buChar char="⚬"/>
            </a:pPr>
            <a:r>
              <a:rPr lang="en-US" sz="3026">
                <a:solidFill>
                  <a:srgbClr val="000054"/>
                </a:solidFill>
                <a:latin typeface="Aptos"/>
                <a:ea typeface="Aptos"/>
                <a:cs typeface="Aptos"/>
                <a:sym typeface="Aptos"/>
              </a:rPr>
              <a:t>Thời gian triển khai (bao nhiêu tháng/từ bao giờ đến nay)</a:t>
            </a:r>
          </a:p>
          <a:p>
            <a:pPr marL="1306919" lvl="2" indent="-435640" algn="l">
              <a:lnSpc>
                <a:spcPts val="4661"/>
              </a:lnSpc>
              <a:buFont typeface="Arial"/>
              <a:buChar char="⚬"/>
            </a:pPr>
            <a:r>
              <a:rPr lang="en-US" sz="3026">
                <a:solidFill>
                  <a:srgbClr val="000054"/>
                </a:solidFill>
                <a:latin typeface="Aptos"/>
                <a:ea typeface="Aptos"/>
                <a:cs typeface="Aptos"/>
                <a:sym typeface="Aptos"/>
              </a:rPr>
              <a:t>Đối tượng sử dụng/hưởng lợi (giáo viên, học sinh, hay quản lý) và số lượng</a:t>
            </a:r>
          </a:p>
          <a:p>
            <a:pPr algn="l">
              <a:lnSpc>
                <a:spcPts val="4661"/>
              </a:lnSpc>
            </a:pPr>
            <a:endParaRPr lang="en-US" sz="3026">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571860"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KẾT QUẢ VÀ TÁC ĐỘNG </a:t>
            </a:r>
          </a:p>
        </p:txBody>
      </p:sp>
      <p:sp>
        <p:nvSpPr>
          <p:cNvPr id="3" name="TextBox 3"/>
          <p:cNvSpPr txBox="1"/>
          <p:nvPr/>
        </p:nvSpPr>
        <p:spPr>
          <a:xfrm>
            <a:off x="714375" y="2027149"/>
            <a:ext cx="16868775" cy="468895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nêu mô tả kết quả áp dụng sáng kiến và sản phẩm</a:t>
            </a:r>
          </a:p>
          <a:p>
            <a:pPr marL="653460" lvl="1" indent="-326730" algn="l">
              <a:lnSpc>
                <a:spcPts val="4661"/>
              </a:lnSpc>
              <a:buFont typeface="Arial"/>
              <a:buChar char="•"/>
            </a:pPr>
            <a:r>
              <a:rPr lang="en-US" sz="3026">
                <a:solidFill>
                  <a:srgbClr val="000054"/>
                </a:solidFill>
                <a:latin typeface="Aptos"/>
                <a:ea typeface="Aptos"/>
                <a:cs typeface="Aptos"/>
                <a:sym typeface="Aptos"/>
              </a:rPr>
              <a:t>Trình bày thay đổi sau khi áp dụng:</a:t>
            </a:r>
          </a:p>
          <a:p>
            <a:pPr marL="1306919" lvl="2" indent="-435640" algn="l">
              <a:lnSpc>
                <a:spcPts val="4661"/>
              </a:lnSpc>
              <a:buFont typeface="Arial"/>
              <a:buChar char="⚬"/>
            </a:pPr>
            <a:r>
              <a:rPr lang="en-US" sz="3026">
                <a:solidFill>
                  <a:srgbClr val="000054"/>
                </a:solidFill>
                <a:latin typeface="Aptos"/>
                <a:ea typeface="Aptos"/>
                <a:cs typeface="Aptos"/>
                <a:sym typeface="Aptos"/>
              </a:rPr>
              <a:t>Học sinh: ví dụ, tích cực hơn? điểm tốt hơn?</a:t>
            </a:r>
          </a:p>
          <a:p>
            <a:pPr marL="1306919" lvl="2" indent="-435640" algn="l">
              <a:lnSpc>
                <a:spcPts val="4661"/>
              </a:lnSpc>
              <a:buFont typeface="Arial"/>
              <a:buChar char="⚬"/>
            </a:pPr>
            <a:r>
              <a:rPr lang="en-US" sz="3026">
                <a:solidFill>
                  <a:srgbClr val="000054"/>
                </a:solidFill>
                <a:latin typeface="Aptos"/>
                <a:ea typeface="Aptos"/>
                <a:cs typeface="Aptos"/>
                <a:sym typeface="Aptos"/>
              </a:rPr>
              <a:t>Giáo viên: ví dụ, tiết kiệm thời gian? nâng cao hiệu quả?</a:t>
            </a:r>
          </a:p>
          <a:p>
            <a:pPr marL="653460" lvl="1" indent="-326730" algn="l">
              <a:lnSpc>
                <a:spcPts val="4661"/>
              </a:lnSpc>
              <a:buFont typeface="Arial"/>
              <a:buChar char="•"/>
            </a:pPr>
            <a:r>
              <a:rPr lang="en-US" sz="3026">
                <a:solidFill>
                  <a:srgbClr val="000054"/>
                </a:solidFill>
                <a:latin typeface="Aptos"/>
                <a:ea typeface="Aptos"/>
                <a:cs typeface="Aptos"/>
                <a:sym typeface="Aptos"/>
              </a:rPr>
              <a:t>Đưa minh chứng và số liệu nếu có (ví dụ: bảng khảo sát, hình ảnh sản phẩm học sinh, nhật ký sử dụng…)</a:t>
            </a:r>
          </a:p>
          <a:p>
            <a:pPr marL="653460" lvl="1" indent="-326730" algn="l">
              <a:lnSpc>
                <a:spcPts val="4661"/>
              </a:lnSpc>
              <a:buFont typeface="Arial"/>
              <a:buChar char="•"/>
            </a:pPr>
            <a:r>
              <a:rPr lang="en-US" sz="3026">
                <a:solidFill>
                  <a:srgbClr val="000054"/>
                </a:solidFill>
                <a:latin typeface="Aptos"/>
                <a:ea typeface="Aptos"/>
                <a:cs typeface="Aptos"/>
                <a:sym typeface="Aptos"/>
              </a:rPr>
              <a:t>Trích dẫn phản hồi từ học sinh, đồng nghiệp, phụ huynh nếu có…</a:t>
            </a:r>
          </a:p>
          <a:p>
            <a:pPr algn="l">
              <a:lnSpc>
                <a:spcPts val="4661"/>
              </a:lnSpc>
            </a:pPr>
            <a:endParaRPr lang="en-US" sz="3026">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7606673"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THẢO LUẬN VÀ TỔNG KẾT</a:t>
            </a:r>
          </a:p>
        </p:txBody>
      </p:sp>
      <p:sp>
        <p:nvSpPr>
          <p:cNvPr id="3" name="TextBox 3"/>
          <p:cNvSpPr txBox="1"/>
          <p:nvPr/>
        </p:nvSpPr>
        <p:spPr>
          <a:xfrm>
            <a:off x="714375" y="1940442"/>
            <a:ext cx="16868775" cy="29173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So sánh với giải pháp trước đây, giải pháp mới tốt hơn ở điểm nào.</a:t>
            </a:r>
          </a:p>
          <a:p>
            <a:pPr marL="653460" lvl="1" indent="-326730" algn="l">
              <a:lnSpc>
                <a:spcPts val="4661"/>
              </a:lnSpc>
              <a:buFont typeface="Arial"/>
              <a:buChar char="•"/>
            </a:pPr>
            <a:r>
              <a:rPr lang="en-US" sz="3026">
                <a:solidFill>
                  <a:srgbClr val="000054"/>
                </a:solidFill>
                <a:latin typeface="Aptos"/>
                <a:ea typeface="Aptos"/>
                <a:cs typeface="Aptos"/>
                <a:sym typeface="Aptos"/>
              </a:rPr>
              <a:t>Trình bày tính bền vững, khả năng nhân rộng, và/hoặc khả năng điều chỉnh và áp dụng ở bối cảnh khác nếu có</a:t>
            </a:r>
          </a:p>
          <a:p>
            <a:pPr marL="653460" lvl="1" indent="-326730" algn="l">
              <a:lnSpc>
                <a:spcPts val="4661"/>
              </a:lnSpc>
              <a:buFont typeface="Arial"/>
              <a:buChar char="•"/>
            </a:pPr>
            <a:r>
              <a:rPr lang="en-US" sz="3026">
                <a:solidFill>
                  <a:srgbClr val="000054"/>
                </a:solidFill>
                <a:latin typeface="Aptos"/>
                <a:ea typeface="Aptos"/>
                <a:cs typeface="Aptos"/>
                <a:sym typeface="Aptos"/>
              </a:rPr>
              <a:t>Định hướng phát triển trong tương lai: trình bày phương hướng để tiếp tục triển khai và cải thiện sản phẩm/giải pháp </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847484" cy="810962"/>
          </a:xfrm>
          <a:prstGeom prst="rect">
            <a:avLst/>
          </a:prstGeom>
        </p:spPr>
        <p:txBody>
          <a:bodyPr lIns="0" tIns="0" rIns="0" bIns="0" rtlCol="0" anchor="t">
            <a:spAutoFit/>
          </a:bodyPr>
          <a:lstStyle/>
          <a:p>
            <a:pPr marL="0" lvl="0" indent="0" algn="l">
              <a:lnSpc>
                <a:spcPts val="6862"/>
              </a:lnSpc>
              <a:spcBef>
                <a:spcPct val="0"/>
              </a:spcBef>
            </a:pPr>
            <a:r>
              <a:rPr lang="en-US" sz="4477" b="1" spc="-223">
                <a:solidFill>
                  <a:srgbClr val="000054"/>
                </a:solidFill>
                <a:latin typeface="Aptos Bold"/>
                <a:ea typeface="Aptos Bold"/>
                <a:cs typeface="Aptos Bold"/>
                <a:sym typeface="Aptos Bold"/>
              </a:rPr>
              <a:t>TÀI LIỆU/THÔNG TIN ĐÍNH KÈM (NẾU CÓ)</a:t>
            </a:r>
          </a:p>
        </p:txBody>
      </p:sp>
      <p:sp>
        <p:nvSpPr>
          <p:cNvPr id="3" name="TextBox 3"/>
          <p:cNvSpPr txBox="1"/>
          <p:nvPr/>
        </p:nvSpPr>
        <p:spPr>
          <a:xfrm>
            <a:off x="714375" y="2027149"/>
            <a:ext cx="16868775" cy="4098408"/>
          </a:xfrm>
          <a:prstGeom prst="rect">
            <a:avLst/>
          </a:prstGeom>
        </p:spPr>
        <p:txBody>
          <a:bodyPr lIns="0" tIns="0" rIns="0" bIns="0" rtlCol="0" anchor="t">
            <a:spAutoFit/>
          </a:bodyPr>
          <a:lstStyle/>
          <a:p>
            <a:pPr marL="653460" lvl="1" indent="-326730" algn="l">
              <a:lnSpc>
                <a:spcPts val="4661"/>
              </a:lnSpc>
              <a:buFont typeface="Arial"/>
              <a:buChar char="•"/>
            </a:pPr>
            <a:r>
              <a:rPr lang="en-US" sz="3026">
                <a:solidFill>
                  <a:srgbClr val="000054"/>
                </a:solidFill>
                <a:latin typeface="Aptos"/>
                <a:ea typeface="Aptos"/>
                <a:cs typeface="Aptos"/>
                <a:sym typeface="Aptos"/>
              </a:rPr>
              <a:t>Thầy/cô có thể cung cấp tài liệu hay thông tin đính kèm với giải pháp. Ví dụ như:</a:t>
            </a:r>
          </a:p>
          <a:p>
            <a:pPr marL="1306919" lvl="2" indent="-435640" algn="l">
              <a:lnSpc>
                <a:spcPts val="4661"/>
              </a:lnSpc>
              <a:buFont typeface="Arial"/>
              <a:buChar char="⚬"/>
            </a:pPr>
            <a:r>
              <a:rPr lang="en-US" sz="3026">
                <a:solidFill>
                  <a:srgbClr val="000054"/>
                </a:solidFill>
                <a:latin typeface="Aptos"/>
                <a:ea typeface="Aptos"/>
                <a:cs typeface="Aptos"/>
                <a:sym typeface="Aptos"/>
              </a:rPr>
              <a:t>Đường dẫn tới thư mục Google Drive/ OneDrive chứa tài liệu đính kèm</a:t>
            </a:r>
          </a:p>
          <a:p>
            <a:pPr marL="1306919" lvl="2" indent="-435640" algn="l">
              <a:lnSpc>
                <a:spcPts val="4661"/>
              </a:lnSpc>
              <a:buFont typeface="Arial"/>
              <a:buChar char="⚬"/>
            </a:pPr>
            <a:r>
              <a:rPr lang="en-US" sz="3026">
                <a:solidFill>
                  <a:srgbClr val="000054"/>
                </a:solidFill>
                <a:latin typeface="Aptos"/>
                <a:ea typeface="Aptos"/>
                <a:cs typeface="Aptos"/>
                <a:sym typeface="Aptos"/>
              </a:rPr>
              <a:t>Đường dẫn tới YouTube video hoặc ảnh sử dụng kèm</a:t>
            </a:r>
          </a:p>
          <a:p>
            <a:pPr marL="1306919" lvl="2" indent="-435640" algn="l">
              <a:lnSpc>
                <a:spcPts val="4661"/>
              </a:lnSpc>
              <a:buFont typeface="Arial"/>
              <a:buChar char="⚬"/>
            </a:pPr>
            <a:r>
              <a:rPr lang="en-US" sz="3026">
                <a:solidFill>
                  <a:srgbClr val="000054"/>
                </a:solidFill>
                <a:latin typeface="Aptos"/>
                <a:ea typeface="Aptos"/>
                <a:cs typeface="Aptos"/>
                <a:sym typeface="Aptos"/>
              </a:rPr>
              <a:t>Nguồn tham khảo nếu có </a:t>
            </a:r>
          </a:p>
          <a:p>
            <a:pPr algn="l">
              <a:lnSpc>
                <a:spcPts val="4661"/>
              </a:lnSpc>
            </a:pPr>
            <a:endParaRPr lang="en-US" sz="3026">
              <a:solidFill>
                <a:srgbClr val="000054"/>
              </a:solidFill>
              <a:latin typeface="Aptos"/>
              <a:ea typeface="Aptos"/>
              <a:cs typeface="Aptos"/>
              <a:sym typeface="Aptos"/>
            </a:endParaRPr>
          </a:p>
          <a:p>
            <a:pPr algn="l">
              <a:lnSpc>
                <a:spcPts val="4661"/>
              </a:lnSpc>
            </a:pPr>
            <a:r>
              <a:rPr lang="en-US" sz="3026">
                <a:solidFill>
                  <a:srgbClr val="000054"/>
                </a:solidFill>
                <a:latin typeface="Aptos"/>
                <a:ea typeface="Aptos"/>
                <a:cs typeface="Aptos"/>
                <a:sym typeface="Aptos"/>
              </a:rPr>
              <a:t>Lưu ý các đường dẫn cần được chia sẻ ở chế độ công khai. Khuyến khích thầy cô sử dụng các dịch vụ rút gọn tên đường dẫn như tinyurl hoặc bitly để cho ngắn gọn</a:t>
            </a: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55</TotalTime>
  <Words>832</Words>
  <Application>Microsoft Office PowerPoint</Application>
  <PresentationFormat>Custom</PresentationFormat>
  <Paragraphs>82</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Calibri</vt:lpstr>
      <vt:lpstr>Aptos Bold</vt:lpstr>
      <vt:lpstr>Museo RMIT VN Light</vt:lpstr>
      <vt:lpstr>Museo RMIT VN Bold</vt:lpstr>
      <vt:lpstr>Arial</vt:lpstr>
      <vt:lpstr>Aptos Italics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dc:creator>Dell</dc:creator>
  <cp:lastModifiedBy>Hieu Tran</cp:lastModifiedBy>
  <cp:revision>3</cp:revision>
  <dcterms:created xsi:type="dcterms:W3CDTF">2006-08-16T00:00:00Z</dcterms:created>
  <dcterms:modified xsi:type="dcterms:W3CDTF">2026-10-22T16:17:35Z</dcterms:modified>
  <dc:identifier>DAHWihqIcbo</dc:identifier>
</cp:coreProperties>
</file>