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embeddedFontLst>
    <p:embeddedFont>
      <p:font typeface="Be Vietnam Pro" panose="020B0604020202020204" charset="0"/>
      <p:regular r:id="rId16"/>
      <p:bold r:id="rId17"/>
      <p:italic r:id="rId18"/>
      <p:boldItalic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0316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Ban giám khảo. Em/tôi là Phạm Thị Thùy Dung, giáo viên chủ nhiệm lớp 4, Trường Tiểu học Huỳnh Ngọc Huệ, Đà Nẵng. Sản phẩm dự thi: Vương quốc Từ hay – Câu đẹp Lớp 4, ứng dụng ôn luyện phân môn Luyện từ và câu, chủ đề "Lớp học số tích hợp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10 phần, đi từ vấn đề thực tế của lớp, ý tưởng dùng AI, sản phẩm, cách triển khai đến kết quả và hướng phát triển.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vấn đề thực tế của lớp. Cô thay các ô [__] bằng số liệu thật của lớp (sĩ số, tỉ lệ học sinh nhầm từ loại) và một câu chuyện cụ thể.</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tưởng cốt lõi: học sinh luyện tập không qua AI, AI chỉ đứng sau hỗ trợ giáo viên, mọi nội dung AI tạo ra đều được cô duyệt trước.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học sinh: 35 trạm theo 35 tuần, mỗi trạm có phần Ghi nhớ, Mẹo nhỏ và ba mức luyện tập. Học sinh chỉ nhập họ tên, lớp; không cần tài khoản.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Dạng bài Thám tử AI giúp học sinh hiểu AI có thể sai và hình thành thói quen kiểm tra lại, một kĩ năng sử dụng AI có trách nhiệm ngay từ tiểu học.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Trợ lý AI chạy bằng tài khoản Claude của cô, chỉ khi cô mở ứng dụng trong Claude. Kèm theo là bảng Kết quả lớp theo từng chủ điểm và nút tải bảng kết quả CSV.</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nguyên tắc giúp sử dụng AI an toàn, chính xác và có trách nhiệm trong lớp tiểu học.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tả vòng luyện tập hằng tuần. Cô điền thời gian triển khai và số học sinh thực tế vào các ô [__].</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 điền số liệu thật từ bảng Kết quả lớp (tải CSV trong Góc giáo viên), bảng khảo sát và phản hồi của học sinh, phụ huynh.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với cách làm trước, nêu tính bền vững và hướng phát triển. Cô chỉnh phần Định hướng theo kế hoạch thật.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 thay các ô [ ] bằng đường dẫn thật, nhớ để chế độ công khai.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Ban giám khảo đã lắng nghe.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09600"/>
            <a:ext cx="10972800" cy="419100"/>
          </a:xfrm>
          <a:prstGeom prst="rect">
            <a:avLst/>
          </a:prstGeom>
          <a:noFill/>
          <a:ln/>
        </p:spPr>
        <p:txBody>
          <a:bodyPr wrap="square" lIns="0" tIns="0" rIns="0" bIns="0" rtlCol="0" anchor="t"/>
          <a:lstStyle>
            <a:lvl1pPr marL="0" indent="0" algn="l">
              <a:lnSpc>
                <a:spcPct val="115000"/>
              </a:lnSpc>
              <a:buNone/>
              <a:defRPr lang="en-US" sz="3000" dirty="0">
                <a:solidFill>
                  <a:srgbClr val="000054"/>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609600" y="1333500"/>
            <a:ext cx="10769600" cy="4711700"/>
          </a:xfrm>
          <a:prstGeom prst="rect">
            <a:avLst/>
          </a:prstGeom>
          <a:noFill/>
          <a:ln/>
        </p:spPr>
        <p:txBody>
          <a:bodyPr wrap="square" lIns="0" tIns="0" rIns="0" bIns="0" rtlCol="0" anchor="t"/>
          <a:lstStyle>
            <a:lvl1pPr marL="0" indent="0" algn="l">
              <a:lnSpc>
                <a:spcPct val="140000"/>
              </a:lnSpc>
              <a:buNone/>
              <a:defRPr lang="en-US" sz="1600" dirty="0">
                <a:solidFill>
                  <a:srgbClr val="000054"/>
                </a:solidFill>
                <a:latin typeface="Be Vietnam Pro" pitchFamily="34" charset="0"/>
                <a:ea typeface="Be Vietnam Pro" pitchFamily="34" charset="-122"/>
                <a:cs typeface="Be Vietnam Pr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09600"/>
            <a:ext cx="10972800" cy="419100"/>
          </a:xfrm>
          <a:prstGeom prst="rect">
            <a:avLst/>
          </a:prstGeom>
          <a:noFill/>
          <a:ln/>
        </p:spPr>
        <p:txBody>
          <a:bodyPr wrap="square" lIns="0" tIns="0" rIns="0" bIns="0" rtlCol="0" anchor="t"/>
          <a:lstStyle>
            <a:lvl1pPr marL="0" indent="0" algn="l">
              <a:lnSpc>
                <a:spcPct val="115000"/>
              </a:lnSpc>
              <a:buNone/>
              <a:defRPr lang="en-US" sz="3000" dirty="0">
                <a:solidFill>
                  <a:srgbClr val="000054"/>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609600" y="1333500"/>
            <a:ext cx="10769600" cy="4711700"/>
          </a:xfrm>
          <a:prstGeom prst="rect">
            <a:avLst/>
          </a:prstGeom>
          <a:noFill/>
          <a:ln/>
        </p:spPr>
        <p:txBody>
          <a:bodyPr wrap="square" lIns="0" tIns="0" rIns="0" bIns="0" rtlCol="0" anchor="t"/>
          <a:lstStyle>
            <a:lvl1pPr marL="0" indent="0" algn="l">
              <a:lnSpc>
                <a:spcPct val="140000"/>
              </a:lnSpc>
              <a:buNone/>
              <a:defRPr lang="en-US" sz="1600" dirty="0">
                <a:solidFill>
                  <a:srgbClr val="000054"/>
                </a:solidFill>
                <a:latin typeface="Be Vietnam Pro" pitchFamily="34" charset="0"/>
                <a:ea typeface="Be Vietnam Pro" pitchFamily="34" charset="-122"/>
                <a:cs typeface="Be Vietnam Pr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hyperlink" Target="https://github.com/dungptt-dng/tramtu-vacau-lop4"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 Hồ sơ sản phẩm tham gia"/>
          <p:cNvPicPr>
            <a:picLocks noChangeAspect="1"/>
          </p:cNvPicPr>
          <p:nvPr/>
        </p:nvPicPr>
        <p:blipFill>
          <a:blip r:embed="rId3"/>
          <a:srcRect t="4" b="4"/>
          <a:stretch/>
        </p:blipFill>
        <p:spPr>
          <a:xfrm>
            <a:off x="0" y="0"/>
            <a:ext cx="12192000" cy="1917700"/>
          </a:xfrm>
          <a:prstGeom prst="rect">
            <a:avLst/>
          </a:prstGeom>
        </p:spPr>
      </p:pic>
      <p:sp>
        <p:nvSpPr>
          <p:cNvPr id="3" name="Text 0"/>
          <p:cNvSpPr>
            <a:spLocks noGrp="1"/>
          </p:cNvSpPr>
          <p:nvPr>
            <p:ph type="title"/>
          </p:nvPr>
        </p:nvSpPr>
        <p:spPr>
          <a:xfrm>
            <a:off x="445008" y="2489200"/>
            <a:ext cx="11301984" cy="556260"/>
          </a:xfrm>
          <a:prstGeom prst="rect">
            <a:avLst/>
          </a:prstGeom>
          <a:noFill/>
          <a:ln/>
        </p:spPr>
        <p:txBody>
          <a:bodyPr wrap="square" lIns="0" tIns="0" rIns="0" bIns="0" rtlCol="0" anchor="t">
            <a:normAutofit/>
          </a:bodyPr>
          <a:lstStyle/>
          <a:p>
            <a:pPr marL="0" indent="0" algn="ctr">
              <a:lnSpc>
                <a:spcPts val="4180"/>
              </a:lnSpc>
              <a:buNone/>
            </a:pPr>
            <a:r>
              <a:rPr lang="en-US" sz="3800" b="1" i="0" dirty="0">
                <a:solidFill>
                  <a:srgbClr val="000054"/>
                </a:solidFill>
                <a:latin typeface="Arial" panose="020B0604020202020204" pitchFamily="34" charset="0"/>
                <a:ea typeface="Be Vietnam Pro" pitchFamily="34" charset="-122"/>
                <a:cs typeface="Be Vietnam Pro" pitchFamily="34" charset="-120"/>
              </a:rPr>
              <a:t>VƯƠNG QUỐC TỪ HAY – CÂU ĐẸP LỚP 4</a:t>
            </a:r>
            <a:endParaRPr lang="en-US" sz="3800" dirty="0">
              <a:latin typeface="Arial" panose="020B0604020202020204" pitchFamily="34" charset="0"/>
            </a:endParaRPr>
          </a:p>
        </p:txBody>
      </p:sp>
      <p:sp>
        <p:nvSpPr>
          <p:cNvPr id="4" name="Text 1"/>
          <p:cNvSpPr/>
          <p:nvPr/>
        </p:nvSpPr>
        <p:spPr>
          <a:xfrm>
            <a:off x="445008" y="3175000"/>
            <a:ext cx="11301984" cy="299720"/>
          </a:xfrm>
          <a:prstGeom prst="rect">
            <a:avLst/>
          </a:prstGeom>
          <a:noFill/>
          <a:ln/>
        </p:spPr>
        <p:txBody>
          <a:bodyPr wrap="square" lIns="0" tIns="0" rIns="0" bIns="0" rtlCol="0" anchor="t">
            <a:noAutofit/>
          </a:bodyPr>
          <a:lstStyle/>
          <a:p>
            <a:pPr marL="0" indent="0" algn="ctr">
              <a:lnSpc>
                <a:spcPts val="2160"/>
              </a:lnSpc>
              <a:buNone/>
            </a:pPr>
            <a:r>
              <a:rPr lang="en-US" dirty="0">
                <a:solidFill>
                  <a:srgbClr val="3A4170"/>
                </a:solidFill>
                <a:latin typeface="Arial" panose="020B0604020202020204" pitchFamily="34" charset="0"/>
                <a:ea typeface="Be Vietnam Pro" pitchFamily="34" charset="-122"/>
                <a:cs typeface="Be Vietnam Pro" pitchFamily="34" charset="-120"/>
              </a:rPr>
              <a:t>Ứng dụng ôn luyện </a:t>
            </a:r>
            <a:r>
              <a:rPr lang="en-US" b="1" dirty="0">
                <a:solidFill>
                  <a:srgbClr val="1E5BD8"/>
                </a:solidFill>
                <a:latin typeface="Arial" panose="020B0604020202020204" pitchFamily="34" charset="0"/>
                <a:ea typeface="Be Vietnam Pro" pitchFamily="34" charset="-122"/>
                <a:cs typeface="Be Vietnam Pro" pitchFamily="34" charset="-120"/>
              </a:rPr>
              <a:t>Luyện từ và câu – Tiếng Việt 4</a:t>
            </a:r>
            <a:r>
              <a:rPr lang="en-US" dirty="0">
                <a:solidFill>
                  <a:srgbClr val="3A4170"/>
                </a:solidFill>
                <a:latin typeface="Arial" panose="020B0604020202020204" pitchFamily="34" charset="0"/>
                <a:ea typeface="Be Vietnam Pro" pitchFamily="34" charset="-122"/>
                <a:cs typeface="Be Vietnam Pro" pitchFamily="34" charset="-120"/>
              </a:rPr>
              <a:t> (Kết nối tri thức) có trợ lý AI cho giáo viên</a:t>
            </a:r>
            <a:endParaRPr lang="en-US" dirty="0">
              <a:latin typeface="Arial" panose="020B0604020202020204" pitchFamily="34" charset="0"/>
            </a:endParaRPr>
          </a:p>
        </p:txBody>
      </p:sp>
      <p:pic>
        <p:nvPicPr>
          <p:cNvPr id="5" name="Image 1"/>
          <p:cNvPicPr>
            <a:picLocks noChangeAspect="1"/>
          </p:cNvPicPr>
          <p:nvPr/>
        </p:nvPicPr>
        <p:blipFill>
          <a:blip r:embed="rId4"/>
          <a:srcRect t="126" b="126"/>
          <a:stretch/>
        </p:blipFill>
        <p:spPr>
          <a:xfrm>
            <a:off x="685800" y="4165600"/>
            <a:ext cx="10820400" cy="2006600"/>
          </a:xfrm>
          <a:prstGeom prst="rect">
            <a:avLst/>
          </a:prstGeom>
        </p:spPr>
      </p:pic>
      <p:pic>
        <p:nvPicPr>
          <p:cNvPr id="6" name="Image 2" descr="Biểu tượng giáo viên"/>
          <p:cNvPicPr>
            <a:picLocks noChangeAspect="1"/>
          </p:cNvPicPr>
          <p:nvPr/>
        </p:nvPicPr>
        <p:blipFill>
          <a:blip r:embed="rId5"/>
          <a:srcRect l="-54" r="-54"/>
          <a:stretch/>
        </p:blipFill>
        <p:spPr>
          <a:xfrm>
            <a:off x="355600" y="3784600"/>
            <a:ext cx="1117600" cy="1250950"/>
          </a:xfrm>
          <a:prstGeom prst="rect">
            <a:avLst/>
          </a:prstGeom>
        </p:spPr>
      </p:pic>
      <p:sp>
        <p:nvSpPr>
          <p:cNvPr id="7" name="Text 2"/>
          <p:cNvSpPr/>
          <p:nvPr/>
        </p:nvSpPr>
        <p:spPr>
          <a:xfrm>
            <a:off x="2444115" y="4343400"/>
            <a:ext cx="2223770" cy="238760"/>
          </a:xfrm>
          <a:prstGeom prst="rect">
            <a:avLst/>
          </a:prstGeom>
          <a:noFill/>
          <a:ln/>
        </p:spPr>
        <p:txBody>
          <a:bodyPr wrap="square" lIns="0" tIns="0" rIns="0" bIns="0" rtlCol="0" anchor="t">
            <a:noAutofit/>
          </a:bodyPr>
          <a:lstStyle/>
          <a:p>
            <a:pPr marL="0" indent="0" algn="ctr">
              <a:lnSpc>
                <a:spcPts val="1680"/>
              </a:lnSpc>
              <a:buNone/>
            </a:pPr>
            <a:r>
              <a:rPr lang="en-US" sz="1300" b="1" dirty="0">
                <a:solidFill>
                  <a:srgbClr val="FFFFFF"/>
                </a:solidFill>
                <a:latin typeface="Arial" panose="020B0604020202020204" pitchFamily="34" charset="0"/>
                <a:ea typeface="Be Vietnam Pro" pitchFamily="34" charset="-122"/>
                <a:cs typeface="Be Vietnam Pro" pitchFamily="34" charset="-120"/>
              </a:rPr>
              <a:t>Giáo viên thực hiện</a:t>
            </a:r>
            <a:endParaRPr lang="en-US" sz="1300" dirty="0">
              <a:latin typeface="Arial" panose="020B0604020202020204" pitchFamily="34" charset="0"/>
            </a:endParaRPr>
          </a:p>
        </p:txBody>
      </p:sp>
      <p:pic>
        <p:nvPicPr>
          <p:cNvPr id="8" name="Image 3" descr="Ảnh cô Phạm Thị Thùy Dung"/>
          <p:cNvPicPr>
            <a:picLocks noChangeAspect="1"/>
          </p:cNvPicPr>
          <p:nvPr/>
        </p:nvPicPr>
        <p:blipFill>
          <a:blip r:embed="rId6"/>
          <a:srcRect/>
          <a:stretch/>
        </p:blipFill>
        <p:spPr>
          <a:xfrm>
            <a:off x="3073400" y="4648200"/>
            <a:ext cx="965200" cy="965200"/>
          </a:xfrm>
          <a:prstGeom prst="ellipse">
            <a:avLst/>
          </a:prstGeom>
        </p:spPr>
      </p:pic>
      <p:sp>
        <p:nvSpPr>
          <p:cNvPr id="9" name="Shape 3"/>
          <p:cNvSpPr/>
          <p:nvPr/>
        </p:nvSpPr>
        <p:spPr>
          <a:xfrm>
            <a:off x="3060700" y="4635500"/>
            <a:ext cx="990600" cy="990600"/>
          </a:xfrm>
          <a:prstGeom prst="ellipse">
            <a:avLst/>
          </a:prstGeom>
          <a:noFill/>
          <a:ln w="25400">
            <a:solidFill>
              <a:srgbClr val="FFEA00"/>
            </a:solidFill>
            <a:prstDash val="solid"/>
          </a:ln>
        </p:spPr>
      </p:sp>
      <p:sp>
        <p:nvSpPr>
          <p:cNvPr id="10" name="Text 4"/>
          <p:cNvSpPr/>
          <p:nvPr/>
        </p:nvSpPr>
        <p:spPr>
          <a:xfrm>
            <a:off x="2444115" y="5727700"/>
            <a:ext cx="2223770" cy="256540"/>
          </a:xfrm>
          <a:prstGeom prst="rect">
            <a:avLst/>
          </a:prstGeom>
          <a:noFill/>
          <a:ln/>
        </p:spPr>
        <p:txBody>
          <a:bodyPr wrap="square" lIns="0" tIns="0" rIns="0" bIns="0" rtlCol="0" anchor="t">
            <a:noAutofit/>
          </a:bodyPr>
          <a:lstStyle/>
          <a:p>
            <a:pPr marL="0" indent="0" algn="ctr">
              <a:lnSpc>
                <a:spcPts val="1820"/>
              </a:lnSpc>
              <a:buNone/>
            </a:pPr>
            <a:r>
              <a:rPr lang="en-US" sz="1400" b="1" dirty="0">
                <a:solidFill>
                  <a:srgbClr val="FFEA00"/>
                </a:solidFill>
                <a:latin typeface="Arial" panose="020B0604020202020204" pitchFamily="34" charset="0"/>
                <a:ea typeface="Be Vietnam Pro" pitchFamily="34" charset="-122"/>
                <a:cs typeface="Be Vietnam Pro" pitchFamily="34" charset="-120"/>
              </a:rPr>
              <a:t>Phạm Thị Thùy Dung</a:t>
            </a:r>
            <a:endParaRPr lang="en-US" sz="1400" dirty="0">
              <a:latin typeface="Arial" panose="020B0604020202020204" pitchFamily="34" charset="0"/>
            </a:endParaRPr>
          </a:p>
        </p:txBody>
      </p:sp>
      <p:sp>
        <p:nvSpPr>
          <p:cNvPr id="11" name="Text 5"/>
          <p:cNvSpPr/>
          <p:nvPr/>
        </p:nvSpPr>
        <p:spPr>
          <a:xfrm>
            <a:off x="5588000" y="4445000"/>
            <a:ext cx="5755640" cy="274320"/>
          </a:xfrm>
          <a:prstGeom prst="rect">
            <a:avLst/>
          </a:prstGeom>
          <a:noFill/>
          <a:ln/>
        </p:spPr>
        <p:txBody>
          <a:bodyPr wrap="square" lIns="0" tIns="0" rIns="0" bIns="0" rtlCol="0" anchor="t">
            <a:noAutofit/>
          </a:bodyPr>
          <a:lstStyle/>
          <a:p>
            <a:pPr marL="0" indent="0" algn="l">
              <a:lnSpc>
                <a:spcPts val="1960"/>
              </a:lnSpc>
              <a:buNone/>
            </a:pPr>
            <a:r>
              <a:rPr lang="en-US" sz="1500" b="1" dirty="0">
                <a:solidFill>
                  <a:srgbClr val="FFFFFF"/>
                </a:solidFill>
                <a:latin typeface="Arial" panose="020B0604020202020204" pitchFamily="34" charset="0"/>
                <a:ea typeface="Be Vietnam Pro" pitchFamily="34" charset="-122"/>
                <a:cs typeface="Be Vietnam Pro" pitchFamily="34" charset="-120"/>
              </a:rPr>
              <a:t>Đơn vị công tác:</a:t>
            </a:r>
            <a:endParaRPr lang="en-US" sz="1500" dirty="0">
              <a:latin typeface="Arial" panose="020B0604020202020204" pitchFamily="34" charset="0"/>
            </a:endParaRPr>
          </a:p>
        </p:txBody>
      </p:sp>
      <p:sp>
        <p:nvSpPr>
          <p:cNvPr id="12" name="Text 6"/>
          <p:cNvSpPr/>
          <p:nvPr/>
        </p:nvSpPr>
        <p:spPr>
          <a:xfrm>
            <a:off x="5588000" y="4737100"/>
            <a:ext cx="5842000" cy="533400"/>
          </a:xfrm>
          <a:prstGeom prst="rect">
            <a:avLst/>
          </a:prstGeom>
          <a:noFill/>
          <a:ln/>
        </p:spPr>
        <p:txBody>
          <a:bodyPr wrap="square" lIns="0" tIns="0" rIns="0" bIns="0" rtlCol="0" anchor="t">
            <a:noAutofit/>
          </a:bodyPr>
          <a:lstStyle/>
          <a:p>
            <a:pPr marL="0" indent="0" algn="l">
              <a:lnSpc>
                <a:spcPts val="1755"/>
              </a:lnSpc>
              <a:buNone/>
            </a:pPr>
            <a:r>
              <a:rPr lang="en-US" sz="1400" dirty="0">
                <a:solidFill>
                  <a:srgbClr val="FFFFFF"/>
                </a:solidFill>
                <a:latin typeface="Arial" panose="020B0604020202020204" pitchFamily="34" charset="0"/>
                <a:ea typeface="Be Vietnam Pro" pitchFamily="34" charset="-122"/>
                <a:cs typeface="Be Vietnam Pro" pitchFamily="34" charset="-120"/>
              </a:rPr>
              <a:t>Trường Tiểu học Huỳnh Ngọc Huệ</a:t>
            </a:r>
            <a:endParaRPr lang="en-US" sz="1400" dirty="0">
              <a:latin typeface="Arial" panose="020B0604020202020204" pitchFamily="34" charset="0"/>
            </a:endParaRPr>
          </a:p>
          <a:p>
            <a:pPr marL="0" indent="0" algn="l">
              <a:lnSpc>
                <a:spcPts val="1755"/>
              </a:lnSpc>
              <a:buNone/>
            </a:pPr>
            <a:r>
              <a:rPr lang="en-US" sz="1400" dirty="0">
                <a:solidFill>
                  <a:srgbClr val="FFFFFF"/>
                </a:solidFill>
                <a:latin typeface="Arial" panose="020B0604020202020204" pitchFamily="34" charset="0"/>
                <a:ea typeface="Be Vietnam Pro" pitchFamily="34" charset="-122"/>
                <a:cs typeface="Be Vietnam Pro" pitchFamily="34" charset="-120"/>
              </a:rPr>
              <a:t>158 Hà Huy Tập, phường Thanh Khê, thành phố Đà Nẵng</a:t>
            </a:r>
            <a:endParaRPr lang="en-US" sz="1400" dirty="0">
              <a:latin typeface="Arial" panose="020B0604020202020204" pitchFamily="34" charset="0"/>
            </a:endParaRPr>
          </a:p>
        </p:txBody>
      </p:sp>
      <p:sp>
        <p:nvSpPr>
          <p:cNvPr id="13" name="Text 7"/>
          <p:cNvSpPr/>
          <p:nvPr/>
        </p:nvSpPr>
        <p:spPr>
          <a:xfrm>
            <a:off x="5588000" y="5334000"/>
            <a:ext cx="5753100" cy="279400"/>
          </a:xfrm>
          <a:prstGeom prst="rect">
            <a:avLst/>
          </a:prstGeom>
          <a:noFill/>
          <a:ln/>
        </p:spPr>
        <p:txBody>
          <a:bodyPr wrap="square" lIns="0" tIns="0" rIns="0" bIns="0" rtlCol="0" anchor="t">
            <a:noAutofit/>
          </a:bodyPr>
          <a:lstStyle/>
          <a:p>
            <a:pPr marL="0" indent="0" algn="l">
              <a:lnSpc>
                <a:spcPts val="1960"/>
              </a:lnSpc>
              <a:buNone/>
            </a:pPr>
            <a:r>
              <a:rPr lang="en-US" sz="1500" b="1" dirty="0">
                <a:solidFill>
                  <a:srgbClr val="FFFFFF"/>
                </a:solidFill>
                <a:latin typeface="Arial" panose="020B0604020202020204" pitchFamily="34" charset="0"/>
                <a:ea typeface="Be Vietnam Pro" pitchFamily="34" charset="-122"/>
                <a:cs typeface="Be Vietnam Pro" pitchFamily="34" charset="-120"/>
              </a:rPr>
              <a:t>Email:</a:t>
            </a:r>
            <a:endParaRPr lang="en-US" sz="1500" dirty="0">
              <a:latin typeface="Arial" panose="020B0604020202020204" pitchFamily="34" charset="0"/>
            </a:endParaRPr>
          </a:p>
        </p:txBody>
      </p:sp>
      <p:sp>
        <p:nvSpPr>
          <p:cNvPr id="14" name="Text 8"/>
          <p:cNvSpPr/>
          <p:nvPr/>
        </p:nvSpPr>
        <p:spPr>
          <a:xfrm>
            <a:off x="5588000" y="5613400"/>
            <a:ext cx="5753100" cy="254000"/>
          </a:xfrm>
          <a:prstGeom prst="rect">
            <a:avLst/>
          </a:prstGeom>
          <a:noFill/>
          <a:ln/>
        </p:spPr>
        <p:txBody>
          <a:bodyPr wrap="square" lIns="0" tIns="0" rIns="0" bIns="0" rtlCol="0" anchor="t">
            <a:noAutofit/>
          </a:bodyPr>
          <a:lstStyle/>
          <a:p>
            <a:pPr marL="0" indent="0" algn="l">
              <a:lnSpc>
                <a:spcPts val="1820"/>
              </a:lnSpc>
              <a:buNone/>
            </a:pPr>
            <a:r>
              <a:rPr lang="en-US" sz="1400" dirty="0">
                <a:solidFill>
                  <a:srgbClr val="FFFFFF"/>
                </a:solidFill>
                <a:latin typeface="Arial" panose="020B0604020202020204" pitchFamily="34" charset="0"/>
                <a:ea typeface="Be Vietnam Pro" pitchFamily="34" charset="-122"/>
                <a:cs typeface="Be Vietnam Pro" pitchFamily="34" charset="-120"/>
              </a:rPr>
              <a:t>phamthithuydungdn@gmail.com</a:t>
            </a:r>
            <a:endParaRPr lang="en-US" sz="1400" dirty="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37" b="37"/>
          <a:stretch/>
        </p:blipFill>
        <p:spPr>
          <a:xfrm>
            <a:off x="0" y="0"/>
            <a:ext cx="6096000" cy="6858000"/>
          </a:xfrm>
          <a:prstGeom prst="rect">
            <a:avLst/>
          </a:prstGeom>
        </p:spPr>
      </p:pic>
      <p:sp>
        <p:nvSpPr>
          <p:cNvPr id="3" name="Shape 0"/>
          <p:cNvSpPr/>
          <p:nvPr/>
        </p:nvSpPr>
        <p:spPr>
          <a:xfrm>
            <a:off x="609600" y="1320800"/>
            <a:ext cx="4876800" cy="4064000"/>
          </a:xfrm>
          <a:prstGeom prst="roundRect">
            <a:avLst>
              <a:gd name="adj" fmla="val 3435"/>
            </a:avLst>
          </a:prstGeom>
          <a:solidFill>
            <a:srgbClr val="FFFFFF"/>
          </a:solidFill>
          <a:ln/>
        </p:spPr>
      </p:sp>
      <p:pic>
        <p:nvPicPr>
          <p:cNvPr id="4" name="Image 1" descr="Màn hình khởi động ứng dụng Vương quốc Từ hay – Câu đẹp Lớp 4"/>
          <p:cNvPicPr>
            <a:picLocks noChangeAspect="1"/>
          </p:cNvPicPr>
          <p:nvPr/>
        </p:nvPicPr>
        <p:blipFill>
          <a:blip r:embed="rId4"/>
          <a:srcRect/>
          <a:stretch/>
        </p:blipFill>
        <p:spPr>
          <a:xfrm>
            <a:off x="736600" y="1447800"/>
            <a:ext cx="4632960" cy="2895600"/>
          </a:xfrm>
          <a:prstGeom prst="roundRect">
            <a:avLst>
              <a:gd name="adj" fmla="val 2637"/>
            </a:avLst>
          </a:prstGeom>
        </p:spPr>
      </p:pic>
      <p:sp>
        <p:nvSpPr>
          <p:cNvPr id="5" name="Text 1"/>
          <p:cNvSpPr/>
          <p:nvPr/>
        </p:nvSpPr>
        <p:spPr>
          <a:xfrm>
            <a:off x="812800" y="4445000"/>
            <a:ext cx="4470400" cy="838200"/>
          </a:xfrm>
          <a:prstGeom prst="rect">
            <a:avLst/>
          </a:prstGeom>
          <a:noFill/>
          <a:ln/>
        </p:spPr>
        <p:txBody>
          <a:bodyPr wrap="square" lIns="0" tIns="0" rIns="0" bIns="0" rtlCol="0" anchor="t">
            <a:noAutofit/>
          </a:bodyPr>
          <a:lstStyle/>
          <a:p>
            <a:pPr marL="0" indent="0">
              <a:lnSpc>
                <a:spcPts val="1680"/>
              </a:lnSpc>
              <a:buNone/>
            </a:pPr>
            <a:r>
              <a:rPr lang="vi-VN" sz="1400" b="1">
                <a:solidFill>
                  <a:srgbClr val="000054"/>
                </a:solidFill>
                <a:latin typeface="Arial" panose="020B0604020202020204" pitchFamily="34" charset="0"/>
                <a:ea typeface="Be Vietnam Pro" pitchFamily="34" charset="-122"/>
                <a:cs typeface="Be Vietnam Pro" pitchFamily="34" charset="-120"/>
              </a:rPr>
              <a:t>Màn hình khởi động:</a:t>
            </a:r>
            <a:r>
              <a:rPr lang="vi-VN" sz="1400">
                <a:solidFill>
                  <a:srgbClr val="1B1F3B"/>
                </a:solidFill>
                <a:latin typeface="Arial" panose="020B0604020202020204" pitchFamily="34" charset="0"/>
                <a:ea typeface="Be Vietnam Pro" pitchFamily="34" charset="-122"/>
                <a:cs typeface="Be Vietnam Pro" pitchFamily="34" charset="-120"/>
              </a:rPr>
              <a:t> học sinh nhập họ tên, lớp và bước vào hành trình qua ba chặng: </a:t>
            </a:r>
            <a:r>
              <a:rPr lang="vi-VN" sz="1400" b="1">
                <a:solidFill>
                  <a:srgbClr val="1E5BD8"/>
                </a:solidFill>
                <a:latin typeface="Arial" panose="020B0604020202020204" pitchFamily="34" charset="0"/>
                <a:ea typeface="Be Vietnam Pro" pitchFamily="34" charset="-122"/>
                <a:cs typeface="Be Vietnam Pro" pitchFamily="34" charset="-120"/>
              </a:rPr>
              <a:t>Khởi động – Tăng tốc – Chinh phục</a:t>
            </a:r>
            <a:r>
              <a:rPr lang="vi-VN" sz="1400">
                <a:solidFill>
                  <a:srgbClr val="1B1F3B"/>
                </a:solidFill>
                <a:latin typeface="Arial" panose="020B0604020202020204" pitchFamily="34" charset="0"/>
                <a:ea typeface="Be Vietnam Pro" pitchFamily="34" charset="-122"/>
                <a:cs typeface="Be Vietnam Pro" pitchFamily="34" charset="-120"/>
              </a:rPr>
              <a:t>.</a:t>
            </a:r>
            <a:endParaRPr lang="en-US" sz="1400" dirty="0">
              <a:solidFill>
                <a:srgbClr val="1B1F3B"/>
              </a:solidFill>
              <a:latin typeface="Arial" panose="020B0604020202020204" pitchFamily="34" charset="0"/>
            </a:endParaRPr>
          </a:p>
        </p:txBody>
      </p:sp>
      <p:sp>
        <p:nvSpPr>
          <p:cNvPr id="6" name="Text 2"/>
          <p:cNvSpPr>
            <a:spLocks noGrp="1"/>
          </p:cNvSpPr>
          <p:nvPr>
            <p:ph type="title"/>
          </p:nvPr>
        </p:nvSpPr>
        <p:spPr>
          <a:xfrm>
            <a:off x="6654800" y="609600"/>
            <a:ext cx="510159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DÀN Ý SLIDE</a:t>
            </a:r>
            <a:endParaRPr lang="en-US" sz="3000" dirty="0">
              <a:latin typeface="Arial" panose="020B0604020202020204" pitchFamily="34" charset="0"/>
            </a:endParaRPr>
          </a:p>
        </p:txBody>
      </p:sp>
      <p:sp>
        <p:nvSpPr>
          <p:cNvPr id="7" name="Text 3"/>
          <p:cNvSpPr/>
          <p:nvPr/>
        </p:nvSpPr>
        <p:spPr>
          <a:xfrm>
            <a:off x="6591300" y="1422400"/>
            <a:ext cx="5156200" cy="4318000"/>
          </a:xfrm>
          <a:prstGeom prst="rect">
            <a:avLst/>
          </a:prstGeom>
          <a:noFill/>
          <a:ln/>
        </p:spPr>
        <p:txBody>
          <a:bodyPr wrap="square" lIns="0" tIns="0" rIns="0" bIns="0" rtlCol="0" anchor="t">
            <a:noAutofit/>
          </a:bodyPr>
          <a:lstStyle/>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Bối cảnh và vấn đề</a:t>
            </a:r>
            <a:endParaRPr lang="en-US" sz="1700" dirty="0">
              <a:solidFill>
                <a:srgbClr val="1B1F3B"/>
              </a:solidFill>
              <a:latin typeface="Arial" panose="020B0604020202020204" pitchFamily="34" charset="0"/>
            </a:endParaRPr>
          </a:p>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Ý tưởng và giải pháp AI</a:t>
            </a:r>
            <a:endParaRPr lang="en-US" sz="1700" dirty="0">
              <a:solidFill>
                <a:srgbClr val="1B1F3B"/>
              </a:solidFill>
              <a:latin typeface="Arial" panose="020B0604020202020204" pitchFamily="34" charset="0"/>
            </a:endParaRPr>
          </a:p>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Sản phẩm: góc học sinh</a:t>
            </a:r>
            <a:endParaRPr lang="en-US" sz="1700" dirty="0">
              <a:solidFill>
                <a:srgbClr val="1B1F3B"/>
              </a:solidFill>
              <a:latin typeface="Arial" panose="020B0604020202020204" pitchFamily="34" charset="0"/>
            </a:endParaRPr>
          </a:p>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Phản hồi tức thì và Thám tử AI</a:t>
            </a:r>
            <a:endParaRPr lang="en-US" sz="1700" dirty="0">
              <a:solidFill>
                <a:srgbClr val="1B1F3B"/>
              </a:solidFill>
              <a:latin typeface="Arial" panose="020B0604020202020204" pitchFamily="34" charset="0"/>
            </a:endParaRPr>
          </a:p>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Trợ lý AI cho giáo viên</a:t>
            </a:r>
            <a:endParaRPr lang="en-US" sz="1700" dirty="0">
              <a:solidFill>
                <a:srgbClr val="1B1F3B"/>
              </a:solidFill>
              <a:latin typeface="Arial" panose="020B0604020202020204" pitchFamily="34" charset="0"/>
            </a:endParaRPr>
          </a:p>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Đạo đức và trách nhiệm khi dùng AI</a:t>
            </a:r>
            <a:endParaRPr lang="en-US" sz="1700" dirty="0">
              <a:solidFill>
                <a:srgbClr val="1B1F3B"/>
              </a:solidFill>
              <a:latin typeface="Arial" panose="020B0604020202020204" pitchFamily="34" charset="0"/>
            </a:endParaRPr>
          </a:p>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Triển khai thực tế</a:t>
            </a:r>
            <a:endParaRPr lang="en-US" sz="1700" dirty="0">
              <a:solidFill>
                <a:srgbClr val="1B1F3B"/>
              </a:solidFill>
              <a:latin typeface="Arial" panose="020B0604020202020204" pitchFamily="34" charset="0"/>
            </a:endParaRPr>
          </a:p>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Kết quả và tác động</a:t>
            </a:r>
            <a:endParaRPr lang="en-US" sz="1700" dirty="0">
              <a:solidFill>
                <a:srgbClr val="1B1F3B"/>
              </a:solidFill>
              <a:latin typeface="Arial" panose="020B0604020202020204" pitchFamily="34" charset="0"/>
            </a:endParaRPr>
          </a:p>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Thảo luận và tổng kết</a:t>
            </a:r>
            <a:endParaRPr lang="en-US" sz="1700" dirty="0">
              <a:solidFill>
                <a:srgbClr val="1B1F3B"/>
              </a:solidFill>
              <a:latin typeface="Arial" panose="020B0604020202020204" pitchFamily="34" charset="0"/>
            </a:endParaRPr>
          </a:p>
          <a:p>
            <a:pPr marL="320516" indent="-320516" algn="l">
              <a:lnSpc>
                <a:spcPct val="170000"/>
              </a:lnSpc>
              <a:buSzPct val="100000"/>
              <a:buFontTx/>
              <a:buAutoNum type="arabicPeriod"/>
            </a:pPr>
            <a:r>
              <a:rPr lang="en-US" sz="1700" dirty="0">
                <a:solidFill>
                  <a:srgbClr val="1B1F3B"/>
                </a:solidFill>
                <a:latin typeface="Arial" panose="020B0604020202020204" pitchFamily="34" charset="0"/>
                <a:ea typeface="Be Vietnam Pro" pitchFamily="34" charset="-122"/>
                <a:cs typeface="Be Vietnam Pro" pitchFamily="34" charset="-120"/>
              </a:rPr>
              <a:t>Tài liệu đính kèm</a:t>
            </a:r>
            <a:endParaRPr lang="en-US" sz="1700" dirty="0">
              <a:solidFill>
                <a:srgbClr val="1B1F3B"/>
              </a:solidFill>
              <a:latin typeface="Arial" panose="020B0604020202020204" pitchFamily="34" charset="0"/>
            </a:endParaRPr>
          </a:p>
        </p:txBody>
      </p:sp>
      <p:pic>
        <p:nvPicPr>
          <p:cNvPr id="8" name="Image 2" descr="line"/>
          <p:cNvPicPr>
            <a:picLocks noChangeAspect="1"/>
          </p:cNvPicPr>
          <p:nvPr/>
        </p:nvPicPr>
        <p:blipFill>
          <a:blip r:embed="rId5"/>
          <a:srcRect l="-2083" r="-2083"/>
          <a:stretch/>
        </p:blipFill>
        <p:spPr>
          <a:xfrm>
            <a:off x="6350000" y="6121400"/>
            <a:ext cx="5372100" cy="30480"/>
          </a:xfrm>
          <a:prstGeom prst="rect">
            <a:avLst/>
          </a:prstGeom>
        </p:spPr>
      </p:pic>
      <p:sp>
        <p:nvSpPr>
          <p:cNvPr id="9" name="Text 4"/>
          <p:cNvSpPr/>
          <p:nvPr/>
        </p:nvSpPr>
        <p:spPr>
          <a:xfrm>
            <a:off x="6654800" y="6261100"/>
            <a:ext cx="5232400" cy="391160"/>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000054"/>
                </a:solidFill>
                <a:latin typeface="Arial" panose="020B0604020202020204" pitchFamily="34" charset="0"/>
                <a:ea typeface="Be Vietnam Pro" pitchFamily="34" charset="-122"/>
                <a:cs typeface="Be Vietnam Pro" pitchFamily="34" charset="-120"/>
              </a:rPr>
              <a:t>Giải Thưởng Tiên Phong Ứng Dụng AI Trong Giáo Dục Việt Nam 2026</a:t>
            </a:r>
            <a:endParaRPr lang="en-US" sz="1200"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BỐI CẢNH VÀ VẤN ĐỀ</a:t>
            </a:r>
            <a:endParaRPr lang="en-US" sz="3000" dirty="0">
              <a:latin typeface="Arial" panose="020B0604020202020204" pitchFamily="34" charset="0"/>
            </a:endParaRPr>
          </a:p>
        </p:txBody>
      </p:sp>
      <p:sp>
        <p:nvSpPr>
          <p:cNvPr id="4" name="Text 1"/>
          <p:cNvSpPr/>
          <p:nvPr/>
        </p:nvSpPr>
        <p:spPr>
          <a:xfrm>
            <a:off x="609600" y="1282700"/>
            <a:ext cx="6096000" cy="304800"/>
          </a:xfrm>
          <a:prstGeom prst="rect">
            <a:avLst/>
          </a:prstGeom>
          <a:noFill/>
          <a:ln/>
        </p:spPr>
        <p:txBody>
          <a:bodyPr wrap="square" lIns="0" tIns="0" rIns="0" bIns="0" rtlCol="0" anchor="t">
            <a:noAutofit/>
          </a:bodyPr>
          <a:lstStyle/>
          <a:p>
            <a:pPr marL="0" indent="0" algn="l">
              <a:lnSpc>
                <a:spcPts val="1920"/>
              </a:lnSpc>
              <a:buNone/>
            </a:pPr>
            <a:r>
              <a:rPr lang="en-US" b="1" dirty="0">
                <a:solidFill>
                  <a:srgbClr val="1E5BD8"/>
                </a:solidFill>
                <a:latin typeface="Arial" panose="020B0604020202020204" pitchFamily="34" charset="0"/>
                <a:ea typeface="Be Vietnam Pro" pitchFamily="34" charset="-122"/>
                <a:cs typeface="Be Vietnam Pro" pitchFamily="34" charset="-120"/>
              </a:rPr>
              <a:t>Khó khăn trong dạy Luyện từ và câu lớp 4</a:t>
            </a:r>
            <a:endParaRPr lang="en-US" b="1" dirty="0">
              <a:solidFill>
                <a:srgbClr val="1E5BD8"/>
              </a:solidFill>
              <a:latin typeface="Arial" panose="020B0604020202020204" pitchFamily="34" charset="0"/>
            </a:endParaRPr>
          </a:p>
        </p:txBody>
      </p:sp>
      <p:sp>
        <p:nvSpPr>
          <p:cNvPr id="5" name="Text 2"/>
          <p:cNvSpPr/>
          <p:nvPr/>
        </p:nvSpPr>
        <p:spPr>
          <a:xfrm>
            <a:off x="660400" y="1727200"/>
            <a:ext cx="6146800" cy="3810000"/>
          </a:xfrm>
          <a:prstGeom prst="rect">
            <a:avLst/>
          </a:prstGeom>
          <a:noFill/>
          <a:ln/>
        </p:spPr>
        <p:txBody>
          <a:bodyPr wrap="square" lIns="0" tIns="0" rIns="0" bIns="0" rtlCol="0" anchor="t">
            <a:noAutofit/>
          </a:bodyPr>
          <a:lstStyle/>
          <a:p>
            <a:pPr marL="169418" indent="-169418" algn="l">
              <a:lnSpc>
                <a:spcPts val="1960"/>
              </a:lnSpc>
              <a:spcAft>
                <a:spcPts val="1400"/>
              </a:spcAft>
              <a:buSzPct val="100000"/>
              <a:buChar char="•"/>
            </a:pPr>
            <a:r>
              <a:rPr lang="en-US" sz="1700" dirty="0">
                <a:solidFill>
                  <a:srgbClr val="1B1F3B"/>
                </a:solidFill>
                <a:latin typeface="Arial" panose="020B0604020202020204" pitchFamily="34" charset="0"/>
                <a:ea typeface="Be Vietnam Pro" pitchFamily="34" charset="-122"/>
                <a:cs typeface="Be Vietnam Pro" pitchFamily="34" charset="-120"/>
              </a:rPr>
              <a:t>Kiến thức trừu tượng: danh từ, động từ, tính từ, chủ ngữ – vị ngữ, trạng ngữ… học sinh dễ nhầm khi vận dụng.</a:t>
            </a:r>
            <a:endParaRPr lang="en-US" sz="1700" dirty="0">
              <a:solidFill>
                <a:srgbClr val="1B1F3B"/>
              </a:solidFill>
              <a:latin typeface="Arial" panose="020B0604020202020204" pitchFamily="34" charset="0"/>
            </a:endParaRPr>
          </a:p>
          <a:p>
            <a:pPr marL="169418" indent="-169418" algn="l">
              <a:lnSpc>
                <a:spcPts val="1960"/>
              </a:lnSpc>
              <a:spcAft>
                <a:spcPts val="1400"/>
              </a:spcAft>
              <a:buSzPct val="100000"/>
              <a:buChar char="•"/>
            </a:pPr>
            <a:r>
              <a:rPr lang="en-US" sz="1700" dirty="0">
                <a:solidFill>
                  <a:srgbClr val="1B1F3B"/>
                </a:solidFill>
                <a:latin typeface="Arial" panose="020B0604020202020204" pitchFamily="34" charset="0"/>
                <a:ea typeface="Be Vietnam Pro" pitchFamily="34" charset="-122"/>
                <a:cs typeface="Be Vietnam Pro" pitchFamily="34" charset="-120"/>
              </a:rPr>
              <a:t>Thời lượng trên lớp có hạn, cô khó sửa lỗi riêng cho từng em.</a:t>
            </a:r>
            <a:endParaRPr lang="en-US" sz="1700" dirty="0">
              <a:solidFill>
                <a:srgbClr val="1B1F3B"/>
              </a:solidFill>
              <a:latin typeface="Arial" panose="020B0604020202020204" pitchFamily="34" charset="0"/>
            </a:endParaRPr>
          </a:p>
          <a:p>
            <a:pPr marL="169418" indent="-169418" algn="l">
              <a:lnSpc>
                <a:spcPts val="1960"/>
              </a:lnSpc>
              <a:spcAft>
                <a:spcPts val="1400"/>
              </a:spcAft>
              <a:buSzPct val="100000"/>
              <a:buChar char="•"/>
            </a:pPr>
            <a:r>
              <a:rPr lang="en-US" sz="1700" dirty="0">
                <a:solidFill>
                  <a:srgbClr val="1B1F3B"/>
                </a:solidFill>
                <a:latin typeface="Arial" panose="020B0604020202020204" pitchFamily="34" charset="0"/>
                <a:ea typeface="Be Vietnam Pro" pitchFamily="34" charset="-122"/>
                <a:cs typeface="Be Vietnam Pro" pitchFamily="34" charset="-120"/>
              </a:rPr>
              <a:t>Phiếu bài tập giấy chấm chậm: em không biết ngay mình sai ở đâu, cô khó nắm lỗi chung của cả lớp.</a:t>
            </a:r>
            <a:endParaRPr lang="en-US" sz="1700" dirty="0">
              <a:solidFill>
                <a:srgbClr val="1B1F3B"/>
              </a:solidFill>
              <a:latin typeface="Arial" panose="020B0604020202020204" pitchFamily="34" charset="0"/>
            </a:endParaRPr>
          </a:p>
          <a:p>
            <a:pPr marL="169418" indent="-169418" algn="l">
              <a:lnSpc>
                <a:spcPts val="1960"/>
              </a:lnSpc>
              <a:spcAft>
                <a:spcPts val="1400"/>
              </a:spcAft>
              <a:buSzPct val="100000"/>
              <a:buChar char="•"/>
            </a:pPr>
            <a:r>
              <a:rPr lang="en-US" sz="1700" dirty="0">
                <a:solidFill>
                  <a:srgbClr val="1B1F3B"/>
                </a:solidFill>
                <a:latin typeface="Arial" panose="020B0604020202020204" pitchFamily="34" charset="0"/>
                <a:ea typeface="Be Vietnam Pro" pitchFamily="34" charset="-122"/>
                <a:cs typeface="Be Vietnam Pro" pitchFamily="34" charset="-120"/>
              </a:rPr>
              <a:t>Học sinh đã gặp AI nhưng chưa có thói quen kiểm tra lại câu trả lời của AI.</a:t>
            </a:r>
            <a:endParaRPr lang="en-US" sz="1700" dirty="0">
              <a:solidFill>
                <a:srgbClr val="1B1F3B"/>
              </a:solidFill>
              <a:latin typeface="Arial" panose="020B0604020202020204" pitchFamily="34" charset="0"/>
            </a:endParaRPr>
          </a:p>
        </p:txBody>
      </p:sp>
      <p:sp>
        <p:nvSpPr>
          <p:cNvPr id="6" name="Shape 3"/>
          <p:cNvSpPr/>
          <p:nvPr/>
        </p:nvSpPr>
        <p:spPr>
          <a:xfrm>
            <a:off x="7061200" y="1282700"/>
            <a:ext cx="4521200" cy="1320800"/>
          </a:xfrm>
          <a:prstGeom prst="roundRect">
            <a:avLst>
              <a:gd name="adj" fmla="val 9281"/>
            </a:avLst>
          </a:prstGeom>
          <a:solidFill>
            <a:srgbClr val="EEF3FC"/>
          </a:solidFill>
          <a:ln/>
        </p:spPr>
      </p:sp>
      <p:sp>
        <p:nvSpPr>
          <p:cNvPr id="7" name="Text 4"/>
          <p:cNvSpPr/>
          <p:nvPr/>
        </p:nvSpPr>
        <p:spPr>
          <a:xfrm>
            <a:off x="7289800" y="1485900"/>
            <a:ext cx="4114800" cy="279400"/>
          </a:xfrm>
          <a:prstGeom prst="rect">
            <a:avLst/>
          </a:prstGeom>
          <a:noFill/>
          <a:ln/>
        </p:spPr>
        <p:txBody>
          <a:bodyPr wrap="square" lIns="0" tIns="0" rIns="0" bIns="0" rtlCol="0" anchor="t">
            <a:noAutofit/>
          </a:bodyPr>
          <a:lstStyle/>
          <a:p>
            <a:pPr marL="0" indent="0" algn="l">
              <a:lnSpc>
                <a:spcPts val="1680"/>
              </a:lnSpc>
              <a:buNone/>
            </a:pPr>
            <a:r>
              <a:rPr lang="en-US" sz="1700" b="1" dirty="0">
                <a:solidFill>
                  <a:srgbClr val="000054"/>
                </a:solidFill>
                <a:latin typeface="Arial" panose="020B0604020202020204" pitchFamily="34" charset="0"/>
                <a:ea typeface="Be Vietnam Pro" pitchFamily="34" charset="-122"/>
                <a:cs typeface="Be Vietnam Pro" pitchFamily="34" charset="-120"/>
              </a:rPr>
              <a:t>Đối tượng chính</a:t>
            </a:r>
            <a:endParaRPr lang="en-US" sz="1700" b="1" dirty="0">
              <a:solidFill>
                <a:srgbClr val="000054"/>
              </a:solidFill>
              <a:latin typeface="Arial" panose="020B0604020202020204" pitchFamily="34" charset="0"/>
            </a:endParaRPr>
          </a:p>
        </p:txBody>
      </p:sp>
      <p:sp>
        <p:nvSpPr>
          <p:cNvPr id="8" name="Text 5"/>
          <p:cNvSpPr/>
          <p:nvPr/>
        </p:nvSpPr>
        <p:spPr>
          <a:xfrm>
            <a:off x="7289800" y="1841500"/>
            <a:ext cx="4114800" cy="812800"/>
          </a:xfrm>
          <a:prstGeom prst="rect">
            <a:avLst/>
          </a:prstGeom>
          <a:noFill/>
          <a:ln/>
        </p:spPr>
        <p:txBody>
          <a:bodyPr wrap="square" lIns="0" tIns="0" rIns="0" bIns="0" rtlCol="0" anchor="t">
            <a:noAutofit/>
          </a:bodyPr>
          <a:lstStyle/>
          <a:p>
            <a:pPr marL="0" indent="0" algn="l">
              <a:lnSpc>
                <a:spcPts val="1820"/>
              </a:lnSpc>
              <a:buNone/>
            </a:pPr>
            <a:r>
              <a:rPr lang="en-US" sz="1500">
                <a:solidFill>
                  <a:srgbClr val="1B1F3B"/>
                </a:solidFill>
                <a:latin typeface="Arial" panose="020B0604020202020204" pitchFamily="34" charset="0"/>
                <a:ea typeface="Be Vietnam Pro" pitchFamily="34" charset="-122"/>
                <a:cs typeface="Be Vietnam Pro" pitchFamily="34" charset="-120"/>
              </a:rPr>
              <a:t>Học sinh lớp 4/11 (30 em) và giáo viên chủ nhiệm dạy Tiếng Việt</a:t>
            </a:r>
            <a:endParaRPr lang="en-US" sz="1500" dirty="0">
              <a:solidFill>
                <a:srgbClr val="1B1F3B"/>
              </a:solidFill>
              <a:latin typeface="Arial" panose="020B0604020202020204" pitchFamily="34" charset="0"/>
            </a:endParaRPr>
          </a:p>
        </p:txBody>
      </p:sp>
      <p:sp>
        <p:nvSpPr>
          <p:cNvPr id="9" name="Card Survey">
            <a:extLst>
              <a:ext uri="{FF2B5EF4-FFF2-40B4-BE49-F238E27FC236}">
                <a16:creationId xmlns:a16="http://schemas.microsoft.com/office/drawing/2014/main" id="{B0F791D5-9FB1-E40D-7E1C-00C25E75E7A7}"/>
              </a:ext>
            </a:extLst>
          </p:cNvPr>
          <p:cNvSpPr/>
          <p:nvPr/>
        </p:nvSpPr>
        <p:spPr>
          <a:xfrm>
            <a:off x="7061200" y="2806700"/>
            <a:ext cx="4521200" cy="1854200"/>
          </a:xfrm>
          <a:prstGeom prst="roundRect">
            <a:avLst>
              <a:gd name="adj" fmla="val 5333"/>
            </a:avLst>
          </a:prstGeom>
          <a:solidFill>
            <a:srgbClr val="00005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t Survey">
            <a:extLst>
              <a:ext uri="{FF2B5EF4-FFF2-40B4-BE49-F238E27FC236}">
                <a16:creationId xmlns:a16="http://schemas.microsoft.com/office/drawing/2014/main" id="{E42AEC59-456E-AC3F-5A50-DDE6B39773B0}"/>
              </a:ext>
            </a:extLst>
          </p:cNvPr>
          <p:cNvSpPr txBox="1"/>
          <p:nvPr/>
        </p:nvSpPr>
        <p:spPr>
          <a:xfrm>
            <a:off x="7289800" y="3022600"/>
            <a:ext cx="4114800" cy="635000"/>
          </a:xfrm>
          <a:prstGeom prst="rect">
            <a:avLst/>
          </a:prstGeom>
          <a:noFill/>
        </p:spPr>
        <p:txBody>
          <a:bodyPr vert="horz" wrap="square" lIns="0" tIns="0" rtlCol="0">
            <a:noAutofit/>
          </a:bodyPr>
          <a:lstStyle/>
          <a:p>
            <a:r>
              <a:rPr lang="en-US" sz="4000" b="1">
                <a:solidFill>
                  <a:srgbClr val="FFEA00"/>
                </a:solidFill>
                <a:latin typeface="Arial" panose="020B0604020202020204" pitchFamily="34" charset="0"/>
              </a:rPr>
              <a:t>[…%]</a:t>
            </a:r>
          </a:p>
        </p:txBody>
      </p:sp>
      <p:sp>
        <p:nvSpPr>
          <p:cNvPr id="11" name="Text 8"/>
          <p:cNvSpPr/>
          <p:nvPr/>
        </p:nvSpPr>
        <p:spPr>
          <a:xfrm>
            <a:off x="7289800" y="3708400"/>
            <a:ext cx="4114800" cy="812800"/>
          </a:xfrm>
          <a:prstGeom prst="rect">
            <a:avLst/>
          </a:prstGeom>
          <a:noFill/>
          <a:ln/>
        </p:spPr>
        <p:txBody>
          <a:bodyPr wrap="square" lIns="0" tIns="0" rIns="0" bIns="0" rtlCol="0" anchor="t">
            <a:noAutofit/>
          </a:bodyPr>
          <a:lstStyle/>
          <a:p>
            <a:pPr marL="0" indent="0" algn="l">
              <a:lnSpc>
                <a:spcPts val="1820"/>
              </a:lnSpc>
              <a:buNone/>
            </a:pPr>
            <a:r>
              <a:rPr lang="en-US" sz="1500" dirty="0">
                <a:solidFill>
                  <a:srgbClr val="FFFFFF"/>
                </a:solidFill>
                <a:latin typeface="Arial" panose="020B0604020202020204" pitchFamily="34" charset="0"/>
                <a:ea typeface="Be Vietnam Pro" pitchFamily="34" charset="-122"/>
                <a:cs typeface="Be Vietnam Pro" pitchFamily="34" charset="-120"/>
              </a:rPr>
              <a:t>học sinh còn nhầm lẫn từ loại trong [bài khảo sát đầu năm]</a:t>
            </a:r>
            <a:endParaRPr lang="en-US" sz="1500" dirty="0">
              <a:solidFill>
                <a:srgbClr val="FFFFFF"/>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Ý TƯỞNG VÀ GIẢI PHÁP</a:t>
            </a:r>
            <a:endParaRPr lang="en-US" sz="3000" dirty="0">
              <a:latin typeface="Arial" panose="020B0604020202020204" pitchFamily="34" charset="0"/>
            </a:endParaRPr>
          </a:p>
        </p:txBody>
      </p:sp>
      <p:sp>
        <p:nvSpPr>
          <p:cNvPr id="4" name="Text 1"/>
          <p:cNvSpPr/>
          <p:nvPr/>
        </p:nvSpPr>
        <p:spPr>
          <a:xfrm>
            <a:off x="609600" y="1257300"/>
            <a:ext cx="10972800" cy="355600"/>
          </a:xfrm>
          <a:prstGeom prst="rect">
            <a:avLst/>
          </a:prstGeom>
          <a:noFill/>
          <a:ln/>
        </p:spPr>
        <p:txBody>
          <a:bodyPr wrap="square" lIns="0" tIns="0" rIns="0" bIns="0" rtlCol="0" anchor="t">
            <a:noAutofit/>
          </a:bodyPr>
          <a:lstStyle/>
          <a:p>
            <a:pPr marL="0" indent="0" algn="l">
              <a:lnSpc>
                <a:spcPts val="2340"/>
              </a:lnSpc>
              <a:buNone/>
            </a:pPr>
            <a:r>
              <a:rPr lang="en-US" sz="2000" b="1" dirty="0">
                <a:solidFill>
                  <a:srgbClr val="1E5BD8"/>
                </a:solidFill>
                <a:latin typeface="Arial" panose="020B0604020202020204" pitchFamily="34" charset="0"/>
                <a:ea typeface="Be Vietnam Pro" pitchFamily="34" charset="-122"/>
                <a:cs typeface="Be Vietnam Pro" pitchFamily="34" charset="-120"/>
              </a:rPr>
              <a:t>Học sinh luyện tập – AI hỗ trợ cô – Cô là người quyết định</a:t>
            </a:r>
            <a:endParaRPr lang="en-US" sz="2000" b="1" dirty="0">
              <a:solidFill>
                <a:srgbClr val="1E5BD8"/>
              </a:solidFill>
              <a:latin typeface="Arial" panose="020B0604020202020204" pitchFamily="34" charset="0"/>
            </a:endParaRPr>
          </a:p>
        </p:txBody>
      </p:sp>
      <p:sp>
        <p:nvSpPr>
          <p:cNvPr id="5" name="Shape 2"/>
          <p:cNvSpPr/>
          <p:nvPr/>
        </p:nvSpPr>
        <p:spPr>
          <a:xfrm>
            <a:off x="609600" y="1803400"/>
            <a:ext cx="3539014" cy="1905000"/>
          </a:xfrm>
          <a:prstGeom prst="roundRect">
            <a:avLst>
              <a:gd name="adj" fmla="val 6173"/>
            </a:avLst>
          </a:prstGeom>
          <a:solidFill>
            <a:srgbClr val="EEF3FC"/>
          </a:solidFill>
          <a:ln/>
        </p:spPr>
      </p:sp>
      <p:sp>
        <p:nvSpPr>
          <p:cNvPr id="6" name="Shape 3"/>
          <p:cNvSpPr/>
          <p:nvPr/>
        </p:nvSpPr>
        <p:spPr>
          <a:xfrm>
            <a:off x="609600" y="1803400"/>
            <a:ext cx="3539014" cy="1645920"/>
          </a:xfrm>
          <a:custGeom>
            <a:avLst/>
            <a:gdLst/>
            <a:ahLst/>
            <a:cxnLst/>
            <a:rect l="l" t="t" r="r" b="b"/>
            <a:pathLst>
              <a:path w="3539014" h="1645920">
                <a:moveTo>
                  <a:pt x="0" y="101600"/>
                </a:moveTo>
                <a:lnTo>
                  <a:pt x="0" y="101600"/>
                </a:lnTo>
                <a:arcTo wR="101600" hR="101600" stAng="10800000" swAng="5400000"/>
                <a:lnTo>
                  <a:pt x="3437414" y="0"/>
                </a:lnTo>
                <a:arcTo wR="101600" hR="101600" stAng="16200000" swAng="5400000"/>
                <a:lnTo>
                  <a:pt x="3539014" y="101600"/>
                </a:lnTo>
                <a:arcTo wR="101600" hR="50800" stAng="0" swAng="-5400000"/>
                <a:lnTo>
                  <a:pt x="101600" y="50800"/>
                </a:lnTo>
                <a:arcTo wR="101600" hR="50800" stAng="16200000" swAng="-5400000"/>
                <a:close/>
              </a:path>
            </a:pathLst>
          </a:custGeom>
          <a:solidFill>
            <a:srgbClr val="1E5BD8"/>
          </a:solidFill>
          <a:ln/>
        </p:spPr>
      </p:sp>
      <p:sp>
        <p:nvSpPr>
          <p:cNvPr id="7" name="Text 4"/>
          <p:cNvSpPr/>
          <p:nvPr/>
        </p:nvSpPr>
        <p:spPr>
          <a:xfrm>
            <a:off x="812800" y="2032000"/>
            <a:ext cx="3149600" cy="3048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000054"/>
                </a:solidFill>
                <a:latin typeface="Arial" panose="020B0604020202020204" pitchFamily="34" charset="0"/>
                <a:ea typeface="Be Vietnam Pro" pitchFamily="34" charset="-122"/>
                <a:cs typeface="Be Vietnam Pro" pitchFamily="34" charset="-120"/>
              </a:rPr>
              <a:t>Cho học sinh</a:t>
            </a:r>
            <a:endParaRPr lang="en-US" sz="1700" b="1" dirty="0">
              <a:solidFill>
                <a:srgbClr val="000054"/>
              </a:solidFill>
              <a:latin typeface="Arial" panose="020B0604020202020204" pitchFamily="34" charset="0"/>
            </a:endParaRPr>
          </a:p>
        </p:txBody>
      </p:sp>
      <p:sp>
        <p:nvSpPr>
          <p:cNvPr id="8" name="Text 5"/>
          <p:cNvSpPr/>
          <p:nvPr/>
        </p:nvSpPr>
        <p:spPr>
          <a:xfrm>
            <a:off x="812800" y="2387600"/>
            <a:ext cx="3149600" cy="1422400"/>
          </a:xfrm>
          <a:prstGeom prst="rect">
            <a:avLst/>
          </a:prstGeom>
          <a:noFill/>
          <a:ln/>
        </p:spPr>
        <p:txBody>
          <a:bodyPr wrap="square" lIns="0" tIns="0" rIns="0" bIns="0" rtlCol="0" anchor="t">
            <a:noAutofit/>
          </a:bodyPr>
          <a:lstStyle/>
          <a:p>
            <a:pPr marL="0" indent="0" algn="l">
              <a:lnSpc>
                <a:spcPts val="1740"/>
              </a:lnSpc>
              <a:buNone/>
            </a:pPr>
            <a:r>
              <a:rPr lang="en-US" sz="1400" dirty="0">
                <a:solidFill>
                  <a:srgbClr val="1B1F3B"/>
                </a:solidFill>
                <a:latin typeface="Arial" panose="020B0604020202020204" pitchFamily="34" charset="0"/>
                <a:ea typeface="Be Vietnam Pro" pitchFamily="34" charset="-122"/>
                <a:cs typeface="Be Vietnam Pro" pitchFamily="34" charset="-120"/>
              </a:rPr>
              <a:t>Ôn luyện theo đúng 35 tuần của sách Tiếng Việt 4, ba mức độ, chấm và giải thích ngay. Không cần tài khoản, không trò chuyện với AI.</a:t>
            </a:r>
            <a:endParaRPr lang="en-US" sz="1400" dirty="0">
              <a:solidFill>
                <a:srgbClr val="1B1F3B"/>
              </a:solidFill>
              <a:latin typeface="Arial" panose="020B0604020202020204" pitchFamily="34" charset="0"/>
            </a:endParaRPr>
          </a:p>
        </p:txBody>
      </p:sp>
      <p:sp>
        <p:nvSpPr>
          <p:cNvPr id="9" name="Shape 6"/>
          <p:cNvSpPr/>
          <p:nvPr/>
        </p:nvSpPr>
        <p:spPr>
          <a:xfrm>
            <a:off x="4326414" y="1803400"/>
            <a:ext cx="3539093" cy="1905000"/>
          </a:xfrm>
          <a:prstGeom prst="roundRect">
            <a:avLst>
              <a:gd name="adj" fmla="val 6173"/>
            </a:avLst>
          </a:prstGeom>
          <a:solidFill>
            <a:srgbClr val="EEF3FC"/>
          </a:solidFill>
          <a:ln/>
        </p:spPr>
      </p:sp>
      <p:sp>
        <p:nvSpPr>
          <p:cNvPr id="10" name="Shape 7"/>
          <p:cNvSpPr/>
          <p:nvPr/>
        </p:nvSpPr>
        <p:spPr>
          <a:xfrm>
            <a:off x="4326414" y="1803400"/>
            <a:ext cx="3539093" cy="1645920"/>
          </a:xfrm>
          <a:custGeom>
            <a:avLst/>
            <a:gdLst/>
            <a:ahLst/>
            <a:cxnLst/>
            <a:rect l="l" t="t" r="r" b="b"/>
            <a:pathLst>
              <a:path w="3539093" h="1645920">
                <a:moveTo>
                  <a:pt x="0" y="101600"/>
                </a:moveTo>
                <a:lnTo>
                  <a:pt x="0" y="101600"/>
                </a:lnTo>
                <a:arcTo wR="101600" hR="101600" stAng="10800000" swAng="5400000"/>
                <a:lnTo>
                  <a:pt x="3437493" y="0"/>
                </a:lnTo>
                <a:arcTo wR="101600" hR="101600" stAng="16200000" swAng="5400000"/>
                <a:lnTo>
                  <a:pt x="3539093" y="101600"/>
                </a:lnTo>
                <a:arcTo wR="101600" hR="50800" stAng="0" swAng="-5400000"/>
                <a:lnTo>
                  <a:pt x="101600" y="50800"/>
                </a:lnTo>
                <a:arcTo wR="101600" hR="50800" stAng="16200000" swAng="-5400000"/>
                <a:close/>
              </a:path>
            </a:pathLst>
          </a:custGeom>
          <a:solidFill>
            <a:srgbClr val="E61E2A"/>
          </a:solidFill>
          <a:ln/>
        </p:spPr>
      </p:sp>
      <p:sp>
        <p:nvSpPr>
          <p:cNvPr id="11" name="Text 8"/>
          <p:cNvSpPr/>
          <p:nvPr/>
        </p:nvSpPr>
        <p:spPr>
          <a:xfrm>
            <a:off x="4533900" y="2032000"/>
            <a:ext cx="3149600" cy="3048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000054"/>
                </a:solidFill>
                <a:latin typeface="Arial" panose="020B0604020202020204" pitchFamily="34" charset="0"/>
                <a:ea typeface="Be Vietnam Pro" pitchFamily="34" charset="-122"/>
                <a:cs typeface="Be Vietnam Pro" pitchFamily="34" charset="-120"/>
              </a:rPr>
              <a:t>Cho giáo viên</a:t>
            </a:r>
            <a:endParaRPr lang="en-US" sz="1700" b="1" dirty="0">
              <a:solidFill>
                <a:srgbClr val="000054"/>
              </a:solidFill>
              <a:latin typeface="Arial" panose="020B0604020202020204" pitchFamily="34" charset="0"/>
            </a:endParaRPr>
          </a:p>
        </p:txBody>
      </p:sp>
      <p:sp>
        <p:nvSpPr>
          <p:cNvPr id="12" name="Text 9"/>
          <p:cNvSpPr/>
          <p:nvPr/>
        </p:nvSpPr>
        <p:spPr>
          <a:xfrm>
            <a:off x="4533900" y="2387600"/>
            <a:ext cx="3149600" cy="1422400"/>
          </a:xfrm>
          <a:prstGeom prst="rect">
            <a:avLst/>
          </a:prstGeom>
          <a:noFill/>
          <a:ln/>
        </p:spPr>
        <p:txBody>
          <a:bodyPr wrap="square" lIns="0" tIns="0" rIns="0" bIns="0" rtlCol="0" anchor="t">
            <a:noAutofit/>
          </a:bodyPr>
          <a:lstStyle/>
          <a:p>
            <a:pPr marL="0" indent="0" algn="l">
              <a:lnSpc>
                <a:spcPts val="1740"/>
              </a:lnSpc>
              <a:buNone/>
            </a:pPr>
            <a:r>
              <a:rPr lang="en-US" sz="1400" dirty="0">
                <a:solidFill>
                  <a:srgbClr val="1B1F3B"/>
                </a:solidFill>
                <a:latin typeface="Arial" panose="020B0604020202020204" pitchFamily="34" charset="0"/>
                <a:ea typeface="Be Vietnam Pro" pitchFamily="34" charset="-122"/>
                <a:cs typeface="Be Vietnam Pro" pitchFamily="34" charset="-120"/>
              </a:rPr>
              <a:t>Góc giáo viên có trợ lý AI: soạn thêm câu hỏi, nháp nhận xét câu học sinh viết, gợi ý chia nhóm cho tiết sau.</a:t>
            </a:r>
            <a:endParaRPr lang="en-US" sz="1400" dirty="0">
              <a:solidFill>
                <a:srgbClr val="1B1F3B"/>
              </a:solidFill>
              <a:latin typeface="Arial" panose="020B0604020202020204" pitchFamily="34" charset="0"/>
            </a:endParaRPr>
          </a:p>
        </p:txBody>
      </p:sp>
      <p:sp>
        <p:nvSpPr>
          <p:cNvPr id="13" name="Shape 10"/>
          <p:cNvSpPr/>
          <p:nvPr/>
        </p:nvSpPr>
        <p:spPr>
          <a:xfrm>
            <a:off x="8043307" y="1803400"/>
            <a:ext cx="3539093" cy="1905000"/>
          </a:xfrm>
          <a:prstGeom prst="roundRect">
            <a:avLst>
              <a:gd name="adj" fmla="val 6173"/>
            </a:avLst>
          </a:prstGeom>
          <a:solidFill>
            <a:srgbClr val="EEF3FC"/>
          </a:solidFill>
          <a:ln/>
        </p:spPr>
      </p:sp>
      <p:sp>
        <p:nvSpPr>
          <p:cNvPr id="14" name="Shape 11"/>
          <p:cNvSpPr/>
          <p:nvPr/>
        </p:nvSpPr>
        <p:spPr>
          <a:xfrm>
            <a:off x="8043307" y="1803400"/>
            <a:ext cx="3539093" cy="1645920"/>
          </a:xfrm>
          <a:custGeom>
            <a:avLst/>
            <a:gdLst/>
            <a:ahLst/>
            <a:cxnLst/>
            <a:rect l="l" t="t" r="r" b="b"/>
            <a:pathLst>
              <a:path w="3539093" h="1645920">
                <a:moveTo>
                  <a:pt x="0" y="101600"/>
                </a:moveTo>
                <a:lnTo>
                  <a:pt x="0" y="101600"/>
                </a:lnTo>
                <a:arcTo wR="101600" hR="101600" stAng="10800000" swAng="5400000"/>
                <a:lnTo>
                  <a:pt x="3437493" y="0"/>
                </a:lnTo>
                <a:arcTo wR="101600" hR="101600" stAng="16200000" swAng="5400000"/>
                <a:lnTo>
                  <a:pt x="3539093" y="101600"/>
                </a:lnTo>
                <a:arcTo wR="101600" hR="50800" stAng="0" swAng="-5400000"/>
                <a:lnTo>
                  <a:pt x="101600" y="50800"/>
                </a:lnTo>
                <a:arcTo wR="101600" hR="50800" stAng="16200000" swAng="-5400000"/>
                <a:close/>
              </a:path>
            </a:pathLst>
          </a:custGeom>
          <a:solidFill>
            <a:srgbClr val="000054"/>
          </a:solidFill>
          <a:ln/>
        </p:spPr>
      </p:sp>
      <p:sp>
        <p:nvSpPr>
          <p:cNvPr id="15" name="Text 12"/>
          <p:cNvSpPr/>
          <p:nvPr/>
        </p:nvSpPr>
        <p:spPr>
          <a:xfrm>
            <a:off x="8242300" y="2032000"/>
            <a:ext cx="3149600" cy="3048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000054"/>
                </a:solidFill>
                <a:latin typeface="Arial" panose="020B0604020202020204" pitchFamily="34" charset="0"/>
                <a:ea typeface="Be Vietnam Pro" pitchFamily="34" charset="-122"/>
                <a:cs typeface="Be Vietnam Pro" pitchFamily="34" charset="-120"/>
              </a:rPr>
              <a:t>Công cụ AI</a:t>
            </a:r>
            <a:endParaRPr lang="en-US" sz="1700" b="1" dirty="0">
              <a:solidFill>
                <a:srgbClr val="000054"/>
              </a:solidFill>
              <a:latin typeface="Arial" panose="020B0604020202020204" pitchFamily="34" charset="0"/>
            </a:endParaRPr>
          </a:p>
        </p:txBody>
      </p:sp>
      <p:sp>
        <p:nvSpPr>
          <p:cNvPr id="16" name="Text 13"/>
          <p:cNvSpPr/>
          <p:nvPr/>
        </p:nvSpPr>
        <p:spPr>
          <a:xfrm>
            <a:off x="8242300" y="2387600"/>
            <a:ext cx="3149600" cy="1422400"/>
          </a:xfrm>
          <a:prstGeom prst="rect">
            <a:avLst/>
          </a:prstGeom>
          <a:noFill/>
          <a:ln/>
        </p:spPr>
        <p:txBody>
          <a:bodyPr wrap="square" lIns="0" tIns="0" rIns="0" bIns="0" rtlCol="0" anchor="t">
            <a:noAutofit/>
          </a:bodyPr>
          <a:lstStyle/>
          <a:p>
            <a:pPr marL="0" indent="0" algn="l">
              <a:lnSpc>
                <a:spcPts val="1740"/>
              </a:lnSpc>
              <a:buNone/>
            </a:pPr>
            <a:r>
              <a:rPr lang="en-US" sz="1400" dirty="0">
                <a:solidFill>
                  <a:srgbClr val="1B1F3B"/>
                </a:solidFill>
                <a:latin typeface="Arial" panose="020B0604020202020204" pitchFamily="34" charset="0"/>
                <a:ea typeface="Be Vietnam Pro" pitchFamily="34" charset="-122"/>
                <a:cs typeface="Be Vietnam Pro" pitchFamily="34" charset="-120"/>
              </a:rPr>
              <a:t>Claude (Anthropic): cùng cô thiết kế, lập trình ứng dụng và làm trợ lý trong Góc giáo viên. Ứng dụng web một tệp, chạy trên trình duyệt.</a:t>
            </a:r>
            <a:endParaRPr lang="en-US" sz="1400" dirty="0">
              <a:solidFill>
                <a:srgbClr val="1B1F3B"/>
              </a:solidFill>
              <a:latin typeface="Arial" panose="020B0604020202020204" pitchFamily="34" charset="0"/>
            </a:endParaRPr>
          </a:p>
        </p:txBody>
      </p:sp>
      <p:sp>
        <p:nvSpPr>
          <p:cNvPr id="17" name="Shape 14"/>
          <p:cNvSpPr/>
          <p:nvPr/>
        </p:nvSpPr>
        <p:spPr>
          <a:xfrm>
            <a:off x="609600" y="3962400"/>
            <a:ext cx="10972800" cy="1270000"/>
          </a:xfrm>
          <a:prstGeom prst="roundRect">
            <a:avLst>
              <a:gd name="adj" fmla="val 12739"/>
            </a:avLst>
          </a:prstGeom>
          <a:solidFill>
            <a:srgbClr val="000054"/>
          </a:solidFill>
          <a:ln/>
        </p:spPr>
      </p:sp>
      <p:sp>
        <p:nvSpPr>
          <p:cNvPr id="18" name="Text 15"/>
          <p:cNvSpPr/>
          <p:nvPr/>
        </p:nvSpPr>
        <p:spPr>
          <a:xfrm>
            <a:off x="838200" y="4432300"/>
            <a:ext cx="1778000" cy="330200"/>
          </a:xfrm>
          <a:prstGeom prst="rect">
            <a:avLst/>
          </a:prstGeom>
          <a:noFill/>
          <a:ln/>
        </p:spPr>
        <p:txBody>
          <a:bodyPr wrap="square" lIns="0" tIns="0" rIns="0" bIns="0" rtlCol="0" anchor="t">
            <a:noAutofit/>
          </a:bodyPr>
          <a:lstStyle/>
          <a:p>
            <a:pPr marL="0" indent="0" algn="l">
              <a:lnSpc>
                <a:spcPts val="1960"/>
              </a:lnSpc>
              <a:buNone/>
            </a:pPr>
            <a:r>
              <a:rPr lang="en-US" sz="1700" b="1" dirty="0">
                <a:solidFill>
                  <a:srgbClr val="FFEA00"/>
                </a:solidFill>
                <a:latin typeface="Arial" panose="020B0604020202020204" pitchFamily="34" charset="0"/>
                <a:ea typeface="Be Vietnam Pro" pitchFamily="34" charset="-122"/>
                <a:cs typeface="Be Vietnam Pro" pitchFamily="34" charset="-120"/>
              </a:rPr>
              <a:t>Vì sao chọn AI?</a:t>
            </a:r>
            <a:endParaRPr lang="en-US" sz="1700" b="1" dirty="0">
              <a:solidFill>
                <a:srgbClr val="FFEA00"/>
              </a:solidFill>
              <a:latin typeface="Arial" panose="020B0604020202020204" pitchFamily="34" charset="0"/>
            </a:endParaRPr>
          </a:p>
        </p:txBody>
      </p:sp>
      <p:sp>
        <p:nvSpPr>
          <p:cNvPr id="19" name="Text 16"/>
          <p:cNvSpPr/>
          <p:nvPr/>
        </p:nvSpPr>
        <p:spPr>
          <a:xfrm>
            <a:off x="2717800" y="4089400"/>
            <a:ext cx="8686800" cy="1016000"/>
          </a:xfrm>
          <a:prstGeom prst="rect">
            <a:avLst/>
          </a:prstGeom>
          <a:noFill/>
          <a:ln/>
        </p:spPr>
        <p:txBody>
          <a:bodyPr wrap="square" lIns="0" tIns="0" rIns="0" bIns="0" rtlCol="0" anchor="ctr">
            <a:noAutofit/>
          </a:bodyPr>
          <a:lstStyle/>
          <a:p>
            <a:pPr marL="0" indent="0" algn="l">
              <a:lnSpc>
                <a:spcPts val="1740"/>
              </a:lnSpc>
              <a:buNone/>
            </a:pPr>
            <a:r>
              <a:rPr lang="en-US" sz="1500" dirty="0">
                <a:solidFill>
                  <a:srgbClr val="FFFFFF"/>
                </a:solidFill>
                <a:latin typeface="Arial" panose="020B0604020202020204" pitchFamily="34" charset="0"/>
                <a:ea typeface="Be Vietnam Pro" pitchFamily="34" charset="-122"/>
                <a:cs typeface="Be Vietnam Pro" pitchFamily="34" charset="-120"/>
              </a:rPr>
              <a:t>AI làm nhanh những việc trước đây cô làm thủ công: soạn bài tập phân hoá, viết nhận xét riêng cho từng em, đọc số liệu lỗi của cả lớp. Cô dành thời gian cho việc kèm học sinh.</a:t>
            </a:r>
            <a:endParaRPr lang="en-US" sz="1500" dirty="0">
              <a:solidFill>
                <a:srgbClr val="FFFFFF"/>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SẢN PHẨM: GÓC HỌC SINH</a:t>
            </a:r>
            <a:endParaRPr lang="en-US" sz="3000" dirty="0">
              <a:latin typeface="Arial" panose="020B0604020202020204" pitchFamily="34" charset="0"/>
            </a:endParaRPr>
          </a:p>
        </p:txBody>
      </p:sp>
      <p:pic>
        <p:nvPicPr>
          <p:cNvPr id="4" name="Image 1" descr="Màn hình Hành trình học tập theo tuần"/>
          <p:cNvPicPr>
            <a:picLocks noChangeAspect="1"/>
          </p:cNvPicPr>
          <p:nvPr/>
        </p:nvPicPr>
        <p:blipFill>
          <a:blip r:embed="rId4"/>
          <a:srcRect t="135" b="135"/>
          <a:stretch/>
        </p:blipFill>
        <p:spPr>
          <a:xfrm>
            <a:off x="609600" y="1270000"/>
            <a:ext cx="5664200" cy="3530600"/>
          </a:xfrm>
          <a:prstGeom prst="roundRect">
            <a:avLst>
              <a:gd name="adj" fmla="val 2518"/>
            </a:avLst>
          </a:prstGeom>
        </p:spPr>
      </p:pic>
      <p:sp>
        <p:nvSpPr>
          <p:cNvPr id="5" name="Shape 1"/>
          <p:cNvSpPr/>
          <p:nvPr/>
        </p:nvSpPr>
        <p:spPr>
          <a:xfrm>
            <a:off x="609600" y="1270000"/>
            <a:ext cx="5664200" cy="3530600"/>
          </a:xfrm>
          <a:prstGeom prst="roundRect">
            <a:avLst>
              <a:gd name="adj" fmla="val 2688"/>
            </a:avLst>
          </a:prstGeom>
          <a:noFill/>
          <a:ln w="12700">
            <a:solidFill>
              <a:srgbClr val="D5DEF0"/>
            </a:solidFill>
            <a:prstDash val="solid"/>
          </a:ln>
        </p:spPr>
      </p:sp>
      <p:sp>
        <p:nvSpPr>
          <p:cNvPr id="6" name="Text 2"/>
          <p:cNvSpPr/>
          <p:nvPr/>
        </p:nvSpPr>
        <p:spPr>
          <a:xfrm>
            <a:off x="609600" y="4902200"/>
            <a:ext cx="5664200" cy="279400"/>
          </a:xfrm>
          <a:prstGeom prst="rect">
            <a:avLst/>
          </a:prstGeom>
          <a:noFill/>
          <a:ln/>
        </p:spPr>
        <p:txBody>
          <a:bodyPr wrap="square" lIns="0" tIns="0" rIns="0" bIns="0" rtlCol="0" anchor="t">
            <a:noAutofit/>
          </a:bodyPr>
          <a:lstStyle/>
          <a:p>
            <a:pPr marL="0" indent="0" algn="l">
              <a:lnSpc>
                <a:spcPts val="1680"/>
              </a:lnSpc>
              <a:buNone/>
            </a:pPr>
            <a:r>
              <a:rPr lang="en-US" sz="1300" i="1" dirty="0">
                <a:solidFill>
                  <a:srgbClr val="4A5072"/>
                </a:solidFill>
                <a:latin typeface="Arial" panose="020B0604020202020204" pitchFamily="34" charset="0"/>
                <a:ea typeface="Be Vietnam Pro" pitchFamily="34" charset="-122"/>
                <a:cs typeface="Be Vietnam Pro" pitchFamily="34" charset="-120"/>
              </a:rPr>
              <a:t>Hành trình học tập: mỗi tuần một trạm, theo chủ điểm của sách</a:t>
            </a:r>
            <a:endParaRPr lang="en-US" sz="1300" dirty="0">
              <a:solidFill>
                <a:srgbClr val="4A5072"/>
              </a:solidFill>
              <a:latin typeface="Arial" panose="020B0604020202020204" pitchFamily="34" charset="0"/>
            </a:endParaRPr>
          </a:p>
        </p:txBody>
      </p:sp>
      <p:sp>
        <p:nvSpPr>
          <p:cNvPr id="7" name="Shape 3"/>
          <p:cNvSpPr/>
          <p:nvPr/>
        </p:nvSpPr>
        <p:spPr>
          <a:xfrm>
            <a:off x="6604000" y="1270000"/>
            <a:ext cx="2425700" cy="1143000"/>
          </a:xfrm>
          <a:prstGeom prst="roundRect">
            <a:avLst>
              <a:gd name="adj" fmla="val 8457"/>
            </a:avLst>
          </a:prstGeom>
          <a:solidFill>
            <a:srgbClr val="EEF3FC"/>
          </a:solidFill>
          <a:ln/>
        </p:spPr>
      </p:sp>
      <p:sp>
        <p:nvSpPr>
          <p:cNvPr id="8" name="Text 4"/>
          <p:cNvSpPr/>
          <p:nvPr/>
        </p:nvSpPr>
        <p:spPr>
          <a:xfrm>
            <a:off x="6781799" y="1371600"/>
            <a:ext cx="2133600" cy="508000"/>
          </a:xfrm>
          <a:prstGeom prst="rect">
            <a:avLst/>
          </a:prstGeom>
          <a:noFill/>
          <a:ln/>
        </p:spPr>
        <p:txBody>
          <a:bodyPr wrap="square" lIns="0" tIns="0" rIns="0" bIns="0" rtlCol="0" anchor="t">
            <a:noAutofit/>
          </a:bodyPr>
          <a:lstStyle/>
          <a:p>
            <a:pPr marL="0" indent="0" algn="l">
              <a:lnSpc>
                <a:spcPts val="3520"/>
              </a:lnSpc>
              <a:buNone/>
            </a:pPr>
            <a:r>
              <a:rPr lang="en-US" sz="3200" b="1" dirty="0">
                <a:solidFill>
                  <a:srgbClr val="1E5BD8"/>
                </a:solidFill>
                <a:latin typeface="Arial" panose="020B0604020202020204" pitchFamily="34" charset="0"/>
                <a:ea typeface="Be Vietnam Pro" pitchFamily="34" charset="-122"/>
                <a:cs typeface="Be Vietnam Pro" pitchFamily="34" charset="-120"/>
              </a:rPr>
              <a:t>35</a:t>
            </a:r>
            <a:endParaRPr lang="en-US" sz="3200" b="1" dirty="0">
              <a:solidFill>
                <a:srgbClr val="1E5BD8"/>
              </a:solidFill>
              <a:latin typeface="Arial" panose="020B0604020202020204" pitchFamily="34" charset="0"/>
            </a:endParaRPr>
          </a:p>
        </p:txBody>
      </p:sp>
      <p:sp>
        <p:nvSpPr>
          <p:cNvPr id="9" name="Text 5"/>
          <p:cNvSpPr/>
          <p:nvPr/>
        </p:nvSpPr>
        <p:spPr>
          <a:xfrm>
            <a:off x="6781799" y="1854200"/>
            <a:ext cx="2159000" cy="508000"/>
          </a:xfrm>
          <a:prstGeom prst="rect">
            <a:avLst/>
          </a:prstGeom>
          <a:noFill/>
          <a:ln/>
        </p:spPr>
        <p:txBody>
          <a:bodyPr wrap="square" lIns="0" tIns="0" rIns="0" bIns="0" rtlCol="0" anchor="t">
            <a:noAutofit/>
          </a:bodyPr>
          <a:lstStyle/>
          <a:p>
            <a:pPr marL="0" indent="0" algn="l">
              <a:lnSpc>
                <a:spcPts val="1620"/>
              </a:lnSpc>
              <a:buNone/>
            </a:pPr>
            <a:r>
              <a:rPr lang="en-US" sz="1300" dirty="0">
                <a:solidFill>
                  <a:srgbClr val="1B1F3B"/>
                </a:solidFill>
                <a:latin typeface="Arial" panose="020B0604020202020204" pitchFamily="34" charset="0"/>
                <a:ea typeface="Be Vietnam Pro" pitchFamily="34" charset="-122"/>
                <a:cs typeface="Be Vietnam Pro" pitchFamily="34" charset="-120"/>
              </a:rPr>
              <a:t>trạm học: 31 bài và 4 trạm ôn tập</a:t>
            </a:r>
            <a:endParaRPr lang="en-US" sz="1300" dirty="0">
              <a:solidFill>
                <a:srgbClr val="1B1F3B"/>
              </a:solidFill>
              <a:latin typeface="Arial" panose="020B0604020202020204" pitchFamily="34" charset="0"/>
            </a:endParaRPr>
          </a:p>
        </p:txBody>
      </p:sp>
      <p:sp>
        <p:nvSpPr>
          <p:cNvPr id="10" name="Shape 6"/>
          <p:cNvSpPr/>
          <p:nvPr/>
        </p:nvSpPr>
        <p:spPr>
          <a:xfrm>
            <a:off x="9156700" y="1270000"/>
            <a:ext cx="2425700" cy="1143000"/>
          </a:xfrm>
          <a:prstGeom prst="roundRect">
            <a:avLst>
              <a:gd name="adj" fmla="val 8457"/>
            </a:avLst>
          </a:prstGeom>
          <a:solidFill>
            <a:srgbClr val="EEF3FC"/>
          </a:solidFill>
          <a:ln/>
        </p:spPr>
      </p:sp>
      <p:sp>
        <p:nvSpPr>
          <p:cNvPr id="11" name="Text 7"/>
          <p:cNvSpPr/>
          <p:nvPr/>
        </p:nvSpPr>
        <p:spPr>
          <a:xfrm>
            <a:off x="9334499" y="1371600"/>
            <a:ext cx="2133600" cy="508000"/>
          </a:xfrm>
          <a:prstGeom prst="rect">
            <a:avLst/>
          </a:prstGeom>
          <a:noFill/>
          <a:ln/>
        </p:spPr>
        <p:txBody>
          <a:bodyPr wrap="square" lIns="0" tIns="0" rIns="0" bIns="0" rtlCol="0" anchor="t">
            <a:noAutofit/>
          </a:bodyPr>
          <a:lstStyle/>
          <a:p>
            <a:pPr marL="0" indent="0" algn="l">
              <a:lnSpc>
                <a:spcPts val="3520"/>
              </a:lnSpc>
              <a:buNone/>
            </a:pPr>
            <a:r>
              <a:rPr lang="en-US" sz="3200" b="1" dirty="0">
                <a:solidFill>
                  <a:srgbClr val="1E5BD8"/>
                </a:solidFill>
                <a:latin typeface="Arial" panose="020B0604020202020204" pitchFamily="34" charset="0"/>
                <a:ea typeface="Be Vietnam Pro" pitchFamily="34" charset="-122"/>
                <a:cs typeface="Be Vietnam Pro" pitchFamily="34" charset="-120"/>
              </a:rPr>
              <a:t>372</a:t>
            </a:r>
            <a:endParaRPr lang="en-US" sz="3200" b="1" dirty="0">
              <a:solidFill>
                <a:srgbClr val="1E5BD8"/>
              </a:solidFill>
              <a:latin typeface="Arial" panose="020B0604020202020204" pitchFamily="34" charset="0"/>
            </a:endParaRPr>
          </a:p>
        </p:txBody>
      </p:sp>
      <p:sp>
        <p:nvSpPr>
          <p:cNvPr id="12" name="Text 8"/>
          <p:cNvSpPr/>
          <p:nvPr/>
        </p:nvSpPr>
        <p:spPr>
          <a:xfrm>
            <a:off x="9334499" y="1854200"/>
            <a:ext cx="2159000" cy="508000"/>
          </a:xfrm>
          <a:prstGeom prst="rect">
            <a:avLst/>
          </a:prstGeom>
          <a:noFill/>
          <a:ln/>
        </p:spPr>
        <p:txBody>
          <a:bodyPr wrap="square" lIns="0" tIns="0" rIns="0" bIns="0" rtlCol="0" anchor="t">
            <a:noAutofit/>
          </a:bodyPr>
          <a:lstStyle/>
          <a:p>
            <a:pPr marL="0" indent="0" algn="l">
              <a:lnSpc>
                <a:spcPts val="1620"/>
              </a:lnSpc>
              <a:buNone/>
            </a:pPr>
            <a:r>
              <a:rPr lang="en-US" sz="1300" dirty="0">
                <a:solidFill>
                  <a:srgbClr val="1B1F3B"/>
                </a:solidFill>
                <a:latin typeface="Arial" panose="020B0604020202020204" pitchFamily="34" charset="0"/>
                <a:ea typeface="Be Vietnam Pro" pitchFamily="34" charset="-122"/>
                <a:cs typeface="Be Vietnam Pro" pitchFamily="34" charset="-120"/>
              </a:rPr>
              <a:t>câu hỏi bám sát SGK Kết nối tri thức</a:t>
            </a:r>
            <a:endParaRPr lang="en-US" sz="1300" dirty="0">
              <a:solidFill>
                <a:srgbClr val="1B1F3B"/>
              </a:solidFill>
              <a:latin typeface="Arial" panose="020B0604020202020204" pitchFamily="34" charset="0"/>
            </a:endParaRPr>
          </a:p>
        </p:txBody>
      </p:sp>
      <p:sp>
        <p:nvSpPr>
          <p:cNvPr id="13" name="Shape 9"/>
          <p:cNvSpPr/>
          <p:nvPr/>
        </p:nvSpPr>
        <p:spPr>
          <a:xfrm>
            <a:off x="6604000" y="2540000"/>
            <a:ext cx="2425700" cy="1143000"/>
          </a:xfrm>
          <a:prstGeom prst="roundRect">
            <a:avLst>
              <a:gd name="adj" fmla="val 8457"/>
            </a:avLst>
          </a:prstGeom>
          <a:solidFill>
            <a:srgbClr val="EEF3FC"/>
          </a:solidFill>
          <a:ln/>
        </p:spPr>
      </p:sp>
      <p:sp>
        <p:nvSpPr>
          <p:cNvPr id="14" name="Text 10"/>
          <p:cNvSpPr/>
          <p:nvPr/>
        </p:nvSpPr>
        <p:spPr>
          <a:xfrm>
            <a:off x="6781799" y="2641600"/>
            <a:ext cx="2133600" cy="508000"/>
          </a:xfrm>
          <a:prstGeom prst="rect">
            <a:avLst/>
          </a:prstGeom>
          <a:noFill/>
          <a:ln/>
        </p:spPr>
        <p:txBody>
          <a:bodyPr wrap="square" lIns="0" tIns="0" rIns="0" bIns="0" rtlCol="0" anchor="t">
            <a:noAutofit/>
          </a:bodyPr>
          <a:lstStyle/>
          <a:p>
            <a:pPr marL="0" indent="0" algn="l">
              <a:lnSpc>
                <a:spcPts val="3520"/>
              </a:lnSpc>
              <a:buNone/>
            </a:pPr>
            <a:r>
              <a:rPr lang="en-US" sz="3200" b="1" dirty="0">
                <a:solidFill>
                  <a:srgbClr val="1E5BD8"/>
                </a:solidFill>
                <a:latin typeface="Arial" panose="020B0604020202020204" pitchFamily="34" charset="0"/>
                <a:ea typeface="Be Vietnam Pro" pitchFamily="34" charset="-122"/>
                <a:cs typeface="Be Vietnam Pro" pitchFamily="34" charset="-120"/>
              </a:rPr>
              <a:t>3</a:t>
            </a:r>
            <a:endParaRPr lang="en-US" sz="3200" b="1" dirty="0">
              <a:solidFill>
                <a:srgbClr val="1E5BD8"/>
              </a:solidFill>
              <a:latin typeface="Arial" panose="020B0604020202020204" pitchFamily="34" charset="0"/>
            </a:endParaRPr>
          </a:p>
        </p:txBody>
      </p:sp>
      <p:sp>
        <p:nvSpPr>
          <p:cNvPr id="15" name="Text 11"/>
          <p:cNvSpPr/>
          <p:nvPr/>
        </p:nvSpPr>
        <p:spPr>
          <a:xfrm>
            <a:off x="6781799" y="3124200"/>
            <a:ext cx="2159000" cy="508000"/>
          </a:xfrm>
          <a:prstGeom prst="rect">
            <a:avLst/>
          </a:prstGeom>
          <a:noFill/>
          <a:ln/>
        </p:spPr>
        <p:txBody>
          <a:bodyPr wrap="square" lIns="0" tIns="0" rIns="0" bIns="0" rtlCol="0" anchor="t">
            <a:noAutofit/>
          </a:bodyPr>
          <a:lstStyle/>
          <a:p>
            <a:pPr marL="0" indent="0" algn="l">
              <a:lnSpc>
                <a:spcPts val="1620"/>
              </a:lnSpc>
              <a:buNone/>
            </a:pPr>
            <a:r>
              <a:rPr lang="en-US" sz="1300" dirty="0">
                <a:solidFill>
                  <a:srgbClr val="1B1F3B"/>
                </a:solidFill>
                <a:latin typeface="Arial" panose="020B0604020202020204" pitchFamily="34" charset="0"/>
                <a:ea typeface="Be Vietnam Pro" pitchFamily="34" charset="-122"/>
                <a:cs typeface="Be Vietnam Pro" pitchFamily="34" charset="-120"/>
              </a:rPr>
              <a:t>mức: Khởi động – Tăng tốc – Chinh phục</a:t>
            </a:r>
            <a:endParaRPr lang="en-US" sz="1300" dirty="0">
              <a:solidFill>
                <a:srgbClr val="1B1F3B"/>
              </a:solidFill>
              <a:latin typeface="Arial" panose="020B0604020202020204" pitchFamily="34" charset="0"/>
            </a:endParaRPr>
          </a:p>
        </p:txBody>
      </p:sp>
      <p:sp>
        <p:nvSpPr>
          <p:cNvPr id="16" name="Shape 12"/>
          <p:cNvSpPr/>
          <p:nvPr/>
        </p:nvSpPr>
        <p:spPr>
          <a:xfrm>
            <a:off x="9156700" y="2540000"/>
            <a:ext cx="2425700" cy="1143000"/>
          </a:xfrm>
          <a:prstGeom prst="roundRect">
            <a:avLst>
              <a:gd name="adj" fmla="val 8457"/>
            </a:avLst>
          </a:prstGeom>
          <a:solidFill>
            <a:srgbClr val="EEF3FC"/>
          </a:solidFill>
          <a:ln/>
        </p:spPr>
      </p:sp>
      <p:sp>
        <p:nvSpPr>
          <p:cNvPr id="17" name="Text 13"/>
          <p:cNvSpPr/>
          <p:nvPr/>
        </p:nvSpPr>
        <p:spPr>
          <a:xfrm>
            <a:off x="9334499" y="2641600"/>
            <a:ext cx="2133600" cy="508000"/>
          </a:xfrm>
          <a:prstGeom prst="rect">
            <a:avLst/>
          </a:prstGeom>
          <a:noFill/>
          <a:ln/>
        </p:spPr>
        <p:txBody>
          <a:bodyPr wrap="square" lIns="0" tIns="0" rIns="0" bIns="0" rtlCol="0" anchor="t">
            <a:noAutofit/>
          </a:bodyPr>
          <a:lstStyle/>
          <a:p>
            <a:pPr marL="0" indent="0" algn="l">
              <a:lnSpc>
                <a:spcPts val="3520"/>
              </a:lnSpc>
              <a:buNone/>
            </a:pPr>
            <a:r>
              <a:rPr lang="en-US" sz="3200" b="1" dirty="0">
                <a:solidFill>
                  <a:srgbClr val="1E5BD8"/>
                </a:solidFill>
                <a:latin typeface="Arial" panose="020B0604020202020204" pitchFamily="34" charset="0"/>
                <a:ea typeface="Be Vietnam Pro" pitchFamily="34" charset="-122"/>
                <a:cs typeface="Be Vietnam Pro" pitchFamily="34" charset="-120"/>
              </a:rPr>
              <a:t>7</a:t>
            </a:r>
            <a:endParaRPr lang="en-US" sz="3200" b="1" dirty="0">
              <a:solidFill>
                <a:srgbClr val="1E5BD8"/>
              </a:solidFill>
              <a:latin typeface="Arial" panose="020B0604020202020204" pitchFamily="34" charset="0"/>
            </a:endParaRPr>
          </a:p>
        </p:txBody>
      </p:sp>
      <p:sp>
        <p:nvSpPr>
          <p:cNvPr id="18" name="Text 14"/>
          <p:cNvSpPr/>
          <p:nvPr/>
        </p:nvSpPr>
        <p:spPr>
          <a:xfrm>
            <a:off x="9334499" y="3124200"/>
            <a:ext cx="2159000" cy="508000"/>
          </a:xfrm>
          <a:prstGeom prst="rect">
            <a:avLst/>
          </a:prstGeom>
          <a:noFill/>
          <a:ln/>
        </p:spPr>
        <p:txBody>
          <a:bodyPr wrap="square" lIns="0" tIns="0" rIns="0" bIns="0" rtlCol="0" anchor="t">
            <a:noAutofit/>
          </a:bodyPr>
          <a:lstStyle/>
          <a:p>
            <a:pPr marL="0" indent="0" algn="l">
              <a:lnSpc>
                <a:spcPts val="1620"/>
              </a:lnSpc>
              <a:buNone/>
            </a:pPr>
            <a:r>
              <a:rPr lang="en-US" sz="1300" dirty="0">
                <a:solidFill>
                  <a:srgbClr val="1B1F3B"/>
                </a:solidFill>
                <a:latin typeface="Arial" panose="020B0604020202020204" pitchFamily="34" charset="0"/>
                <a:ea typeface="Be Vietnam Pro" pitchFamily="34" charset="-122"/>
                <a:cs typeface="Be Vietnam Pro" pitchFamily="34" charset="-120"/>
              </a:rPr>
              <a:t>dạng bài tương tác</a:t>
            </a:r>
            <a:endParaRPr lang="en-US" sz="1300" dirty="0">
              <a:solidFill>
                <a:srgbClr val="1B1F3B"/>
              </a:solidFill>
              <a:latin typeface="Arial" panose="020B0604020202020204" pitchFamily="34" charset="0"/>
            </a:endParaRPr>
          </a:p>
        </p:txBody>
      </p:sp>
      <p:sp>
        <p:nvSpPr>
          <p:cNvPr id="20" name="Card Types">
            <a:extLst>
              <a:ext uri="{FF2B5EF4-FFF2-40B4-BE49-F238E27FC236}">
                <a16:creationId xmlns:a16="http://schemas.microsoft.com/office/drawing/2014/main" id="{74FFCA1D-100B-C374-D68A-BD366837B6B7}"/>
              </a:ext>
            </a:extLst>
          </p:cNvPr>
          <p:cNvSpPr/>
          <p:nvPr/>
        </p:nvSpPr>
        <p:spPr>
          <a:xfrm>
            <a:off x="6604000" y="3810000"/>
            <a:ext cx="4978400" cy="1371600"/>
          </a:xfrm>
          <a:prstGeom prst="roundRect">
            <a:avLst>
              <a:gd name="adj" fmla="val 7407"/>
            </a:avLst>
          </a:prstGeom>
          <a:solidFill>
            <a:srgbClr val="00005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15"/>
          <p:cNvSpPr/>
          <p:nvPr/>
        </p:nvSpPr>
        <p:spPr>
          <a:xfrm>
            <a:off x="6807200" y="3937000"/>
            <a:ext cx="4597400" cy="1143000"/>
          </a:xfrm>
          <a:prstGeom prst="rect">
            <a:avLst/>
          </a:prstGeom>
          <a:noFill/>
          <a:ln/>
        </p:spPr>
        <p:txBody>
          <a:bodyPr wrap="square" lIns="0" tIns="0" rIns="0" bIns="0" rtlCol="0" anchor="ctr">
            <a:noAutofit/>
          </a:bodyPr>
          <a:lstStyle/>
          <a:p>
            <a:pPr marL="0" indent="0" algn="l">
              <a:lnSpc>
                <a:spcPct val="150000"/>
              </a:lnSpc>
              <a:spcAft>
                <a:spcPts val="600"/>
              </a:spcAft>
              <a:buNone/>
            </a:pPr>
            <a:r>
              <a:rPr lang="vi-VN" sz="1500" b="1">
                <a:solidFill>
                  <a:srgbClr val="FFEA00"/>
                </a:solidFill>
                <a:latin typeface="Arial" panose="020B0604020202020204" pitchFamily="34" charset="0"/>
                <a:ea typeface="Be Vietnam Pro" pitchFamily="34" charset="-122"/>
                <a:cs typeface="Be Vietnam Pro" pitchFamily="34" charset="-120"/>
              </a:rPr>
              <a:t>Trắc nghiệm · Chạm chọn từ · Xếp nhóm · Nối cột · Điền từ · Đúng/Sai · Tự đặt câu</a:t>
            </a:r>
          </a:p>
          <a:p>
            <a:pPr marL="0" indent="0" algn="l">
              <a:lnSpc>
                <a:spcPct val="150000"/>
              </a:lnSpc>
              <a:buNone/>
            </a:pPr>
            <a:r>
              <a:rPr lang="vi-VN" sz="1400">
                <a:solidFill>
                  <a:srgbClr val="FFFFFF"/>
                </a:solidFill>
                <a:latin typeface="Arial" panose="020B0604020202020204" pitchFamily="34" charset="0"/>
                <a:ea typeface="Be Vietnam Pro" pitchFamily="34" charset="-122"/>
                <a:cs typeface="Be Vietnam Pro" pitchFamily="34" charset="-120"/>
              </a:rPr>
              <a:t>Mức sau mở khoá khi em đạt 2 sao ở mức trước.</a:t>
            </a:r>
            <a:endParaRPr lang="en-US" sz="1400" dirty="0">
              <a:solidFill>
                <a:srgbClr val="FFFFFF"/>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PHẢN HỒI TỨC THÌ VÀ THÁM TỬ AI</a:t>
            </a:r>
            <a:endParaRPr lang="en-US" sz="3000" dirty="0">
              <a:latin typeface="Arial" panose="020B0604020202020204" pitchFamily="34" charset="0"/>
            </a:endParaRPr>
          </a:p>
        </p:txBody>
      </p:sp>
      <p:pic>
        <p:nvPicPr>
          <p:cNvPr id="4" name="Image 1" descr="Màn hình một câu hỏi: học sinh chọn sai, nhận gợi ý từ rô-bốt Bíp"/>
          <p:cNvPicPr>
            <a:picLocks noChangeAspect="1"/>
          </p:cNvPicPr>
          <p:nvPr/>
        </p:nvPicPr>
        <p:blipFill>
          <a:blip r:embed="rId4"/>
          <a:srcRect t="82" b="82"/>
          <a:stretch/>
        </p:blipFill>
        <p:spPr>
          <a:xfrm>
            <a:off x="609600" y="1270000"/>
            <a:ext cx="5207000" cy="3598956"/>
          </a:xfrm>
          <a:prstGeom prst="roundRect">
            <a:avLst>
              <a:gd name="adj" fmla="val 2482"/>
            </a:avLst>
          </a:prstGeom>
        </p:spPr>
      </p:pic>
      <p:sp>
        <p:nvSpPr>
          <p:cNvPr id="5" name="Shape 1"/>
          <p:cNvSpPr/>
          <p:nvPr/>
        </p:nvSpPr>
        <p:spPr>
          <a:xfrm>
            <a:off x="609600" y="1270000"/>
            <a:ext cx="5207000" cy="3598956"/>
          </a:xfrm>
          <a:prstGeom prst="roundRect">
            <a:avLst>
              <a:gd name="adj" fmla="val 2650"/>
            </a:avLst>
          </a:prstGeom>
          <a:noFill/>
          <a:ln w="12700">
            <a:solidFill>
              <a:srgbClr val="D5DEF0"/>
            </a:solidFill>
            <a:prstDash val="solid"/>
          </a:ln>
        </p:spPr>
      </p:sp>
      <p:sp>
        <p:nvSpPr>
          <p:cNvPr id="6" name="Text 2"/>
          <p:cNvSpPr/>
          <p:nvPr/>
        </p:nvSpPr>
        <p:spPr>
          <a:xfrm>
            <a:off x="6172200" y="1270000"/>
            <a:ext cx="5410200" cy="304800"/>
          </a:xfrm>
          <a:prstGeom prst="rect">
            <a:avLst/>
          </a:prstGeom>
          <a:noFill/>
          <a:ln/>
        </p:spPr>
        <p:txBody>
          <a:bodyPr wrap="square" lIns="0" tIns="0" rIns="0" bIns="0" rtlCol="0" anchor="t">
            <a:noAutofit/>
          </a:bodyPr>
          <a:lstStyle/>
          <a:p>
            <a:pPr marL="0" indent="0" algn="l">
              <a:lnSpc>
                <a:spcPts val="1920"/>
              </a:lnSpc>
              <a:buNone/>
            </a:pPr>
            <a:r>
              <a:rPr lang="en-US" b="1" dirty="0">
                <a:solidFill>
                  <a:srgbClr val="1E5BD8"/>
                </a:solidFill>
                <a:latin typeface="Arial" panose="020B0604020202020204" pitchFamily="34" charset="0"/>
                <a:ea typeface="Be Vietnam Pro" pitchFamily="34" charset="-122"/>
                <a:cs typeface="Be Vietnam Pro" pitchFamily="34" charset="-120"/>
              </a:rPr>
              <a:t>Sai đâu biết đó</a:t>
            </a:r>
            <a:endParaRPr lang="en-US" b="1" dirty="0">
              <a:solidFill>
                <a:srgbClr val="1E5BD8"/>
              </a:solidFill>
              <a:latin typeface="Arial" panose="020B0604020202020204" pitchFamily="34" charset="0"/>
            </a:endParaRPr>
          </a:p>
        </p:txBody>
      </p:sp>
      <p:sp>
        <p:nvSpPr>
          <p:cNvPr id="7" name="Text 3"/>
          <p:cNvSpPr/>
          <p:nvPr/>
        </p:nvSpPr>
        <p:spPr>
          <a:xfrm>
            <a:off x="6172200" y="1600200"/>
            <a:ext cx="5410200" cy="584200"/>
          </a:xfrm>
          <a:prstGeom prst="rect">
            <a:avLst/>
          </a:prstGeom>
          <a:noFill/>
          <a:ln/>
        </p:spPr>
        <p:txBody>
          <a:bodyPr wrap="square" lIns="0" tIns="0" rIns="0" bIns="0" rtlCol="0" anchor="t">
            <a:noAutofit/>
          </a:bodyPr>
          <a:lstStyle/>
          <a:p>
            <a:pPr marL="0" indent="0" algn="l">
              <a:lnSpc>
                <a:spcPts val="1885"/>
              </a:lnSpc>
              <a:buNone/>
            </a:pPr>
            <a:r>
              <a:rPr lang="en-US" sz="1500" dirty="0">
                <a:solidFill>
                  <a:srgbClr val="1B1F3B"/>
                </a:solidFill>
                <a:latin typeface="Arial" panose="020B0604020202020204" pitchFamily="34" charset="0"/>
                <a:ea typeface="Be Vietnam Pro" pitchFamily="34" charset="-122"/>
                <a:cs typeface="Be Vietnam Pro" pitchFamily="34" charset="-120"/>
              </a:rPr>
              <a:t>Mỗi câu có Gợi ý trước khi làm và lời Giải thích sau khi làm. Em được thử lại, không bị phạt.</a:t>
            </a:r>
            <a:endParaRPr lang="en-US" sz="1500" dirty="0">
              <a:solidFill>
                <a:srgbClr val="1B1F3B"/>
              </a:solidFill>
              <a:latin typeface="Arial" panose="020B0604020202020204" pitchFamily="34" charset="0"/>
            </a:endParaRPr>
          </a:p>
        </p:txBody>
      </p:sp>
      <p:sp>
        <p:nvSpPr>
          <p:cNvPr id="8" name="Shape 4"/>
          <p:cNvSpPr/>
          <p:nvPr/>
        </p:nvSpPr>
        <p:spPr>
          <a:xfrm>
            <a:off x="6172200" y="2336800"/>
            <a:ext cx="5410200" cy="1574800"/>
          </a:xfrm>
          <a:prstGeom prst="roundRect">
            <a:avLst>
              <a:gd name="adj" fmla="val 6999"/>
            </a:avLst>
          </a:prstGeom>
          <a:solidFill>
            <a:srgbClr val="000054"/>
          </a:solidFill>
          <a:ln/>
        </p:spPr>
      </p:sp>
      <p:sp>
        <p:nvSpPr>
          <p:cNvPr id="9" name="Text 5"/>
          <p:cNvSpPr/>
          <p:nvPr/>
        </p:nvSpPr>
        <p:spPr>
          <a:xfrm>
            <a:off x="6375400" y="2489200"/>
            <a:ext cx="5080000" cy="304800"/>
          </a:xfrm>
          <a:prstGeom prst="rect">
            <a:avLst/>
          </a:prstGeom>
          <a:noFill/>
          <a:ln/>
        </p:spPr>
        <p:txBody>
          <a:bodyPr wrap="square" lIns="0" tIns="0" rIns="0" bIns="0" rtlCol="0" anchor="t">
            <a:noAutofit/>
          </a:bodyPr>
          <a:lstStyle/>
          <a:p>
            <a:pPr marL="0" indent="0" algn="l">
              <a:lnSpc>
                <a:spcPts val="1920"/>
              </a:lnSpc>
              <a:buNone/>
            </a:pPr>
            <a:r>
              <a:rPr lang="en-US" b="1" dirty="0">
                <a:solidFill>
                  <a:srgbClr val="FFEA00"/>
                </a:solidFill>
                <a:latin typeface="Arial" panose="020B0604020202020204" pitchFamily="34" charset="0"/>
                <a:ea typeface="Be Vietnam Pro" pitchFamily="34" charset="-122"/>
                <a:cs typeface="Be Vietnam Pro" pitchFamily="34" charset="-120"/>
              </a:rPr>
              <a:t>Thám tử AI · 32 câu</a:t>
            </a:r>
            <a:endParaRPr lang="en-US" b="1" dirty="0">
              <a:solidFill>
                <a:srgbClr val="FFEA00"/>
              </a:solidFill>
              <a:latin typeface="Arial" panose="020B0604020202020204" pitchFamily="34" charset="0"/>
            </a:endParaRPr>
          </a:p>
        </p:txBody>
      </p:sp>
      <p:sp>
        <p:nvSpPr>
          <p:cNvPr id="10" name="Text 6"/>
          <p:cNvSpPr/>
          <p:nvPr/>
        </p:nvSpPr>
        <p:spPr>
          <a:xfrm>
            <a:off x="6375400" y="2819400"/>
            <a:ext cx="5080000" cy="584200"/>
          </a:xfrm>
          <a:prstGeom prst="rect">
            <a:avLst/>
          </a:prstGeom>
          <a:noFill/>
          <a:ln/>
        </p:spPr>
        <p:txBody>
          <a:bodyPr wrap="square" lIns="0" tIns="0" rIns="0" bIns="0" rtlCol="0" anchor="t">
            <a:noAutofit/>
          </a:bodyPr>
          <a:lstStyle/>
          <a:p>
            <a:pPr marL="0" indent="0" algn="l">
              <a:lnSpc>
                <a:spcPts val="1885"/>
              </a:lnSpc>
              <a:buNone/>
            </a:pPr>
            <a:r>
              <a:rPr lang="en-US" sz="1500" dirty="0">
                <a:solidFill>
                  <a:srgbClr val="FFFFFF"/>
                </a:solidFill>
                <a:latin typeface="Arial" panose="020B0604020202020204" pitchFamily="34" charset="0"/>
                <a:ea typeface="Be Vietnam Pro" pitchFamily="34" charset="-122"/>
                <a:cs typeface="Be Vietnam Pro" pitchFamily="34" charset="-120"/>
              </a:rPr>
              <a:t>Rô-bốt Bíp cố tình xếp nhầm một từ. Em tìm ra lỗi của “AI” và giải thích vì sao.</a:t>
            </a:r>
            <a:endParaRPr lang="en-US" sz="1500" dirty="0">
              <a:solidFill>
                <a:srgbClr val="FFFFFF"/>
              </a:solidFill>
              <a:latin typeface="Arial" panose="020B0604020202020204" pitchFamily="34" charset="0"/>
            </a:endParaRPr>
          </a:p>
        </p:txBody>
      </p:sp>
      <p:sp>
        <p:nvSpPr>
          <p:cNvPr id="11" name="Text 7"/>
          <p:cNvSpPr/>
          <p:nvPr/>
        </p:nvSpPr>
        <p:spPr>
          <a:xfrm>
            <a:off x="6375400" y="3479800"/>
            <a:ext cx="5080000" cy="508000"/>
          </a:xfrm>
          <a:prstGeom prst="rect">
            <a:avLst/>
          </a:prstGeom>
          <a:noFill/>
          <a:ln/>
        </p:spPr>
        <p:txBody>
          <a:bodyPr wrap="square" lIns="0" tIns="0" rIns="0" bIns="0" rtlCol="0" anchor="t">
            <a:noAutofit/>
          </a:bodyPr>
          <a:lstStyle/>
          <a:p>
            <a:pPr marL="0" indent="0" algn="l">
              <a:lnSpc>
                <a:spcPts val="1740"/>
              </a:lnSpc>
              <a:buNone/>
            </a:pPr>
            <a:r>
              <a:rPr lang="en-US" sz="1400" i="1" dirty="0">
                <a:solidFill>
                  <a:srgbClr val="C9D4FF"/>
                </a:solidFill>
                <a:latin typeface="Arial" panose="020B0604020202020204" pitchFamily="34" charset="0"/>
                <a:ea typeface="Be Vietnam Pro" pitchFamily="34" charset="-122"/>
                <a:cs typeface="Be Vietnam Pro" pitchFamily="34" charset="-120"/>
              </a:rPr>
              <a:t>“Bíp đã nhầm rồi! AI cũng có lúc sai, em nhớ kiểm tra lại nhé.”</a:t>
            </a:r>
            <a:endParaRPr lang="en-US" sz="1400" dirty="0">
              <a:latin typeface="Arial" panose="020B0604020202020204" pitchFamily="34" charset="0"/>
            </a:endParaRPr>
          </a:p>
        </p:txBody>
      </p:sp>
      <p:sp>
        <p:nvSpPr>
          <p:cNvPr id="12" name="Text 8"/>
          <p:cNvSpPr/>
          <p:nvPr/>
        </p:nvSpPr>
        <p:spPr>
          <a:xfrm>
            <a:off x="6172200" y="4140200"/>
            <a:ext cx="5410200" cy="304800"/>
          </a:xfrm>
          <a:prstGeom prst="rect">
            <a:avLst/>
          </a:prstGeom>
          <a:noFill/>
          <a:ln/>
        </p:spPr>
        <p:txBody>
          <a:bodyPr wrap="square" lIns="0" tIns="0" rIns="0" bIns="0" rtlCol="0" anchor="t">
            <a:noAutofit/>
          </a:bodyPr>
          <a:lstStyle/>
          <a:p>
            <a:pPr marL="0" indent="0" algn="l">
              <a:lnSpc>
                <a:spcPts val="1920"/>
              </a:lnSpc>
              <a:buNone/>
            </a:pPr>
            <a:r>
              <a:rPr lang="en-US" b="1" dirty="0">
                <a:solidFill>
                  <a:srgbClr val="1E5BD8"/>
                </a:solidFill>
                <a:latin typeface="Arial" panose="020B0604020202020204" pitchFamily="34" charset="0"/>
                <a:ea typeface="Be Vietnam Pro" pitchFamily="34" charset="-122"/>
                <a:cs typeface="Be Vietnam Pro" pitchFamily="34" charset="-120"/>
              </a:rPr>
              <a:t>Gửi kết quả cho cô</a:t>
            </a:r>
            <a:endParaRPr lang="en-US" b="1" dirty="0">
              <a:solidFill>
                <a:srgbClr val="1E5BD8"/>
              </a:solidFill>
              <a:latin typeface="Arial" panose="020B0604020202020204" pitchFamily="34" charset="0"/>
            </a:endParaRPr>
          </a:p>
        </p:txBody>
      </p:sp>
      <p:sp>
        <p:nvSpPr>
          <p:cNvPr id="13" name="Text 9"/>
          <p:cNvSpPr/>
          <p:nvPr/>
        </p:nvSpPr>
        <p:spPr>
          <a:xfrm>
            <a:off x="6172200" y="4470400"/>
            <a:ext cx="5410200" cy="584200"/>
          </a:xfrm>
          <a:prstGeom prst="rect">
            <a:avLst/>
          </a:prstGeom>
          <a:noFill/>
          <a:ln/>
        </p:spPr>
        <p:txBody>
          <a:bodyPr wrap="square" lIns="0" tIns="0" rIns="0" bIns="0" rtlCol="0" anchor="t">
            <a:noAutofit/>
          </a:bodyPr>
          <a:lstStyle/>
          <a:p>
            <a:pPr marL="0" indent="0" algn="l">
              <a:lnSpc>
                <a:spcPts val="1885"/>
              </a:lnSpc>
              <a:buNone/>
            </a:pPr>
            <a:r>
              <a:rPr lang="en-US" sz="1500" dirty="0">
                <a:solidFill>
                  <a:srgbClr val="1B1F3B"/>
                </a:solidFill>
                <a:latin typeface="Arial" panose="020B0604020202020204" pitchFamily="34" charset="0"/>
                <a:ea typeface="Be Vietnam Pro" pitchFamily="34" charset="-122"/>
                <a:cs typeface="Be Vietnam Pro" pitchFamily="34" charset="-120"/>
              </a:rPr>
              <a:t>Kết quả lưu trên máy; em bấm một nút để gửi mã kết quả cho cô.</a:t>
            </a:r>
            <a:endParaRPr lang="en-US" sz="1500" dirty="0">
              <a:solidFill>
                <a:srgbClr val="1B1F3B"/>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TRỢ LÝ AI CHO GIÁO VIÊN</a:t>
            </a:r>
            <a:endParaRPr lang="en-US" sz="3000" dirty="0">
              <a:latin typeface="Arial" panose="020B0604020202020204" pitchFamily="34" charset="0"/>
            </a:endParaRPr>
          </a:p>
        </p:txBody>
      </p:sp>
      <p:pic>
        <p:nvPicPr>
          <p:cNvPr id="4" name="Image 1" descr="Tab Trợ lý AI trong Góc giáo viên"/>
          <p:cNvPicPr>
            <a:picLocks noChangeAspect="1"/>
          </p:cNvPicPr>
          <p:nvPr/>
        </p:nvPicPr>
        <p:blipFill>
          <a:blip r:embed="rId4"/>
          <a:srcRect t="47" b="47"/>
          <a:stretch/>
        </p:blipFill>
        <p:spPr>
          <a:xfrm>
            <a:off x="622300" y="1270000"/>
            <a:ext cx="4419600" cy="3797300"/>
          </a:xfrm>
          <a:prstGeom prst="roundRect">
            <a:avLst>
              <a:gd name="adj" fmla="val 2341"/>
            </a:avLst>
          </a:prstGeom>
        </p:spPr>
      </p:pic>
      <p:sp>
        <p:nvSpPr>
          <p:cNvPr id="5" name="Shape 1"/>
          <p:cNvSpPr/>
          <p:nvPr/>
        </p:nvSpPr>
        <p:spPr>
          <a:xfrm>
            <a:off x="615950" y="1263650"/>
            <a:ext cx="4432300" cy="3810000"/>
          </a:xfrm>
          <a:prstGeom prst="roundRect">
            <a:avLst>
              <a:gd name="adj" fmla="val 2500"/>
            </a:avLst>
          </a:prstGeom>
          <a:noFill/>
          <a:ln w="12700">
            <a:solidFill>
              <a:srgbClr val="D5DEF0"/>
            </a:solidFill>
            <a:prstDash val="solid"/>
          </a:ln>
        </p:spPr>
      </p:sp>
      <p:sp>
        <p:nvSpPr>
          <p:cNvPr id="6" name="Shape 2"/>
          <p:cNvSpPr/>
          <p:nvPr/>
        </p:nvSpPr>
        <p:spPr>
          <a:xfrm>
            <a:off x="5410200" y="2133600"/>
            <a:ext cx="6172200" cy="0"/>
          </a:xfrm>
          <a:prstGeom prst="line">
            <a:avLst/>
          </a:prstGeom>
          <a:noFill/>
          <a:ln w="12700">
            <a:solidFill>
              <a:srgbClr val="E3E8F4"/>
            </a:solidFill>
            <a:prstDash val="solid"/>
          </a:ln>
        </p:spPr>
      </p:sp>
      <p:sp>
        <p:nvSpPr>
          <p:cNvPr id="7" name="Text 3"/>
          <p:cNvSpPr/>
          <p:nvPr/>
        </p:nvSpPr>
        <p:spPr>
          <a:xfrm>
            <a:off x="5384800" y="1244600"/>
            <a:ext cx="558800" cy="381000"/>
          </a:xfrm>
          <a:prstGeom prst="rect">
            <a:avLst/>
          </a:prstGeom>
          <a:noFill/>
          <a:ln/>
        </p:spPr>
        <p:txBody>
          <a:bodyPr wrap="square" lIns="0" tIns="0" rIns="0" bIns="0" rtlCol="0" anchor="t">
            <a:noAutofit/>
          </a:bodyPr>
          <a:lstStyle/>
          <a:p>
            <a:pPr marL="0" indent="0" algn="l">
              <a:lnSpc>
                <a:spcPts val="2200"/>
              </a:lnSpc>
              <a:buNone/>
            </a:pPr>
            <a:r>
              <a:rPr lang="en-US" sz="2400" b="1" dirty="0">
                <a:solidFill>
                  <a:srgbClr val="E21F26"/>
                </a:solidFill>
                <a:latin typeface="Arial" panose="020B0604020202020204" pitchFamily="34" charset="0"/>
                <a:ea typeface="Be Vietnam Pro" pitchFamily="34" charset="-122"/>
                <a:cs typeface="Be Vietnam Pro" pitchFamily="34" charset="-120"/>
              </a:rPr>
              <a:t>01</a:t>
            </a:r>
            <a:endParaRPr lang="en-US" sz="2400" b="1" dirty="0">
              <a:solidFill>
                <a:srgbClr val="E21F26"/>
              </a:solidFill>
              <a:latin typeface="Arial" panose="020B0604020202020204" pitchFamily="34" charset="0"/>
            </a:endParaRPr>
          </a:p>
        </p:txBody>
      </p:sp>
      <p:sp>
        <p:nvSpPr>
          <p:cNvPr id="8" name="Text 4"/>
          <p:cNvSpPr/>
          <p:nvPr/>
        </p:nvSpPr>
        <p:spPr>
          <a:xfrm>
            <a:off x="5969000" y="1270000"/>
            <a:ext cx="5613400" cy="3048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000054"/>
                </a:solidFill>
                <a:latin typeface="Arial" panose="020B0604020202020204" pitchFamily="34" charset="0"/>
                <a:ea typeface="Be Vietnam Pro" pitchFamily="34" charset="-122"/>
                <a:cs typeface="Be Vietnam Pro" pitchFamily="34" charset="-120"/>
              </a:rPr>
              <a:t>Soạn thêm câu hỏi</a:t>
            </a:r>
            <a:endParaRPr lang="en-US" sz="1700" b="1" dirty="0">
              <a:solidFill>
                <a:srgbClr val="000054"/>
              </a:solidFill>
              <a:latin typeface="Arial" panose="020B0604020202020204" pitchFamily="34" charset="0"/>
            </a:endParaRPr>
          </a:p>
        </p:txBody>
      </p:sp>
      <p:sp>
        <p:nvSpPr>
          <p:cNvPr id="9" name="Text 5"/>
          <p:cNvSpPr/>
          <p:nvPr/>
        </p:nvSpPr>
        <p:spPr>
          <a:xfrm>
            <a:off x="5969000" y="1587500"/>
            <a:ext cx="5613400" cy="508000"/>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1B1F3B"/>
                </a:solidFill>
                <a:latin typeface="Arial" panose="020B0604020202020204" pitchFamily="34" charset="0"/>
                <a:ea typeface="Be Vietnam Pro" pitchFamily="34" charset="-122"/>
                <a:cs typeface="Be Vietnam Pro" pitchFamily="34" charset="-120"/>
              </a:rPr>
              <a:t>Chọn bài, mức, số câu và dạng bài; cô duyệt từng câu rồi mới giao cho lớp.</a:t>
            </a:r>
            <a:endParaRPr lang="en-US" sz="1400" dirty="0">
              <a:solidFill>
                <a:srgbClr val="1B1F3B"/>
              </a:solidFill>
              <a:latin typeface="Arial" panose="020B0604020202020204" pitchFamily="34" charset="0"/>
            </a:endParaRPr>
          </a:p>
        </p:txBody>
      </p:sp>
      <p:sp>
        <p:nvSpPr>
          <p:cNvPr id="10" name="Shape 6"/>
          <p:cNvSpPr/>
          <p:nvPr/>
        </p:nvSpPr>
        <p:spPr>
          <a:xfrm>
            <a:off x="5410200" y="3098800"/>
            <a:ext cx="6172200" cy="0"/>
          </a:xfrm>
          <a:prstGeom prst="line">
            <a:avLst/>
          </a:prstGeom>
          <a:noFill/>
          <a:ln w="12700">
            <a:solidFill>
              <a:srgbClr val="E3E8F4"/>
            </a:solidFill>
            <a:prstDash val="solid"/>
          </a:ln>
        </p:spPr>
      </p:sp>
      <p:sp>
        <p:nvSpPr>
          <p:cNvPr id="11" name="Text 7"/>
          <p:cNvSpPr/>
          <p:nvPr/>
        </p:nvSpPr>
        <p:spPr>
          <a:xfrm>
            <a:off x="5384800" y="2209800"/>
            <a:ext cx="558800" cy="381000"/>
          </a:xfrm>
          <a:prstGeom prst="rect">
            <a:avLst/>
          </a:prstGeom>
          <a:noFill/>
          <a:ln/>
        </p:spPr>
        <p:txBody>
          <a:bodyPr wrap="square" lIns="0" tIns="0" rIns="0" bIns="0" rtlCol="0" anchor="t">
            <a:noAutofit/>
          </a:bodyPr>
          <a:lstStyle/>
          <a:p>
            <a:pPr marL="0" indent="0" algn="l">
              <a:lnSpc>
                <a:spcPts val="2200"/>
              </a:lnSpc>
              <a:buNone/>
            </a:pPr>
            <a:r>
              <a:rPr lang="en-US" sz="2400" b="1" dirty="0">
                <a:solidFill>
                  <a:srgbClr val="E21F26"/>
                </a:solidFill>
                <a:latin typeface="Arial" panose="020B0604020202020204" pitchFamily="34" charset="0"/>
                <a:ea typeface="Be Vietnam Pro" pitchFamily="34" charset="-122"/>
                <a:cs typeface="Be Vietnam Pro" pitchFamily="34" charset="-120"/>
              </a:rPr>
              <a:t>02</a:t>
            </a:r>
            <a:endParaRPr lang="en-US" sz="2400" b="1" dirty="0">
              <a:solidFill>
                <a:srgbClr val="E21F26"/>
              </a:solidFill>
              <a:latin typeface="Arial" panose="020B0604020202020204" pitchFamily="34" charset="0"/>
            </a:endParaRPr>
          </a:p>
        </p:txBody>
      </p:sp>
      <p:sp>
        <p:nvSpPr>
          <p:cNvPr id="12" name="Text 8"/>
          <p:cNvSpPr/>
          <p:nvPr/>
        </p:nvSpPr>
        <p:spPr>
          <a:xfrm>
            <a:off x="5969000" y="2235200"/>
            <a:ext cx="5613400" cy="3048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000054"/>
                </a:solidFill>
                <a:latin typeface="Arial" panose="020B0604020202020204" pitchFamily="34" charset="0"/>
                <a:ea typeface="Be Vietnam Pro" pitchFamily="34" charset="-122"/>
                <a:cs typeface="Be Vietnam Pro" pitchFamily="34" charset="-120"/>
              </a:rPr>
              <a:t>Nhận xét câu học sinh tự viết</a:t>
            </a:r>
            <a:endParaRPr lang="en-US" sz="1700" b="1" dirty="0">
              <a:solidFill>
                <a:srgbClr val="000054"/>
              </a:solidFill>
              <a:latin typeface="Arial" panose="020B0604020202020204" pitchFamily="34" charset="0"/>
            </a:endParaRPr>
          </a:p>
        </p:txBody>
      </p:sp>
      <p:sp>
        <p:nvSpPr>
          <p:cNvPr id="13" name="Text 9"/>
          <p:cNvSpPr/>
          <p:nvPr/>
        </p:nvSpPr>
        <p:spPr>
          <a:xfrm>
            <a:off x="5969000" y="2552700"/>
            <a:ext cx="5613400" cy="508000"/>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1B1F3B"/>
                </a:solidFill>
                <a:latin typeface="Arial" panose="020B0604020202020204" pitchFamily="34" charset="0"/>
                <a:ea typeface="Be Vietnam Pro" pitchFamily="34" charset="-122"/>
                <a:cs typeface="Be Vietnam Pro" pitchFamily="34" charset="-120"/>
              </a:rPr>
              <a:t>Khen trước, góp ý một điểm; cô sửa rồi chép vào vở hoặc gửi phụ huynh.</a:t>
            </a:r>
            <a:endParaRPr lang="en-US" sz="1400" dirty="0">
              <a:solidFill>
                <a:srgbClr val="1B1F3B"/>
              </a:solidFill>
              <a:latin typeface="Arial" panose="020B0604020202020204" pitchFamily="34" charset="0"/>
            </a:endParaRPr>
          </a:p>
        </p:txBody>
      </p:sp>
      <p:sp>
        <p:nvSpPr>
          <p:cNvPr id="14" name="Shape 10"/>
          <p:cNvSpPr/>
          <p:nvPr/>
        </p:nvSpPr>
        <p:spPr>
          <a:xfrm>
            <a:off x="5410200" y="4064000"/>
            <a:ext cx="6172200" cy="0"/>
          </a:xfrm>
          <a:prstGeom prst="line">
            <a:avLst/>
          </a:prstGeom>
          <a:noFill/>
          <a:ln w="12700">
            <a:solidFill>
              <a:srgbClr val="E3E8F4"/>
            </a:solidFill>
            <a:prstDash val="solid"/>
          </a:ln>
        </p:spPr>
      </p:sp>
      <p:sp>
        <p:nvSpPr>
          <p:cNvPr id="15" name="Text 11"/>
          <p:cNvSpPr/>
          <p:nvPr/>
        </p:nvSpPr>
        <p:spPr>
          <a:xfrm>
            <a:off x="5384800" y="3175000"/>
            <a:ext cx="558800" cy="381000"/>
          </a:xfrm>
          <a:prstGeom prst="rect">
            <a:avLst/>
          </a:prstGeom>
          <a:noFill/>
          <a:ln/>
        </p:spPr>
        <p:txBody>
          <a:bodyPr wrap="square" lIns="0" tIns="0" rIns="0" bIns="0" rtlCol="0" anchor="t">
            <a:noAutofit/>
          </a:bodyPr>
          <a:lstStyle/>
          <a:p>
            <a:pPr marL="0" indent="0" algn="l">
              <a:lnSpc>
                <a:spcPts val="2200"/>
              </a:lnSpc>
              <a:buNone/>
            </a:pPr>
            <a:r>
              <a:rPr lang="en-US" sz="2400" b="1" dirty="0">
                <a:solidFill>
                  <a:srgbClr val="E21F26"/>
                </a:solidFill>
                <a:latin typeface="Arial" panose="020B0604020202020204" pitchFamily="34" charset="0"/>
                <a:ea typeface="Be Vietnam Pro" pitchFamily="34" charset="-122"/>
                <a:cs typeface="Be Vietnam Pro" pitchFamily="34" charset="-120"/>
              </a:rPr>
              <a:t>03</a:t>
            </a:r>
            <a:endParaRPr lang="en-US" sz="2400" b="1" dirty="0">
              <a:solidFill>
                <a:srgbClr val="E21F26"/>
              </a:solidFill>
              <a:latin typeface="Arial" panose="020B0604020202020204" pitchFamily="34" charset="0"/>
            </a:endParaRPr>
          </a:p>
        </p:txBody>
      </p:sp>
      <p:sp>
        <p:nvSpPr>
          <p:cNvPr id="16" name="Text 12"/>
          <p:cNvSpPr/>
          <p:nvPr/>
        </p:nvSpPr>
        <p:spPr>
          <a:xfrm>
            <a:off x="5969000" y="3200400"/>
            <a:ext cx="5613400" cy="3048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000054"/>
                </a:solidFill>
                <a:latin typeface="Arial" panose="020B0604020202020204" pitchFamily="34" charset="0"/>
                <a:ea typeface="Be Vietnam Pro" pitchFamily="34" charset="-122"/>
                <a:cs typeface="Be Vietnam Pro" pitchFamily="34" charset="-120"/>
              </a:rPr>
              <a:t>Gợi ý tổ chức tiết tiếp theo</a:t>
            </a:r>
            <a:endParaRPr lang="en-US" sz="1700" b="1" dirty="0">
              <a:solidFill>
                <a:srgbClr val="000054"/>
              </a:solidFill>
              <a:latin typeface="Arial" panose="020B0604020202020204" pitchFamily="34" charset="0"/>
            </a:endParaRPr>
          </a:p>
        </p:txBody>
      </p:sp>
      <p:sp>
        <p:nvSpPr>
          <p:cNvPr id="17" name="Text 13"/>
          <p:cNvSpPr/>
          <p:nvPr/>
        </p:nvSpPr>
        <p:spPr>
          <a:xfrm>
            <a:off x="5969000" y="3517900"/>
            <a:ext cx="5613400" cy="508000"/>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1B1F3B"/>
                </a:solidFill>
                <a:latin typeface="Arial" panose="020B0604020202020204" pitchFamily="34" charset="0"/>
                <a:ea typeface="Be Vietnam Pro" pitchFamily="34" charset="-122"/>
                <a:cs typeface="Be Vietnam Pro" pitchFamily="34" charset="-120"/>
              </a:rPr>
              <a:t>Đọc lỗi hay gặp, đề xuất hoạt động cho Trạm Cô, Trạm Máy, Trạm Bạn.</a:t>
            </a:r>
            <a:endParaRPr lang="en-US" sz="1400" dirty="0">
              <a:solidFill>
                <a:srgbClr val="1B1F3B"/>
              </a:solidFill>
              <a:latin typeface="Arial" panose="020B0604020202020204" pitchFamily="34" charset="0"/>
            </a:endParaRPr>
          </a:p>
        </p:txBody>
      </p:sp>
      <p:sp>
        <p:nvSpPr>
          <p:cNvPr id="18" name="Text 14"/>
          <p:cNvSpPr/>
          <p:nvPr/>
        </p:nvSpPr>
        <p:spPr>
          <a:xfrm>
            <a:off x="5384800" y="4140200"/>
            <a:ext cx="558800" cy="381000"/>
          </a:xfrm>
          <a:prstGeom prst="rect">
            <a:avLst/>
          </a:prstGeom>
          <a:noFill/>
          <a:ln/>
        </p:spPr>
        <p:txBody>
          <a:bodyPr wrap="square" lIns="0" tIns="0" rIns="0" bIns="0" rtlCol="0" anchor="t">
            <a:noAutofit/>
          </a:bodyPr>
          <a:lstStyle/>
          <a:p>
            <a:pPr marL="0" indent="0" algn="l">
              <a:lnSpc>
                <a:spcPts val="2200"/>
              </a:lnSpc>
              <a:buNone/>
            </a:pPr>
            <a:r>
              <a:rPr lang="en-US" sz="2400" b="1" dirty="0">
                <a:solidFill>
                  <a:srgbClr val="E21F26"/>
                </a:solidFill>
                <a:latin typeface="Arial" panose="020B0604020202020204" pitchFamily="34" charset="0"/>
                <a:ea typeface="Be Vietnam Pro" pitchFamily="34" charset="-122"/>
                <a:cs typeface="Be Vietnam Pro" pitchFamily="34" charset="-120"/>
              </a:rPr>
              <a:t>04</a:t>
            </a:r>
            <a:endParaRPr lang="en-US" sz="2400" b="1" dirty="0">
              <a:solidFill>
                <a:srgbClr val="E21F26"/>
              </a:solidFill>
              <a:latin typeface="Arial" panose="020B0604020202020204" pitchFamily="34" charset="0"/>
            </a:endParaRPr>
          </a:p>
        </p:txBody>
      </p:sp>
      <p:sp>
        <p:nvSpPr>
          <p:cNvPr id="19" name="Text 15"/>
          <p:cNvSpPr/>
          <p:nvPr/>
        </p:nvSpPr>
        <p:spPr>
          <a:xfrm>
            <a:off x="5969000" y="4165600"/>
            <a:ext cx="5613400" cy="3048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000054"/>
                </a:solidFill>
                <a:latin typeface="Arial" panose="020B0604020202020204" pitchFamily="34" charset="0"/>
                <a:ea typeface="Be Vietnam Pro" pitchFamily="34" charset="-122"/>
                <a:cs typeface="Be Vietnam Pro" pitchFamily="34" charset="-120"/>
              </a:rPr>
              <a:t>Nháp nhận xét định kì</a:t>
            </a:r>
            <a:endParaRPr lang="en-US" sz="1700" b="1" dirty="0">
              <a:solidFill>
                <a:srgbClr val="000054"/>
              </a:solidFill>
              <a:latin typeface="Arial" panose="020B0604020202020204" pitchFamily="34" charset="0"/>
            </a:endParaRPr>
          </a:p>
        </p:txBody>
      </p:sp>
      <p:sp>
        <p:nvSpPr>
          <p:cNvPr id="20" name="Text 16"/>
          <p:cNvSpPr/>
          <p:nvPr/>
        </p:nvSpPr>
        <p:spPr>
          <a:xfrm>
            <a:off x="5969000" y="4483100"/>
            <a:ext cx="5613400" cy="508000"/>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1B1F3B"/>
                </a:solidFill>
                <a:latin typeface="Arial" panose="020B0604020202020204" pitchFamily="34" charset="0"/>
                <a:ea typeface="Be Vietnam Pro" pitchFamily="34" charset="-122"/>
                <a:cs typeface="Be Vietnam Pro" pitchFamily="34" charset="-120"/>
              </a:rPr>
              <a:t>2–3 câu cho mỗi em: điều làm tốt, điều cần cố gắng, lời động viên.</a:t>
            </a:r>
            <a:endParaRPr lang="en-US" sz="1400" dirty="0">
              <a:solidFill>
                <a:srgbClr val="1B1F3B"/>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54"/>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FFFFF"/>
                </a:solidFill>
                <a:latin typeface="Arial" panose="020B0604020202020204" pitchFamily="34" charset="0"/>
                <a:ea typeface="Be Vietnam Pro" pitchFamily="34" charset="-122"/>
                <a:cs typeface="Be Vietnam Pro" pitchFamily="34" charset="-120"/>
              </a:rPr>
              <a:t>ĐẠO ĐỨC VÀ TRÁCH NHIỆM KHI DÙNG AI</a:t>
            </a:r>
            <a:endParaRPr lang="en-US" sz="3000" dirty="0">
              <a:latin typeface="Arial" panose="020B0604020202020204" pitchFamily="34" charset="0"/>
            </a:endParaRPr>
          </a:p>
        </p:txBody>
      </p:sp>
      <p:sp>
        <p:nvSpPr>
          <p:cNvPr id="4" name="Shape 1"/>
          <p:cNvSpPr/>
          <p:nvPr/>
        </p:nvSpPr>
        <p:spPr>
          <a:xfrm>
            <a:off x="609600" y="1320800"/>
            <a:ext cx="3556000" cy="1803400"/>
          </a:xfrm>
          <a:prstGeom prst="roundRect">
            <a:avLst>
              <a:gd name="adj" fmla="val 8547"/>
            </a:avLst>
          </a:prstGeom>
          <a:solidFill>
            <a:srgbClr val="12207A"/>
          </a:solidFill>
          <a:ln/>
        </p:spPr>
      </p:sp>
      <p:sp>
        <p:nvSpPr>
          <p:cNvPr id="5" name="Shape 2"/>
          <p:cNvSpPr/>
          <p:nvPr/>
        </p:nvSpPr>
        <p:spPr>
          <a:xfrm>
            <a:off x="609600" y="1320800"/>
            <a:ext cx="3556000" cy="1188720"/>
          </a:xfrm>
          <a:custGeom>
            <a:avLst/>
            <a:gdLst/>
            <a:ahLst/>
            <a:cxnLst/>
            <a:rect l="l" t="t" r="r" b="b"/>
            <a:pathLst>
              <a:path w="3556000" h="118872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6" name="Text 3"/>
          <p:cNvSpPr/>
          <p:nvPr/>
        </p:nvSpPr>
        <p:spPr>
          <a:xfrm>
            <a:off x="812800" y="1574800"/>
            <a:ext cx="3175000" cy="3302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FFEA00"/>
                </a:solidFill>
                <a:latin typeface="Arial" panose="020B0604020202020204" pitchFamily="34" charset="0"/>
                <a:ea typeface="Be Vietnam Pro" pitchFamily="34" charset="-122"/>
                <a:cs typeface="Be Vietnam Pro" pitchFamily="34" charset="-120"/>
              </a:rPr>
              <a:t>Học sinh không chat với AI</a:t>
            </a:r>
            <a:endParaRPr lang="en-US" sz="1700" b="1" dirty="0">
              <a:solidFill>
                <a:srgbClr val="FFEA00"/>
              </a:solidFill>
              <a:latin typeface="Arial" panose="020B0604020202020204" pitchFamily="34" charset="0"/>
            </a:endParaRPr>
          </a:p>
        </p:txBody>
      </p:sp>
      <p:sp>
        <p:nvSpPr>
          <p:cNvPr id="7" name="Text 4"/>
          <p:cNvSpPr/>
          <p:nvPr/>
        </p:nvSpPr>
        <p:spPr>
          <a:xfrm>
            <a:off x="812800" y="1981200"/>
            <a:ext cx="3175000" cy="1016000"/>
          </a:xfrm>
          <a:prstGeom prst="rect">
            <a:avLst/>
          </a:prstGeom>
          <a:noFill/>
          <a:ln/>
        </p:spPr>
        <p:txBody>
          <a:bodyPr wrap="square" lIns="0" tIns="0" rIns="0" bIns="0" rtlCol="0" anchor="t">
            <a:noAutofit/>
          </a:bodyPr>
          <a:lstStyle/>
          <a:p>
            <a:pPr marL="0" indent="0" algn="l">
              <a:lnSpc>
                <a:spcPts val="1740"/>
              </a:lnSpc>
              <a:buNone/>
            </a:pPr>
            <a:r>
              <a:rPr lang="en-US" sz="1500" dirty="0">
                <a:solidFill>
                  <a:srgbClr val="FFFFFF"/>
                </a:solidFill>
                <a:latin typeface="Arial" panose="020B0604020202020204" pitchFamily="34" charset="0"/>
                <a:ea typeface="Be Vietnam Pro" pitchFamily="34" charset="-122"/>
                <a:cs typeface="Be Vietnam Pro" pitchFamily="34" charset="-120"/>
              </a:rPr>
              <a:t>Em không đăng nhập, không cần tài khoản; mọi câu hỏi đã được cô duyệt sẵn.</a:t>
            </a:r>
            <a:endParaRPr lang="en-US" sz="1500" dirty="0">
              <a:solidFill>
                <a:srgbClr val="FFFFFF"/>
              </a:solidFill>
              <a:latin typeface="Arial" panose="020B0604020202020204" pitchFamily="34" charset="0"/>
            </a:endParaRPr>
          </a:p>
        </p:txBody>
      </p:sp>
      <p:sp>
        <p:nvSpPr>
          <p:cNvPr id="8" name="Shape 5"/>
          <p:cNvSpPr/>
          <p:nvPr/>
        </p:nvSpPr>
        <p:spPr>
          <a:xfrm>
            <a:off x="4318000" y="1320800"/>
            <a:ext cx="3556000" cy="1803400"/>
          </a:xfrm>
          <a:prstGeom prst="roundRect">
            <a:avLst>
              <a:gd name="adj" fmla="val 8547"/>
            </a:avLst>
          </a:prstGeom>
          <a:solidFill>
            <a:srgbClr val="12207A"/>
          </a:solidFill>
          <a:ln/>
        </p:spPr>
      </p:sp>
      <p:sp>
        <p:nvSpPr>
          <p:cNvPr id="9" name="Shape 6"/>
          <p:cNvSpPr/>
          <p:nvPr/>
        </p:nvSpPr>
        <p:spPr>
          <a:xfrm>
            <a:off x="4318000" y="1320800"/>
            <a:ext cx="3556000" cy="1188720"/>
          </a:xfrm>
          <a:custGeom>
            <a:avLst/>
            <a:gdLst/>
            <a:ahLst/>
            <a:cxnLst/>
            <a:rect l="l" t="t" r="r" b="b"/>
            <a:pathLst>
              <a:path w="3556000" h="118872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10" name="Text 7"/>
          <p:cNvSpPr/>
          <p:nvPr/>
        </p:nvSpPr>
        <p:spPr>
          <a:xfrm>
            <a:off x="4521200" y="1574800"/>
            <a:ext cx="3175000" cy="3302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FFEA00"/>
                </a:solidFill>
                <a:latin typeface="Arial" panose="020B0604020202020204" pitchFamily="34" charset="0"/>
                <a:ea typeface="Be Vietnam Pro" pitchFamily="34" charset="-122"/>
                <a:cs typeface="Be Vietnam Pro" pitchFamily="34" charset="-120"/>
              </a:rPr>
              <a:t>Không gửi họ tên cho AI</a:t>
            </a:r>
            <a:endParaRPr lang="en-US" sz="1700" b="1" dirty="0">
              <a:solidFill>
                <a:srgbClr val="FFEA00"/>
              </a:solidFill>
              <a:latin typeface="Arial" panose="020B0604020202020204" pitchFamily="34" charset="0"/>
            </a:endParaRPr>
          </a:p>
        </p:txBody>
      </p:sp>
      <p:sp>
        <p:nvSpPr>
          <p:cNvPr id="11" name="Text 8"/>
          <p:cNvSpPr/>
          <p:nvPr/>
        </p:nvSpPr>
        <p:spPr>
          <a:xfrm>
            <a:off x="4521200" y="1981200"/>
            <a:ext cx="3175000" cy="1016000"/>
          </a:xfrm>
          <a:prstGeom prst="rect">
            <a:avLst/>
          </a:prstGeom>
          <a:noFill/>
          <a:ln/>
        </p:spPr>
        <p:txBody>
          <a:bodyPr wrap="square" lIns="0" tIns="0" rIns="0" bIns="0" rtlCol="0" anchor="t">
            <a:noAutofit/>
          </a:bodyPr>
          <a:lstStyle/>
          <a:p>
            <a:pPr marL="0" indent="0" algn="l">
              <a:lnSpc>
                <a:spcPts val="1740"/>
              </a:lnSpc>
              <a:buNone/>
            </a:pPr>
            <a:r>
              <a:rPr lang="en-US" sz="1500" dirty="0">
                <a:solidFill>
                  <a:srgbClr val="FFFFFF"/>
                </a:solidFill>
                <a:latin typeface="Arial" panose="020B0604020202020204" pitchFamily="34" charset="0"/>
                <a:ea typeface="Be Vietnam Pro" pitchFamily="34" charset="-122"/>
                <a:cs typeface="Be Vietnam Pro" pitchFamily="34" charset="-120"/>
              </a:rPr>
              <a:t>Chỉ gửi nội dung bài, câu học sinh viết và số liệu theo số thứ tự.</a:t>
            </a:r>
            <a:endParaRPr lang="en-US" sz="1500" dirty="0">
              <a:solidFill>
                <a:srgbClr val="FFFFFF"/>
              </a:solidFill>
              <a:latin typeface="Arial" panose="020B0604020202020204" pitchFamily="34" charset="0"/>
            </a:endParaRPr>
          </a:p>
        </p:txBody>
      </p:sp>
      <p:sp>
        <p:nvSpPr>
          <p:cNvPr id="12" name="Shape 9"/>
          <p:cNvSpPr/>
          <p:nvPr/>
        </p:nvSpPr>
        <p:spPr>
          <a:xfrm>
            <a:off x="8026400" y="1320800"/>
            <a:ext cx="3556000" cy="1803400"/>
          </a:xfrm>
          <a:prstGeom prst="roundRect">
            <a:avLst>
              <a:gd name="adj" fmla="val 8547"/>
            </a:avLst>
          </a:prstGeom>
          <a:solidFill>
            <a:srgbClr val="12207A"/>
          </a:solidFill>
          <a:ln/>
        </p:spPr>
      </p:sp>
      <p:sp>
        <p:nvSpPr>
          <p:cNvPr id="13" name="Shape 10"/>
          <p:cNvSpPr/>
          <p:nvPr/>
        </p:nvSpPr>
        <p:spPr>
          <a:xfrm>
            <a:off x="8026400" y="1320800"/>
            <a:ext cx="3556000" cy="1188720"/>
          </a:xfrm>
          <a:custGeom>
            <a:avLst/>
            <a:gdLst/>
            <a:ahLst/>
            <a:cxnLst/>
            <a:rect l="l" t="t" r="r" b="b"/>
            <a:pathLst>
              <a:path w="3556000" h="118872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14" name="Text 11"/>
          <p:cNvSpPr/>
          <p:nvPr/>
        </p:nvSpPr>
        <p:spPr>
          <a:xfrm>
            <a:off x="8229600" y="1574800"/>
            <a:ext cx="3175000" cy="3302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FFEA00"/>
                </a:solidFill>
                <a:latin typeface="Arial" panose="020B0604020202020204" pitchFamily="34" charset="0"/>
                <a:ea typeface="Be Vietnam Pro" pitchFamily="34" charset="-122"/>
                <a:cs typeface="Be Vietnam Pro" pitchFamily="34" charset="-120"/>
              </a:rPr>
              <a:t>AI chỉ viết bản nháp</a:t>
            </a:r>
            <a:endParaRPr lang="en-US" sz="1700" b="1" dirty="0">
              <a:solidFill>
                <a:srgbClr val="FFEA00"/>
              </a:solidFill>
              <a:latin typeface="Arial" panose="020B0604020202020204" pitchFamily="34" charset="0"/>
            </a:endParaRPr>
          </a:p>
        </p:txBody>
      </p:sp>
      <p:sp>
        <p:nvSpPr>
          <p:cNvPr id="15" name="Text 12"/>
          <p:cNvSpPr/>
          <p:nvPr/>
        </p:nvSpPr>
        <p:spPr>
          <a:xfrm>
            <a:off x="8229600" y="1981200"/>
            <a:ext cx="3175000" cy="1016000"/>
          </a:xfrm>
          <a:prstGeom prst="rect">
            <a:avLst/>
          </a:prstGeom>
          <a:noFill/>
          <a:ln/>
        </p:spPr>
        <p:txBody>
          <a:bodyPr wrap="square" lIns="0" tIns="0" rIns="0" bIns="0" rtlCol="0" anchor="t">
            <a:noAutofit/>
          </a:bodyPr>
          <a:lstStyle/>
          <a:p>
            <a:pPr marL="0" indent="0" algn="l">
              <a:lnSpc>
                <a:spcPts val="1740"/>
              </a:lnSpc>
              <a:buNone/>
            </a:pPr>
            <a:r>
              <a:rPr lang="en-US" sz="1500" dirty="0">
                <a:solidFill>
                  <a:srgbClr val="FFFFFF"/>
                </a:solidFill>
                <a:latin typeface="Arial" panose="020B0604020202020204" pitchFamily="34" charset="0"/>
                <a:ea typeface="Be Vietnam Pro" pitchFamily="34" charset="-122"/>
                <a:cs typeface="Be Vietnam Pro" pitchFamily="34" charset="-120"/>
              </a:rPr>
              <a:t>Cô đọc, sửa, bỏ câu chưa ổn rồi mới giao cho lớp hoặc gửi phụ huynh.</a:t>
            </a:r>
            <a:endParaRPr lang="en-US" sz="1500" dirty="0">
              <a:solidFill>
                <a:srgbClr val="FFFFFF"/>
              </a:solidFill>
              <a:latin typeface="Arial" panose="020B0604020202020204" pitchFamily="34" charset="0"/>
            </a:endParaRPr>
          </a:p>
        </p:txBody>
      </p:sp>
      <p:sp>
        <p:nvSpPr>
          <p:cNvPr id="16" name="Shape 13"/>
          <p:cNvSpPr/>
          <p:nvPr/>
        </p:nvSpPr>
        <p:spPr>
          <a:xfrm>
            <a:off x="609600" y="3327400"/>
            <a:ext cx="3556000" cy="1803400"/>
          </a:xfrm>
          <a:prstGeom prst="roundRect">
            <a:avLst>
              <a:gd name="adj" fmla="val 7207"/>
            </a:avLst>
          </a:prstGeom>
          <a:solidFill>
            <a:srgbClr val="12207A"/>
          </a:solidFill>
          <a:ln/>
        </p:spPr>
      </p:sp>
      <p:sp>
        <p:nvSpPr>
          <p:cNvPr id="17" name="Shape 14"/>
          <p:cNvSpPr/>
          <p:nvPr/>
        </p:nvSpPr>
        <p:spPr>
          <a:xfrm>
            <a:off x="609600" y="3327400"/>
            <a:ext cx="3556000" cy="1409700"/>
          </a:xfrm>
          <a:custGeom>
            <a:avLst/>
            <a:gdLst/>
            <a:ahLst/>
            <a:cxnLst/>
            <a:rect l="l" t="t" r="r" b="b"/>
            <a:pathLst>
              <a:path w="3556000" h="140970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18" name="Text 15"/>
          <p:cNvSpPr/>
          <p:nvPr/>
        </p:nvSpPr>
        <p:spPr>
          <a:xfrm>
            <a:off x="812800" y="3581400"/>
            <a:ext cx="3175000" cy="3302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FFEA00"/>
                </a:solidFill>
                <a:latin typeface="Arial" panose="020B0604020202020204" pitchFamily="34" charset="0"/>
                <a:ea typeface="Be Vietnam Pro" pitchFamily="34" charset="-122"/>
                <a:cs typeface="Be Vietnam Pro" pitchFamily="34" charset="-120"/>
              </a:rPr>
              <a:t>Nội dung chính xác</a:t>
            </a:r>
            <a:endParaRPr lang="en-US" sz="1700" b="1" dirty="0">
              <a:solidFill>
                <a:srgbClr val="FFEA00"/>
              </a:solidFill>
              <a:latin typeface="Arial" panose="020B0604020202020204" pitchFamily="34" charset="0"/>
            </a:endParaRPr>
          </a:p>
        </p:txBody>
      </p:sp>
      <p:sp>
        <p:nvSpPr>
          <p:cNvPr id="19" name="Text 16"/>
          <p:cNvSpPr/>
          <p:nvPr/>
        </p:nvSpPr>
        <p:spPr>
          <a:xfrm>
            <a:off x="812800" y="3987800"/>
            <a:ext cx="3175000" cy="1016000"/>
          </a:xfrm>
          <a:prstGeom prst="rect">
            <a:avLst/>
          </a:prstGeom>
          <a:noFill/>
          <a:ln/>
        </p:spPr>
        <p:txBody>
          <a:bodyPr wrap="square" lIns="0" tIns="0" rIns="0" bIns="0" rtlCol="0" anchor="t">
            <a:noAutofit/>
          </a:bodyPr>
          <a:lstStyle/>
          <a:p>
            <a:pPr marL="0" indent="0" algn="l">
              <a:lnSpc>
                <a:spcPts val="1740"/>
              </a:lnSpc>
              <a:buNone/>
            </a:pPr>
            <a:r>
              <a:rPr lang="en-US" sz="1500" dirty="0">
                <a:solidFill>
                  <a:srgbClr val="FFFFFF"/>
                </a:solidFill>
                <a:latin typeface="Arial" panose="020B0604020202020204" pitchFamily="34" charset="0"/>
                <a:ea typeface="Be Vietnam Pro" pitchFamily="34" charset="-122"/>
                <a:cs typeface="Be Vietnam Pro" pitchFamily="34" charset="-120"/>
              </a:rPr>
              <a:t>Bám sát SGK Tiếng Việt 4 – Kết nối tri thức; cô ẩn hoặc giữ từng câu trong ngân hàng.</a:t>
            </a:r>
            <a:endParaRPr lang="en-US" sz="1500" dirty="0">
              <a:solidFill>
                <a:srgbClr val="FFFFFF"/>
              </a:solidFill>
              <a:latin typeface="Arial" panose="020B0604020202020204" pitchFamily="34" charset="0"/>
            </a:endParaRPr>
          </a:p>
        </p:txBody>
      </p:sp>
      <p:sp>
        <p:nvSpPr>
          <p:cNvPr id="20" name="Shape 17"/>
          <p:cNvSpPr/>
          <p:nvPr/>
        </p:nvSpPr>
        <p:spPr>
          <a:xfrm>
            <a:off x="4318000" y="3327400"/>
            <a:ext cx="3556000" cy="1803400"/>
          </a:xfrm>
          <a:prstGeom prst="roundRect">
            <a:avLst>
              <a:gd name="adj" fmla="val 7207"/>
            </a:avLst>
          </a:prstGeom>
          <a:solidFill>
            <a:srgbClr val="12207A"/>
          </a:solidFill>
          <a:ln/>
        </p:spPr>
      </p:sp>
      <p:sp>
        <p:nvSpPr>
          <p:cNvPr id="21" name="Shape 18"/>
          <p:cNvSpPr/>
          <p:nvPr/>
        </p:nvSpPr>
        <p:spPr>
          <a:xfrm>
            <a:off x="4318000" y="3327400"/>
            <a:ext cx="3556000" cy="1409700"/>
          </a:xfrm>
          <a:custGeom>
            <a:avLst/>
            <a:gdLst/>
            <a:ahLst/>
            <a:cxnLst/>
            <a:rect l="l" t="t" r="r" b="b"/>
            <a:pathLst>
              <a:path w="3556000" h="140970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22" name="Text 19"/>
          <p:cNvSpPr/>
          <p:nvPr/>
        </p:nvSpPr>
        <p:spPr>
          <a:xfrm>
            <a:off x="4521200" y="3581400"/>
            <a:ext cx="3175000" cy="3302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FFEA00"/>
                </a:solidFill>
                <a:latin typeface="Arial" panose="020B0604020202020204" pitchFamily="34" charset="0"/>
                <a:ea typeface="Be Vietnam Pro" pitchFamily="34" charset="-122"/>
                <a:cs typeface="Be Vietnam Pro" pitchFamily="34" charset="-120"/>
              </a:rPr>
              <a:t>Dữ liệu ở lại trên máy</a:t>
            </a:r>
            <a:endParaRPr lang="en-US" sz="1700" b="1" dirty="0">
              <a:solidFill>
                <a:srgbClr val="FFEA00"/>
              </a:solidFill>
              <a:latin typeface="Arial" panose="020B0604020202020204" pitchFamily="34" charset="0"/>
            </a:endParaRPr>
          </a:p>
        </p:txBody>
      </p:sp>
      <p:sp>
        <p:nvSpPr>
          <p:cNvPr id="23" name="Text 20"/>
          <p:cNvSpPr/>
          <p:nvPr/>
        </p:nvSpPr>
        <p:spPr>
          <a:xfrm>
            <a:off x="4521200" y="3987800"/>
            <a:ext cx="3175000" cy="1016000"/>
          </a:xfrm>
          <a:prstGeom prst="rect">
            <a:avLst/>
          </a:prstGeom>
          <a:noFill/>
          <a:ln/>
        </p:spPr>
        <p:txBody>
          <a:bodyPr wrap="square" lIns="0" tIns="0" rIns="0" bIns="0" rtlCol="0" anchor="t">
            <a:noAutofit/>
          </a:bodyPr>
          <a:lstStyle/>
          <a:p>
            <a:pPr marL="0" indent="0" algn="l">
              <a:lnSpc>
                <a:spcPts val="1740"/>
              </a:lnSpc>
              <a:buNone/>
            </a:pPr>
            <a:r>
              <a:rPr lang="en-US" sz="1500" dirty="0">
                <a:solidFill>
                  <a:srgbClr val="FFFFFF"/>
                </a:solidFill>
                <a:latin typeface="Arial" panose="020B0604020202020204" pitchFamily="34" charset="0"/>
                <a:ea typeface="Be Vietnam Pro" pitchFamily="34" charset="-122"/>
                <a:cs typeface="Be Vietnam Pro" pitchFamily="34" charset="-120"/>
              </a:rPr>
              <a:t>Kết quả lưu trên trình duyệt; em gửi cho cô bằng mã, không cần máy chủ.</a:t>
            </a:r>
            <a:endParaRPr lang="en-US" sz="1500" dirty="0">
              <a:solidFill>
                <a:srgbClr val="FFFFFF"/>
              </a:solidFill>
              <a:latin typeface="Arial" panose="020B0604020202020204" pitchFamily="34" charset="0"/>
            </a:endParaRPr>
          </a:p>
        </p:txBody>
      </p:sp>
      <p:sp>
        <p:nvSpPr>
          <p:cNvPr id="24" name="Shape 21"/>
          <p:cNvSpPr/>
          <p:nvPr/>
        </p:nvSpPr>
        <p:spPr>
          <a:xfrm>
            <a:off x="8026400" y="3327400"/>
            <a:ext cx="3556000" cy="1803400"/>
          </a:xfrm>
          <a:prstGeom prst="roundRect">
            <a:avLst>
              <a:gd name="adj" fmla="val 7207"/>
            </a:avLst>
          </a:prstGeom>
          <a:solidFill>
            <a:srgbClr val="12207A"/>
          </a:solidFill>
          <a:ln/>
        </p:spPr>
      </p:sp>
      <p:sp>
        <p:nvSpPr>
          <p:cNvPr id="25" name="Shape 22"/>
          <p:cNvSpPr/>
          <p:nvPr/>
        </p:nvSpPr>
        <p:spPr>
          <a:xfrm>
            <a:off x="8026400" y="3327400"/>
            <a:ext cx="3556000" cy="1409700"/>
          </a:xfrm>
          <a:custGeom>
            <a:avLst/>
            <a:gdLst/>
            <a:ahLst/>
            <a:cxnLst/>
            <a:rect l="l" t="t" r="r" b="b"/>
            <a:pathLst>
              <a:path w="3556000" h="1409700">
                <a:moveTo>
                  <a:pt x="0" y="101600"/>
                </a:moveTo>
                <a:lnTo>
                  <a:pt x="0" y="101600"/>
                </a:lnTo>
                <a:arcTo wR="101600" hR="101600" stAng="10800000" swAng="5400000"/>
                <a:lnTo>
                  <a:pt x="3454400" y="0"/>
                </a:lnTo>
                <a:arcTo wR="101600" hR="101600" stAng="16200000" swAng="5400000"/>
                <a:lnTo>
                  <a:pt x="3556000" y="101600"/>
                </a:lnTo>
                <a:arcTo wR="101600" hR="63500" stAng="0" swAng="-5400000"/>
                <a:lnTo>
                  <a:pt x="101600" y="38100"/>
                </a:lnTo>
                <a:arcTo wR="101600" hR="63500" stAng="16200000" swAng="-5400000"/>
                <a:close/>
              </a:path>
            </a:pathLst>
          </a:custGeom>
          <a:solidFill>
            <a:srgbClr val="FFEA00"/>
          </a:solidFill>
          <a:ln/>
        </p:spPr>
      </p:sp>
      <p:sp>
        <p:nvSpPr>
          <p:cNvPr id="26" name="Text 23"/>
          <p:cNvSpPr/>
          <p:nvPr/>
        </p:nvSpPr>
        <p:spPr>
          <a:xfrm>
            <a:off x="8229600" y="3581400"/>
            <a:ext cx="3175000" cy="3302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FFEA00"/>
                </a:solidFill>
                <a:latin typeface="Arial" panose="020B0604020202020204" pitchFamily="34" charset="0"/>
                <a:ea typeface="Be Vietnam Pro" pitchFamily="34" charset="-122"/>
                <a:cs typeface="Be Vietnam Pro" pitchFamily="34" charset="-120"/>
              </a:rPr>
              <a:t>Dạy em kiểm tra AI</a:t>
            </a:r>
            <a:endParaRPr lang="en-US" sz="1700" b="1" dirty="0">
              <a:solidFill>
                <a:srgbClr val="FFEA00"/>
              </a:solidFill>
              <a:latin typeface="Arial" panose="020B0604020202020204" pitchFamily="34" charset="0"/>
            </a:endParaRPr>
          </a:p>
        </p:txBody>
      </p:sp>
      <p:sp>
        <p:nvSpPr>
          <p:cNvPr id="27" name="Text 24"/>
          <p:cNvSpPr/>
          <p:nvPr/>
        </p:nvSpPr>
        <p:spPr>
          <a:xfrm>
            <a:off x="8229600" y="3987800"/>
            <a:ext cx="3175000" cy="1016000"/>
          </a:xfrm>
          <a:prstGeom prst="rect">
            <a:avLst/>
          </a:prstGeom>
          <a:noFill/>
          <a:ln/>
        </p:spPr>
        <p:txBody>
          <a:bodyPr wrap="square" lIns="0" tIns="0" rIns="0" bIns="0" rtlCol="0" anchor="t">
            <a:noAutofit/>
          </a:bodyPr>
          <a:lstStyle/>
          <a:p>
            <a:pPr marL="0" indent="0" algn="l">
              <a:lnSpc>
                <a:spcPts val="1740"/>
              </a:lnSpc>
              <a:buNone/>
            </a:pPr>
            <a:r>
              <a:rPr lang="en-US" sz="1500" dirty="0">
                <a:solidFill>
                  <a:srgbClr val="FFFFFF"/>
                </a:solidFill>
                <a:latin typeface="Arial" panose="020B0604020202020204" pitchFamily="34" charset="0"/>
                <a:ea typeface="Be Vietnam Pro" pitchFamily="34" charset="-122"/>
                <a:cs typeface="Be Vietnam Pro" pitchFamily="34" charset="-120"/>
              </a:rPr>
              <a:t>Dạng bài Thám tử AI rèn thói quen không tin tuyệt đối vào câu trả lời của máy.</a:t>
            </a:r>
            <a:endParaRPr lang="en-US" sz="1500" dirty="0">
              <a:solidFill>
                <a:srgbClr val="FFFFFF"/>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TRIỂN KHAI THỰC TẾ</a:t>
            </a:r>
            <a:endParaRPr lang="en-US" sz="3000" dirty="0">
              <a:latin typeface="Arial" panose="020B0604020202020204" pitchFamily="34" charset="0"/>
            </a:endParaRPr>
          </a:p>
        </p:txBody>
      </p:sp>
      <p:sp>
        <p:nvSpPr>
          <p:cNvPr id="4" name="Text 1"/>
          <p:cNvSpPr/>
          <p:nvPr/>
        </p:nvSpPr>
        <p:spPr>
          <a:xfrm>
            <a:off x="609600" y="1282700"/>
            <a:ext cx="10972800" cy="304800"/>
          </a:xfrm>
          <a:prstGeom prst="rect">
            <a:avLst/>
          </a:prstGeom>
          <a:noFill/>
          <a:ln/>
        </p:spPr>
        <p:txBody>
          <a:bodyPr wrap="square" lIns="0" tIns="0" rIns="0" bIns="0" rtlCol="0" anchor="t">
            <a:noAutofit/>
          </a:bodyPr>
          <a:lstStyle/>
          <a:p>
            <a:pPr marL="0" indent="0" algn="l">
              <a:lnSpc>
                <a:spcPts val="1920"/>
              </a:lnSpc>
              <a:buNone/>
            </a:pPr>
            <a:r>
              <a:rPr lang="en-US" b="1" dirty="0">
                <a:solidFill>
                  <a:srgbClr val="1E5BD8"/>
                </a:solidFill>
                <a:latin typeface="Arial" panose="020B0604020202020204" pitchFamily="34" charset="0"/>
                <a:ea typeface="Be Vietnam Pro" pitchFamily="34" charset="-122"/>
                <a:cs typeface="Be Vietnam Pro" pitchFamily="34" charset="-120"/>
              </a:rPr>
              <a:t>Một vòng luyện tập mỗi tuần</a:t>
            </a:r>
            <a:endParaRPr lang="en-US" b="1" dirty="0">
              <a:solidFill>
                <a:srgbClr val="1E5BD8"/>
              </a:solidFill>
              <a:latin typeface="Arial" panose="020B0604020202020204" pitchFamily="34" charset="0"/>
            </a:endParaRPr>
          </a:p>
        </p:txBody>
      </p:sp>
      <p:sp>
        <p:nvSpPr>
          <p:cNvPr id="5" name="Shape 2"/>
          <p:cNvSpPr/>
          <p:nvPr/>
        </p:nvSpPr>
        <p:spPr>
          <a:xfrm>
            <a:off x="609600" y="1727200"/>
            <a:ext cx="2667000" cy="1549400"/>
          </a:xfrm>
          <a:prstGeom prst="roundRect">
            <a:avLst>
              <a:gd name="adj" fmla="val 7246"/>
            </a:avLst>
          </a:prstGeom>
          <a:solidFill>
            <a:srgbClr val="EEF3FC"/>
          </a:solidFill>
          <a:ln/>
        </p:spPr>
      </p:sp>
      <p:sp>
        <p:nvSpPr>
          <p:cNvPr id="6" name="Text 3"/>
          <p:cNvSpPr/>
          <p:nvPr/>
        </p:nvSpPr>
        <p:spPr>
          <a:xfrm>
            <a:off x="787400" y="1854200"/>
            <a:ext cx="2311400" cy="406400"/>
          </a:xfrm>
          <a:prstGeom prst="rect">
            <a:avLst/>
          </a:prstGeom>
          <a:noFill/>
          <a:ln/>
        </p:spPr>
        <p:txBody>
          <a:bodyPr wrap="square" lIns="0" tIns="0" rIns="0" bIns="0" rtlCol="0" anchor="t">
            <a:noAutofit/>
          </a:bodyPr>
          <a:lstStyle/>
          <a:p>
            <a:pPr marL="0" indent="0" algn="l">
              <a:lnSpc>
                <a:spcPts val="2200"/>
              </a:lnSpc>
              <a:buNone/>
            </a:pPr>
            <a:r>
              <a:rPr lang="en-US" sz="2600" b="1" dirty="0">
                <a:solidFill>
                  <a:srgbClr val="E61E2A"/>
                </a:solidFill>
                <a:latin typeface="Arial" panose="020B0604020202020204" pitchFamily="34" charset="0"/>
                <a:ea typeface="Be Vietnam Pro" pitchFamily="34" charset="-122"/>
                <a:cs typeface="Be Vietnam Pro" pitchFamily="34" charset="-120"/>
              </a:rPr>
              <a:t>1</a:t>
            </a:r>
            <a:endParaRPr lang="en-US" sz="2600" b="1" dirty="0">
              <a:latin typeface="Arial" panose="020B0604020202020204" pitchFamily="34" charset="0"/>
            </a:endParaRPr>
          </a:p>
        </p:txBody>
      </p:sp>
      <p:sp>
        <p:nvSpPr>
          <p:cNvPr id="7" name="Text 4"/>
          <p:cNvSpPr/>
          <p:nvPr/>
        </p:nvSpPr>
        <p:spPr>
          <a:xfrm>
            <a:off x="787400" y="2286000"/>
            <a:ext cx="2336800" cy="304800"/>
          </a:xfrm>
          <a:prstGeom prst="rect">
            <a:avLst/>
          </a:prstGeom>
          <a:noFill/>
          <a:ln/>
        </p:spPr>
        <p:txBody>
          <a:bodyPr wrap="square" lIns="0" tIns="0" rIns="0" bIns="0" rtlCol="0" anchor="t">
            <a:noAutofit/>
          </a:bodyPr>
          <a:lstStyle/>
          <a:p>
            <a:pPr marL="0" indent="0" algn="l">
              <a:lnSpc>
                <a:spcPts val="1680"/>
              </a:lnSpc>
              <a:buNone/>
            </a:pPr>
            <a:r>
              <a:rPr lang="en-US" sz="1600" b="1" dirty="0">
                <a:solidFill>
                  <a:srgbClr val="000054"/>
                </a:solidFill>
                <a:latin typeface="Arial" panose="020B0604020202020204" pitchFamily="34" charset="0"/>
                <a:ea typeface="Be Vietnam Pro" pitchFamily="34" charset="-122"/>
                <a:cs typeface="Be Vietnam Pro" pitchFamily="34" charset="-120"/>
              </a:rPr>
              <a:t>Học bài trên lớp</a:t>
            </a:r>
            <a:endParaRPr lang="en-US" sz="1600" b="1" dirty="0">
              <a:latin typeface="Arial" panose="020B0604020202020204" pitchFamily="34" charset="0"/>
            </a:endParaRPr>
          </a:p>
        </p:txBody>
      </p:sp>
      <p:sp>
        <p:nvSpPr>
          <p:cNvPr id="8" name="Text 5"/>
          <p:cNvSpPr/>
          <p:nvPr/>
        </p:nvSpPr>
        <p:spPr>
          <a:xfrm>
            <a:off x="787400" y="2616200"/>
            <a:ext cx="2362200" cy="609600"/>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1B1F3B"/>
                </a:solidFill>
                <a:latin typeface="Arial" panose="020B0604020202020204" pitchFamily="34" charset="0"/>
                <a:ea typeface="Be Vietnam Pro" pitchFamily="34" charset="-122"/>
                <a:cs typeface="Be Vietnam Pro" pitchFamily="34" charset="-120"/>
              </a:rPr>
              <a:t>Tiết Luyện từ và câu theo SGK</a:t>
            </a:r>
            <a:endParaRPr lang="en-US" sz="1400" dirty="0">
              <a:latin typeface="Arial" panose="020B0604020202020204" pitchFamily="34" charset="0"/>
            </a:endParaRPr>
          </a:p>
        </p:txBody>
      </p:sp>
      <p:sp>
        <p:nvSpPr>
          <p:cNvPr id="9" name="Shape 6"/>
          <p:cNvSpPr/>
          <p:nvPr/>
        </p:nvSpPr>
        <p:spPr>
          <a:xfrm>
            <a:off x="3378200" y="1727200"/>
            <a:ext cx="2667000" cy="1549400"/>
          </a:xfrm>
          <a:prstGeom prst="roundRect">
            <a:avLst>
              <a:gd name="adj" fmla="val 7246"/>
            </a:avLst>
          </a:prstGeom>
          <a:solidFill>
            <a:srgbClr val="EEF3FC"/>
          </a:solidFill>
          <a:ln/>
        </p:spPr>
      </p:sp>
      <p:sp>
        <p:nvSpPr>
          <p:cNvPr id="10" name="Text 7"/>
          <p:cNvSpPr/>
          <p:nvPr/>
        </p:nvSpPr>
        <p:spPr>
          <a:xfrm>
            <a:off x="3556000" y="1854200"/>
            <a:ext cx="2311400" cy="406400"/>
          </a:xfrm>
          <a:prstGeom prst="rect">
            <a:avLst/>
          </a:prstGeom>
          <a:noFill/>
          <a:ln/>
        </p:spPr>
        <p:txBody>
          <a:bodyPr wrap="square" lIns="0" tIns="0" rIns="0" bIns="0" rtlCol="0" anchor="t">
            <a:noAutofit/>
          </a:bodyPr>
          <a:lstStyle/>
          <a:p>
            <a:pPr marL="0" indent="0" algn="l">
              <a:lnSpc>
                <a:spcPts val="2200"/>
              </a:lnSpc>
              <a:buNone/>
            </a:pPr>
            <a:r>
              <a:rPr lang="en-US" sz="2600" b="1" dirty="0">
                <a:solidFill>
                  <a:srgbClr val="E61E2A"/>
                </a:solidFill>
                <a:latin typeface="Arial" panose="020B0604020202020204" pitchFamily="34" charset="0"/>
                <a:ea typeface="Be Vietnam Pro" pitchFamily="34" charset="-122"/>
                <a:cs typeface="Be Vietnam Pro" pitchFamily="34" charset="-120"/>
              </a:rPr>
              <a:t>2</a:t>
            </a:r>
            <a:endParaRPr lang="en-US" sz="2600" b="1" dirty="0">
              <a:latin typeface="Arial" panose="020B0604020202020204" pitchFamily="34" charset="0"/>
            </a:endParaRPr>
          </a:p>
        </p:txBody>
      </p:sp>
      <p:sp>
        <p:nvSpPr>
          <p:cNvPr id="11" name="Text 8"/>
          <p:cNvSpPr/>
          <p:nvPr/>
        </p:nvSpPr>
        <p:spPr>
          <a:xfrm>
            <a:off x="3556000" y="2286000"/>
            <a:ext cx="2336800" cy="304800"/>
          </a:xfrm>
          <a:prstGeom prst="rect">
            <a:avLst/>
          </a:prstGeom>
          <a:noFill/>
          <a:ln/>
        </p:spPr>
        <p:txBody>
          <a:bodyPr wrap="square" lIns="0" tIns="0" rIns="0" bIns="0" rtlCol="0" anchor="t">
            <a:noAutofit/>
          </a:bodyPr>
          <a:lstStyle/>
          <a:p>
            <a:pPr marL="0" indent="0" algn="l">
              <a:lnSpc>
                <a:spcPts val="1680"/>
              </a:lnSpc>
              <a:buNone/>
            </a:pPr>
            <a:r>
              <a:rPr lang="en-US" sz="1600" b="1" dirty="0">
                <a:solidFill>
                  <a:srgbClr val="000054"/>
                </a:solidFill>
                <a:latin typeface="Arial" panose="020B0604020202020204" pitchFamily="34" charset="0"/>
                <a:ea typeface="Be Vietnam Pro" pitchFamily="34" charset="-122"/>
                <a:cs typeface="Be Vietnam Pro" pitchFamily="34" charset="-120"/>
              </a:rPr>
              <a:t>Luyện trên ứng dụng</a:t>
            </a:r>
            <a:endParaRPr lang="en-US" sz="1600" b="1" dirty="0">
              <a:latin typeface="Arial" panose="020B0604020202020204" pitchFamily="34" charset="0"/>
            </a:endParaRPr>
          </a:p>
        </p:txBody>
      </p:sp>
      <p:sp>
        <p:nvSpPr>
          <p:cNvPr id="12" name="Text 9"/>
          <p:cNvSpPr/>
          <p:nvPr/>
        </p:nvSpPr>
        <p:spPr>
          <a:xfrm>
            <a:off x="3556000" y="2616200"/>
            <a:ext cx="2362200" cy="609600"/>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1B1F3B"/>
                </a:solidFill>
                <a:latin typeface="Arial" panose="020B0604020202020204" pitchFamily="34" charset="0"/>
                <a:ea typeface="Be Vietnam Pro" pitchFamily="34" charset="-122"/>
                <a:cs typeface="Be Vietnam Pro" pitchFamily="34" charset="-120"/>
              </a:rPr>
              <a:t>Ở lớp hoặc ở nhà, từ mức Khởi động đến Chinh phục</a:t>
            </a:r>
            <a:endParaRPr lang="en-US" sz="1400" dirty="0">
              <a:latin typeface="Arial" panose="020B0604020202020204" pitchFamily="34" charset="0"/>
            </a:endParaRPr>
          </a:p>
        </p:txBody>
      </p:sp>
      <p:sp>
        <p:nvSpPr>
          <p:cNvPr id="13" name="Shape 10"/>
          <p:cNvSpPr/>
          <p:nvPr/>
        </p:nvSpPr>
        <p:spPr>
          <a:xfrm>
            <a:off x="6146800" y="1727200"/>
            <a:ext cx="2667000" cy="1549400"/>
          </a:xfrm>
          <a:prstGeom prst="roundRect">
            <a:avLst>
              <a:gd name="adj" fmla="val 7246"/>
            </a:avLst>
          </a:prstGeom>
          <a:solidFill>
            <a:srgbClr val="EEF3FC"/>
          </a:solidFill>
          <a:ln/>
        </p:spPr>
      </p:sp>
      <p:sp>
        <p:nvSpPr>
          <p:cNvPr id="14" name="Text 11"/>
          <p:cNvSpPr/>
          <p:nvPr/>
        </p:nvSpPr>
        <p:spPr>
          <a:xfrm>
            <a:off x="6324600" y="1854200"/>
            <a:ext cx="2311400" cy="406400"/>
          </a:xfrm>
          <a:prstGeom prst="rect">
            <a:avLst/>
          </a:prstGeom>
          <a:noFill/>
          <a:ln/>
        </p:spPr>
        <p:txBody>
          <a:bodyPr wrap="square" lIns="0" tIns="0" rIns="0" bIns="0" rtlCol="0" anchor="t">
            <a:noAutofit/>
          </a:bodyPr>
          <a:lstStyle/>
          <a:p>
            <a:pPr marL="0" indent="0" algn="l">
              <a:lnSpc>
                <a:spcPts val="2200"/>
              </a:lnSpc>
              <a:buNone/>
            </a:pPr>
            <a:r>
              <a:rPr lang="en-US" sz="2600" b="1" dirty="0">
                <a:solidFill>
                  <a:srgbClr val="E61E2A"/>
                </a:solidFill>
                <a:latin typeface="Arial" panose="020B0604020202020204" pitchFamily="34" charset="0"/>
                <a:ea typeface="Be Vietnam Pro" pitchFamily="34" charset="-122"/>
                <a:cs typeface="Be Vietnam Pro" pitchFamily="34" charset="-120"/>
              </a:rPr>
              <a:t>3</a:t>
            </a:r>
            <a:endParaRPr lang="en-US" sz="2600" b="1" dirty="0">
              <a:latin typeface="Arial" panose="020B0604020202020204" pitchFamily="34" charset="0"/>
            </a:endParaRPr>
          </a:p>
        </p:txBody>
      </p:sp>
      <p:sp>
        <p:nvSpPr>
          <p:cNvPr id="15" name="Text 12"/>
          <p:cNvSpPr/>
          <p:nvPr/>
        </p:nvSpPr>
        <p:spPr>
          <a:xfrm>
            <a:off x="6324600" y="2286000"/>
            <a:ext cx="2336800" cy="304800"/>
          </a:xfrm>
          <a:prstGeom prst="rect">
            <a:avLst/>
          </a:prstGeom>
          <a:noFill/>
          <a:ln/>
        </p:spPr>
        <p:txBody>
          <a:bodyPr wrap="square" lIns="0" tIns="0" rIns="0" bIns="0" rtlCol="0" anchor="t">
            <a:noAutofit/>
          </a:bodyPr>
          <a:lstStyle/>
          <a:p>
            <a:pPr marL="0" indent="0" algn="l">
              <a:lnSpc>
                <a:spcPts val="1680"/>
              </a:lnSpc>
              <a:buNone/>
            </a:pPr>
            <a:r>
              <a:rPr lang="en-US" sz="1600" b="1" dirty="0">
                <a:solidFill>
                  <a:srgbClr val="000054"/>
                </a:solidFill>
                <a:latin typeface="Arial" panose="020B0604020202020204" pitchFamily="34" charset="0"/>
                <a:ea typeface="Be Vietnam Pro" pitchFamily="34" charset="-122"/>
                <a:cs typeface="Be Vietnam Pro" pitchFamily="34" charset="-120"/>
              </a:rPr>
              <a:t>Gửi mã kết quả</a:t>
            </a:r>
            <a:endParaRPr lang="en-US" sz="1600" b="1" dirty="0">
              <a:latin typeface="Arial" panose="020B0604020202020204" pitchFamily="34" charset="0"/>
            </a:endParaRPr>
          </a:p>
        </p:txBody>
      </p:sp>
      <p:sp>
        <p:nvSpPr>
          <p:cNvPr id="16" name="Text 13"/>
          <p:cNvSpPr/>
          <p:nvPr/>
        </p:nvSpPr>
        <p:spPr>
          <a:xfrm>
            <a:off x="6324600" y="2616200"/>
            <a:ext cx="2362200" cy="609600"/>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1B1F3B"/>
                </a:solidFill>
                <a:latin typeface="Arial" panose="020B0604020202020204" pitchFamily="34" charset="0"/>
                <a:ea typeface="Be Vietnam Pro" pitchFamily="34" charset="-122"/>
                <a:cs typeface="Be Vietnam Pro" pitchFamily="34" charset="-120"/>
              </a:rPr>
              <a:t>Cô nhập mã, bảng kết quả lớp tự cập nhật</a:t>
            </a:r>
            <a:endParaRPr lang="en-US" sz="1400" dirty="0">
              <a:latin typeface="Arial" panose="020B0604020202020204" pitchFamily="34" charset="0"/>
            </a:endParaRPr>
          </a:p>
        </p:txBody>
      </p:sp>
      <p:sp>
        <p:nvSpPr>
          <p:cNvPr id="17" name="Shape 14"/>
          <p:cNvSpPr/>
          <p:nvPr/>
        </p:nvSpPr>
        <p:spPr>
          <a:xfrm>
            <a:off x="8915400" y="1727200"/>
            <a:ext cx="2667000" cy="1549400"/>
          </a:xfrm>
          <a:prstGeom prst="roundRect">
            <a:avLst>
              <a:gd name="adj" fmla="val 7246"/>
            </a:avLst>
          </a:prstGeom>
          <a:solidFill>
            <a:srgbClr val="000054"/>
          </a:solidFill>
          <a:ln/>
        </p:spPr>
      </p:sp>
      <p:sp>
        <p:nvSpPr>
          <p:cNvPr id="18" name="Text 15"/>
          <p:cNvSpPr/>
          <p:nvPr/>
        </p:nvSpPr>
        <p:spPr>
          <a:xfrm>
            <a:off x="9093200" y="1854200"/>
            <a:ext cx="2311400" cy="406400"/>
          </a:xfrm>
          <a:prstGeom prst="rect">
            <a:avLst/>
          </a:prstGeom>
          <a:noFill/>
          <a:ln/>
        </p:spPr>
        <p:txBody>
          <a:bodyPr wrap="square" lIns="0" tIns="0" rIns="0" bIns="0" rtlCol="0" anchor="t">
            <a:noAutofit/>
          </a:bodyPr>
          <a:lstStyle/>
          <a:p>
            <a:pPr marL="0" indent="0" algn="l">
              <a:lnSpc>
                <a:spcPts val="2200"/>
              </a:lnSpc>
              <a:buNone/>
            </a:pPr>
            <a:r>
              <a:rPr lang="en-US" sz="2600" b="1" dirty="0">
                <a:solidFill>
                  <a:srgbClr val="FFEA00"/>
                </a:solidFill>
                <a:latin typeface="Arial" panose="020B0604020202020204" pitchFamily="34" charset="0"/>
                <a:ea typeface="Be Vietnam Pro" pitchFamily="34" charset="-122"/>
                <a:cs typeface="Be Vietnam Pro" pitchFamily="34" charset="-120"/>
              </a:rPr>
              <a:t>4</a:t>
            </a:r>
            <a:endParaRPr lang="en-US" sz="2600" b="1" dirty="0">
              <a:latin typeface="Arial" panose="020B0604020202020204" pitchFamily="34" charset="0"/>
            </a:endParaRPr>
          </a:p>
        </p:txBody>
      </p:sp>
      <p:sp>
        <p:nvSpPr>
          <p:cNvPr id="19" name="Text 16"/>
          <p:cNvSpPr/>
          <p:nvPr/>
        </p:nvSpPr>
        <p:spPr>
          <a:xfrm>
            <a:off x="9093200" y="2286000"/>
            <a:ext cx="2336800" cy="304800"/>
          </a:xfrm>
          <a:prstGeom prst="rect">
            <a:avLst/>
          </a:prstGeom>
          <a:noFill/>
          <a:ln/>
        </p:spPr>
        <p:txBody>
          <a:bodyPr wrap="square" lIns="0" tIns="0" rIns="0" bIns="0" rtlCol="0" anchor="t">
            <a:noAutofit/>
          </a:bodyPr>
          <a:lstStyle/>
          <a:p>
            <a:pPr marL="0" indent="0" algn="l">
              <a:lnSpc>
                <a:spcPts val="1680"/>
              </a:lnSpc>
              <a:buNone/>
            </a:pPr>
            <a:r>
              <a:rPr lang="en-US" sz="1600" b="1" dirty="0">
                <a:solidFill>
                  <a:srgbClr val="FFFFFF"/>
                </a:solidFill>
                <a:latin typeface="Arial" panose="020B0604020202020204" pitchFamily="34" charset="0"/>
                <a:ea typeface="Be Vietnam Pro" pitchFamily="34" charset="-122"/>
                <a:cs typeface="Be Vietnam Pro" pitchFamily="34" charset="-120"/>
              </a:rPr>
              <a:t>Chia nhóm tiết sau</a:t>
            </a:r>
            <a:endParaRPr lang="en-US" sz="1600" b="1" dirty="0">
              <a:latin typeface="Arial" panose="020B0604020202020204" pitchFamily="34" charset="0"/>
            </a:endParaRPr>
          </a:p>
        </p:txBody>
      </p:sp>
      <p:sp>
        <p:nvSpPr>
          <p:cNvPr id="20" name="Text 17"/>
          <p:cNvSpPr/>
          <p:nvPr/>
        </p:nvSpPr>
        <p:spPr>
          <a:xfrm>
            <a:off x="9093200" y="2616200"/>
            <a:ext cx="2362200" cy="609600"/>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FFFFFF"/>
                </a:solidFill>
                <a:latin typeface="Arial" panose="020B0604020202020204" pitchFamily="34" charset="0"/>
                <a:ea typeface="Be Vietnam Pro" pitchFamily="34" charset="-122"/>
                <a:cs typeface="Be Vietnam Pro" pitchFamily="34" charset="-120"/>
              </a:rPr>
              <a:t>Trạm Cô · Trạm Máy · Trạm Bạn theo gợi ý của AI</a:t>
            </a:r>
            <a:endParaRPr lang="en-US" sz="1400" dirty="0">
              <a:latin typeface="Arial" panose="020B0604020202020204" pitchFamily="34" charset="0"/>
            </a:endParaRPr>
          </a:p>
        </p:txBody>
      </p:sp>
      <p:graphicFrame>
        <p:nvGraphicFramePr>
          <p:cNvPr id="21" name="Table 0"/>
          <p:cNvGraphicFramePr>
            <a:graphicFrameLocks noGrp="1"/>
          </p:cNvGraphicFramePr>
          <p:nvPr>
            <p:extLst>
              <p:ext uri="{D42A27DB-BD31-4B8C-83A1-F6EECF244321}">
                <p14:modId xmlns:p14="http://schemas.microsoft.com/office/powerpoint/2010/main" val="4206790204"/>
              </p:ext>
            </p:extLst>
          </p:nvPr>
        </p:nvGraphicFramePr>
        <p:xfrm>
          <a:off x="609600" y="3505200"/>
          <a:ext cx="10962640" cy="1907540"/>
        </p:xfrm>
        <a:graphic>
          <a:graphicData uri="http://schemas.openxmlformats.org/drawingml/2006/table">
            <a:tbl>
              <a:tblPr/>
              <a:tblGrid>
                <a:gridCol w="3302000">
                  <a:extLst>
                    <a:ext uri="{9D8B030D-6E8A-4147-A177-3AD203B41FA5}">
                      <a16:colId xmlns:a16="http://schemas.microsoft.com/office/drawing/2014/main" val="20000"/>
                    </a:ext>
                  </a:extLst>
                </a:gridCol>
                <a:gridCol w="7670800">
                  <a:extLst>
                    <a:ext uri="{9D8B030D-6E8A-4147-A177-3AD203B41FA5}">
                      <a16:colId xmlns:a16="http://schemas.microsoft.com/office/drawing/2014/main" val="20001"/>
                    </a:ext>
                  </a:extLst>
                </a:gridCol>
              </a:tblGrid>
              <a:tr h="381000">
                <a:tc>
                  <a:txBody>
                    <a:bodyPr/>
                    <a:lstStyle/>
                    <a:p>
                      <a:pPr marL="0" indent="0">
                        <a:lnSpc>
                          <a:spcPts val="1820"/>
                        </a:lnSpc>
                        <a:buNone/>
                      </a:pPr>
                      <a:r>
                        <a:rPr lang="en-US" sz="1400" b="1" dirty="0">
                          <a:solidFill>
                            <a:srgbClr val="FFFFFF"/>
                          </a:solidFill>
                          <a:latin typeface="Arial" panose="020B0604020202020204" pitchFamily="34" charset="0"/>
                          <a:ea typeface="Be Vietnam Pro" pitchFamily="34" charset="-122"/>
                          <a:cs typeface="Be Vietnam Pro" pitchFamily="34" charset="-120"/>
                        </a:rPr>
                        <a:t>Thông tin</a:t>
                      </a:r>
                      <a:endParaRPr lang="en-US" sz="1400" b="1" dirty="0">
                        <a:solidFill>
                          <a:srgbClr val="FFFFFF"/>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B5B9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B9C3"/>
                      </a:solidFill>
                      <a:prstDash val="solid"/>
                      <a:round/>
                      <a:headEnd type="none" w="med" len="med"/>
                      <a:tailEnd type="none" w="med" len="med"/>
                    </a:lnB>
                    <a:solidFill>
                      <a:srgbClr val="000054"/>
                    </a:solidFill>
                  </a:tcPr>
                </a:tc>
                <a:tc>
                  <a:txBody>
                    <a:bodyPr/>
                    <a:lstStyle/>
                    <a:p>
                      <a:pPr marL="0" indent="0">
                        <a:lnSpc>
                          <a:spcPts val="1820"/>
                        </a:lnSpc>
                        <a:buNone/>
                      </a:pPr>
                      <a:r>
                        <a:rPr lang="en-US" sz="1400" b="1" dirty="0">
                          <a:solidFill>
                            <a:srgbClr val="FFFFFF"/>
                          </a:solidFill>
                          <a:latin typeface="Arial" panose="020B0604020202020204" pitchFamily="34" charset="0"/>
                          <a:ea typeface="Be Vietnam Pro" pitchFamily="34" charset="-122"/>
                          <a:cs typeface="Be Vietnam Pro" pitchFamily="34" charset="-120"/>
                        </a:rPr>
                        <a:t>Chi tiết</a:t>
                      </a:r>
                      <a:endParaRPr lang="en-US" sz="1400" b="1" dirty="0">
                        <a:solidFill>
                          <a:srgbClr val="FFFFFF"/>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B5B9C3"/>
                      </a:solidFill>
                      <a:prstDash val="solid"/>
                      <a:round/>
                      <a:headEnd type="none" w="med" len="med"/>
                      <a:tailEnd type="none" w="med" len="med"/>
                    </a:lnL>
                    <a:lnR w="12700" cap="flat" cmpd="sng" algn="ctr">
                      <a:solidFill>
                        <a:srgbClr val="B5B9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5B9C3"/>
                      </a:solidFill>
                      <a:prstDash val="solid"/>
                      <a:round/>
                      <a:headEnd type="none" w="med" len="med"/>
                      <a:tailEnd type="none" w="med" len="med"/>
                    </a:lnB>
                    <a:solidFill>
                      <a:srgbClr val="000054"/>
                    </a:solidFill>
                  </a:tcPr>
                </a:tc>
                <a:extLst>
                  <a:ext uri="{0D108BD9-81ED-4DB2-BD59-A6C34878D82A}">
                    <a16:rowId xmlns:a16="http://schemas.microsoft.com/office/drawing/2014/main" val="10000"/>
                  </a:ext>
                </a:extLst>
              </a:tr>
              <a:tr h="381000">
                <a:tc>
                  <a:txBody>
                    <a:bodyPr/>
                    <a:lstStyle/>
                    <a:p>
                      <a:pPr marL="0" indent="0">
                        <a:lnSpc>
                          <a:spcPts val="1820"/>
                        </a:lnSpc>
                        <a:buNone/>
                      </a:pPr>
                      <a:r>
                        <a:rPr lang="en-US" sz="1400" b="1" dirty="0">
                          <a:solidFill>
                            <a:srgbClr val="000054"/>
                          </a:solidFill>
                          <a:latin typeface="Arial" panose="020B0604020202020204" pitchFamily="34" charset="0"/>
                          <a:ea typeface="Be Vietnam Pro" pitchFamily="34" charset="-122"/>
                          <a:cs typeface="Be Vietnam Pro" pitchFamily="34" charset="-120"/>
                        </a:rPr>
                        <a:t>Thời gian triển khai</a:t>
                      </a:r>
                      <a:endParaRPr lang="en-US" sz="1400" b="1" dirty="0">
                        <a:solidFill>
                          <a:srgbClr val="000054"/>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9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400">
                          <a:solidFill>
                            <a:srgbClr val="1B1F3B"/>
                          </a:solidFill>
                          <a:latin typeface="Arial" panose="020B0604020202020204" pitchFamily="34" charset="0"/>
                          <a:ea typeface="Be Vietnam Pro" pitchFamily="34" charset="-122"/>
                          <a:cs typeface="Be Vietnam Pro" pitchFamily="34" charset="-120"/>
                        </a:rPr>
                        <a:t>Từ tháng 10/2026 đến nay (3 tuần)</a:t>
                      </a:r>
                      <a:endParaRPr lang="en-US" sz="1400" dirty="0">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9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1000">
                <a:tc>
                  <a:txBody>
                    <a:bodyPr/>
                    <a:lstStyle/>
                    <a:p>
                      <a:pPr marL="0" indent="0">
                        <a:lnSpc>
                          <a:spcPts val="1820"/>
                        </a:lnSpc>
                        <a:buNone/>
                      </a:pPr>
                      <a:r>
                        <a:rPr lang="en-US" sz="1400" b="1" dirty="0">
                          <a:solidFill>
                            <a:srgbClr val="000054"/>
                          </a:solidFill>
                          <a:latin typeface="Arial" panose="020B0604020202020204" pitchFamily="34" charset="0"/>
                          <a:ea typeface="Be Vietnam Pro" pitchFamily="34" charset="-122"/>
                          <a:cs typeface="Be Vietnam Pro" pitchFamily="34" charset="-120"/>
                        </a:rPr>
                        <a:t>Đối tượng sử dụng</a:t>
                      </a:r>
                      <a:endParaRPr lang="en-US" sz="1400" b="1" dirty="0">
                        <a:solidFill>
                          <a:srgbClr val="000054"/>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400" dirty="0">
                          <a:solidFill>
                            <a:srgbClr val="1B1F3B"/>
                          </a:solidFill>
                          <a:latin typeface="Arial" panose="020B0604020202020204" pitchFamily="34" charset="0"/>
                          <a:ea typeface="Be Vietnam Pro" pitchFamily="34" charset="-122"/>
                          <a:cs typeface="Be Vietnam Pro" pitchFamily="34" charset="-120"/>
                        </a:rPr>
                        <a:t>30 học sinh </a:t>
                      </a:r>
                      <a:r>
                        <a:rPr lang="en-US" sz="1400" dirty="0" err="1">
                          <a:solidFill>
                            <a:srgbClr val="1B1F3B"/>
                          </a:solidFill>
                          <a:latin typeface="Arial" panose="020B0604020202020204" pitchFamily="34" charset="0"/>
                          <a:ea typeface="Be Vietnam Pro" pitchFamily="34" charset="-122"/>
                          <a:cs typeface="Be Vietnam Pro" pitchFamily="34" charset="-120"/>
                        </a:rPr>
                        <a:t>lớp</a:t>
                      </a:r>
                      <a:r>
                        <a:rPr lang="en-US" sz="1400" dirty="0">
                          <a:solidFill>
                            <a:srgbClr val="1B1F3B"/>
                          </a:solidFill>
                          <a:latin typeface="Arial" panose="020B0604020202020204" pitchFamily="34" charset="0"/>
                          <a:ea typeface="Be Vietnam Pro" pitchFamily="34" charset="-122"/>
                          <a:cs typeface="Be Vietnam Pro" pitchFamily="34" charset="-120"/>
                        </a:rPr>
                        <a:t> 4/11 và giáo viên chủ nhiệm</a:t>
                      </a:r>
                      <a:endParaRPr lang="en-US" sz="1400" dirty="0">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1000">
                <a:tc>
                  <a:txBody>
                    <a:bodyPr/>
                    <a:lstStyle/>
                    <a:p>
                      <a:pPr marL="0" indent="0">
                        <a:lnSpc>
                          <a:spcPts val="1820"/>
                        </a:lnSpc>
                        <a:buNone/>
                      </a:pPr>
                      <a:r>
                        <a:rPr lang="en-US" sz="1400" b="1" dirty="0">
                          <a:solidFill>
                            <a:srgbClr val="000054"/>
                          </a:solidFill>
                          <a:latin typeface="Arial" panose="020B0604020202020204" pitchFamily="34" charset="0"/>
                          <a:ea typeface="Be Vietnam Pro" pitchFamily="34" charset="-122"/>
                          <a:cs typeface="Be Vietnam Pro" pitchFamily="34" charset="-120"/>
                        </a:rPr>
                        <a:t>Thiết bị</a:t>
                      </a:r>
                      <a:endParaRPr lang="en-US" sz="1400" b="1" dirty="0">
                        <a:solidFill>
                          <a:srgbClr val="000054"/>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400" dirty="0">
                          <a:solidFill>
                            <a:srgbClr val="1B1F3B"/>
                          </a:solidFill>
                          <a:latin typeface="Arial" panose="020B0604020202020204" pitchFamily="34" charset="0"/>
                          <a:ea typeface="Be Vietnam Pro" pitchFamily="34" charset="-122"/>
                          <a:cs typeface="Be Vietnam Pro" pitchFamily="34" charset="-120"/>
                        </a:rPr>
                        <a:t>Trình duyệt trên máy tính, máy tính bảng hoặc điện thoại; không cần cài đặt</a:t>
                      </a:r>
                      <a:endParaRPr lang="en-US" sz="1400" dirty="0">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KẾT QUẢ VÀ TÁC ĐỘNG</a:t>
            </a:r>
            <a:endParaRPr lang="en-US" sz="3000" dirty="0">
              <a:latin typeface="Arial" panose="020B0604020202020204" pitchFamily="34" charset="0"/>
            </a:endParaRPr>
          </a:p>
        </p:txBody>
      </p:sp>
      <p:sp>
        <p:nvSpPr>
          <p:cNvPr id="4" name="Shape 1"/>
          <p:cNvSpPr/>
          <p:nvPr/>
        </p:nvSpPr>
        <p:spPr>
          <a:xfrm>
            <a:off x="609600" y="1270000"/>
            <a:ext cx="3556000" cy="4191000"/>
          </a:xfrm>
          <a:prstGeom prst="roundRect">
            <a:avLst>
              <a:gd name="adj" fmla="val 7678"/>
            </a:avLst>
          </a:prstGeom>
          <a:solidFill>
            <a:srgbClr val="000054"/>
          </a:solidFill>
          <a:ln/>
        </p:spPr>
      </p:sp>
      <p:sp>
        <p:nvSpPr>
          <p:cNvPr id="5" name="Text 2"/>
          <p:cNvSpPr/>
          <p:nvPr/>
        </p:nvSpPr>
        <p:spPr>
          <a:xfrm>
            <a:off x="838200" y="2260600"/>
            <a:ext cx="3175000" cy="965200"/>
          </a:xfrm>
          <a:prstGeom prst="rect">
            <a:avLst/>
          </a:prstGeom>
          <a:noFill/>
          <a:ln/>
        </p:spPr>
        <p:txBody>
          <a:bodyPr wrap="square" lIns="0" tIns="0" rIns="0" bIns="0" rtlCol="0" anchor="t">
            <a:noAutofit/>
          </a:bodyPr>
          <a:lstStyle/>
          <a:p>
            <a:pPr marL="0" indent="0" algn="l">
              <a:lnSpc>
                <a:spcPts val="3960"/>
              </a:lnSpc>
              <a:buNone/>
            </a:pPr>
            <a:r>
              <a:rPr lang="en-US" sz="6400" b="1" dirty="0">
                <a:solidFill>
                  <a:srgbClr val="FFEA00"/>
                </a:solidFill>
                <a:latin typeface="Arial" panose="020B0604020202020204" pitchFamily="34" charset="0"/>
                <a:ea typeface="Be Vietnam Pro" pitchFamily="34" charset="-122"/>
                <a:cs typeface="Be Vietnam Pro" pitchFamily="34" charset="-120"/>
              </a:rPr>
              <a:t>85%</a:t>
            </a:r>
            <a:endParaRPr lang="en-US" sz="6400" b="1" dirty="0">
              <a:solidFill>
                <a:srgbClr val="FFEA00"/>
              </a:solidFill>
              <a:latin typeface="Arial" panose="020B0604020202020204" pitchFamily="34" charset="0"/>
            </a:endParaRPr>
          </a:p>
        </p:txBody>
      </p:sp>
      <p:sp>
        <p:nvSpPr>
          <p:cNvPr id="6" name="Text 3"/>
          <p:cNvSpPr/>
          <p:nvPr/>
        </p:nvSpPr>
        <p:spPr>
          <a:xfrm>
            <a:off x="838200" y="3276600"/>
            <a:ext cx="3175000" cy="1143000"/>
          </a:xfrm>
          <a:prstGeom prst="rect">
            <a:avLst/>
          </a:prstGeom>
          <a:noFill/>
          <a:ln/>
        </p:spPr>
        <p:txBody>
          <a:bodyPr wrap="square" lIns="0" tIns="0" rIns="0" bIns="0" rtlCol="0" anchor="t">
            <a:noAutofit/>
          </a:bodyPr>
          <a:lstStyle/>
          <a:p>
            <a:pPr marL="0" indent="0" algn="l">
              <a:lnSpc>
                <a:spcPts val="1680"/>
              </a:lnSpc>
              <a:buNone/>
            </a:pPr>
            <a:r>
              <a:rPr lang="en-US" sz="1600" dirty="0">
                <a:solidFill>
                  <a:srgbClr val="FFFFFF"/>
                </a:solidFill>
                <a:latin typeface="Arial" panose="020B0604020202020204" pitchFamily="34" charset="0"/>
                <a:ea typeface="Be Vietnam Pro" pitchFamily="34" charset="-122"/>
                <a:cs typeface="Be Vietnam Pro" pitchFamily="34" charset="-120"/>
              </a:rPr>
              <a:t>học sinh đạt Hoàn thành tốt (≥80%) ở chủ </a:t>
            </a:r>
            <a:r>
              <a:rPr lang="en-US" sz="1600" dirty="0" err="1">
                <a:solidFill>
                  <a:srgbClr val="FFFFFF"/>
                </a:solidFill>
                <a:latin typeface="Arial" panose="020B0604020202020204" pitchFamily="34" charset="0"/>
                <a:ea typeface="Be Vietnam Pro" pitchFamily="34" charset="-122"/>
                <a:cs typeface="Be Vietnam Pro" pitchFamily="34" charset="-120"/>
              </a:rPr>
              <a:t>điểm</a:t>
            </a:r>
            <a:r>
              <a:rPr lang="en-US" sz="1600" dirty="0">
                <a:solidFill>
                  <a:srgbClr val="FFFFFF"/>
                </a:solidFill>
                <a:latin typeface="Arial" panose="020B0604020202020204" pitchFamily="34" charset="0"/>
                <a:ea typeface="Be Vietnam Pro" pitchFamily="34" charset="-122"/>
                <a:cs typeface="Be Vietnam Pro" pitchFamily="34" charset="-120"/>
              </a:rPr>
              <a:t> </a:t>
            </a:r>
            <a:r>
              <a:rPr lang="en-US" sz="1600" dirty="0" err="1">
                <a:solidFill>
                  <a:srgbClr val="FFFFFF"/>
                </a:solidFill>
                <a:latin typeface="Arial" panose="020B0604020202020204" pitchFamily="34" charset="0"/>
                <a:ea typeface="Be Vietnam Pro" pitchFamily="34" charset="-122"/>
                <a:cs typeface="Be Vietnam Pro" pitchFamily="34" charset="-120"/>
              </a:rPr>
              <a:t>Mỗi</a:t>
            </a:r>
            <a:r>
              <a:rPr lang="en-US" sz="1600" dirty="0">
                <a:solidFill>
                  <a:srgbClr val="FFFFFF"/>
                </a:solidFill>
                <a:latin typeface="Arial" panose="020B0604020202020204" pitchFamily="34" charset="0"/>
                <a:ea typeface="Be Vietnam Pro" pitchFamily="34" charset="-122"/>
                <a:cs typeface="Be Vietnam Pro" pitchFamily="34" charset="-120"/>
              </a:rPr>
              <a:t> </a:t>
            </a:r>
            <a:r>
              <a:rPr lang="en-US" sz="1600" dirty="0" err="1">
                <a:solidFill>
                  <a:srgbClr val="FFFFFF"/>
                </a:solidFill>
                <a:latin typeface="Arial" panose="020B0604020202020204" pitchFamily="34" charset="0"/>
                <a:ea typeface="Be Vietnam Pro" pitchFamily="34" charset="-122"/>
                <a:cs typeface="Be Vietnam Pro" pitchFamily="34" charset="-120"/>
              </a:rPr>
              <a:t>người</a:t>
            </a:r>
            <a:r>
              <a:rPr lang="en-US" sz="1600" dirty="0">
                <a:solidFill>
                  <a:srgbClr val="FFFFFF"/>
                </a:solidFill>
                <a:latin typeface="Arial" panose="020B0604020202020204" pitchFamily="34" charset="0"/>
                <a:ea typeface="Be Vietnam Pro" pitchFamily="34" charset="-122"/>
                <a:cs typeface="Be Vietnam Pro" pitchFamily="34" charset="-120"/>
              </a:rPr>
              <a:t> </a:t>
            </a:r>
            <a:r>
              <a:rPr lang="en-US" sz="1600" dirty="0" err="1">
                <a:solidFill>
                  <a:srgbClr val="FFFFFF"/>
                </a:solidFill>
                <a:latin typeface="Arial" panose="020B0604020202020204" pitchFamily="34" charset="0"/>
                <a:ea typeface="Be Vietnam Pro" pitchFamily="34" charset="-122"/>
                <a:cs typeface="Be Vietnam Pro" pitchFamily="34" charset="-120"/>
              </a:rPr>
              <a:t>một</a:t>
            </a:r>
            <a:r>
              <a:rPr lang="en-US" sz="1600" dirty="0">
                <a:solidFill>
                  <a:srgbClr val="FFFFFF"/>
                </a:solidFill>
                <a:latin typeface="Arial" panose="020B0604020202020204" pitchFamily="34" charset="0"/>
                <a:ea typeface="Be Vietnam Pro" pitchFamily="34" charset="-122"/>
                <a:cs typeface="Be Vietnam Pro" pitchFamily="34" charset="-120"/>
              </a:rPr>
              <a:t> </a:t>
            </a:r>
            <a:r>
              <a:rPr lang="en-US" sz="1600" dirty="0" err="1">
                <a:solidFill>
                  <a:srgbClr val="FFFFFF"/>
                </a:solidFill>
                <a:latin typeface="Arial" panose="020B0604020202020204" pitchFamily="34" charset="0"/>
                <a:ea typeface="Be Vietnam Pro" pitchFamily="34" charset="-122"/>
                <a:cs typeface="Be Vietnam Pro" pitchFamily="34" charset="-120"/>
              </a:rPr>
              <a:t>vẻ</a:t>
            </a:r>
            <a:endParaRPr lang="en-US" sz="1600" dirty="0">
              <a:solidFill>
                <a:srgbClr val="FFFFFF"/>
              </a:solidFill>
              <a:latin typeface="Arial" panose="020B0604020202020204" pitchFamily="34" charset="0"/>
            </a:endParaRPr>
          </a:p>
        </p:txBody>
      </p:sp>
      <p:sp>
        <p:nvSpPr>
          <p:cNvPr id="7" name="Rectangle: Rounded Corners 6">
            <a:extLst>
              <a:ext uri="{FF2B5EF4-FFF2-40B4-BE49-F238E27FC236}">
                <a16:creationId xmlns:a16="http://schemas.microsoft.com/office/drawing/2014/main" id="{94483F92-F9D9-FDF8-ADB9-51340BA08693}"/>
              </a:ext>
            </a:extLst>
          </p:cNvPr>
          <p:cNvSpPr/>
          <p:nvPr/>
        </p:nvSpPr>
        <p:spPr>
          <a:xfrm>
            <a:off x="4368800" y="1270000"/>
            <a:ext cx="7213600" cy="1346200"/>
          </a:xfrm>
          <a:prstGeom prst="roundRect">
            <a:avLst>
              <a:gd name="adj" fmla="val 7547"/>
            </a:avLst>
          </a:prstGeom>
          <a:solidFill>
            <a:srgbClr val="EEF3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10"/>
          <p:cNvSpPr/>
          <p:nvPr/>
        </p:nvSpPr>
        <p:spPr>
          <a:xfrm>
            <a:off x="4597400" y="1270000"/>
            <a:ext cx="1524000" cy="1346200"/>
          </a:xfrm>
          <a:prstGeom prst="rect">
            <a:avLst/>
          </a:prstGeom>
          <a:noFill/>
          <a:ln/>
        </p:spPr>
        <p:txBody>
          <a:bodyPr wrap="square" lIns="0" tIns="0" rIns="0" bIns="0" rtlCol="0" anchor="ctr">
            <a:noAutofit/>
          </a:bodyPr>
          <a:lstStyle/>
          <a:p>
            <a:pPr marL="0" indent="0" algn="l">
              <a:lnSpc>
                <a:spcPts val="1800"/>
              </a:lnSpc>
              <a:buNone/>
            </a:pPr>
            <a:r>
              <a:rPr lang="en-US" b="1" dirty="0">
                <a:solidFill>
                  <a:srgbClr val="1E5BD8"/>
                </a:solidFill>
                <a:latin typeface="Arial" panose="020B0604020202020204" pitchFamily="34" charset="0"/>
                <a:ea typeface="Be Vietnam Pro" pitchFamily="34" charset="-122"/>
                <a:cs typeface="Be Vietnam Pro" pitchFamily="34" charset="-120"/>
              </a:rPr>
              <a:t>Học sinh</a:t>
            </a:r>
            <a:endParaRPr lang="en-US" b="1" dirty="0">
              <a:solidFill>
                <a:srgbClr val="1E5BD8"/>
              </a:solidFill>
              <a:latin typeface="Arial" panose="020B0604020202020204" pitchFamily="34" charset="0"/>
            </a:endParaRPr>
          </a:p>
        </p:txBody>
      </p:sp>
      <p:sp>
        <p:nvSpPr>
          <p:cNvPr id="14" name="Text 11"/>
          <p:cNvSpPr/>
          <p:nvPr/>
        </p:nvSpPr>
        <p:spPr>
          <a:xfrm>
            <a:off x="6172200" y="1371600"/>
            <a:ext cx="5257800" cy="1143000"/>
          </a:xfrm>
          <a:prstGeom prst="rect">
            <a:avLst/>
          </a:prstGeom>
          <a:noFill/>
          <a:ln/>
        </p:spPr>
        <p:txBody>
          <a:bodyPr wrap="square" lIns="0" tIns="0" rIns="0" bIns="0" rtlCol="0" anchor="ctr">
            <a:noAutofit/>
          </a:bodyPr>
          <a:lstStyle/>
          <a:p>
            <a:pPr marL="203200" indent="-203200" algn="l">
              <a:lnSpc>
                <a:spcPts val="1820"/>
              </a:lnSpc>
              <a:spcAft>
                <a:spcPts val="400"/>
              </a:spcAft>
              <a:buSzPct val="100000"/>
              <a:buChar char="•"/>
            </a:pPr>
            <a:r>
              <a:rPr lang="en-US" sz="1500">
                <a:solidFill>
                  <a:srgbClr val="1B1F3B"/>
                </a:solidFill>
                <a:latin typeface="Arial" panose="020B0604020202020204" pitchFamily="34" charset="0"/>
                <a:ea typeface="Be Vietnam Pro" pitchFamily="34" charset="-122"/>
                <a:cs typeface="Be Vietnam Pro" pitchFamily="34" charset="-120"/>
              </a:rPr>
              <a:t>[Thay đổi về hứng thú, tự giác luyện tập]</a:t>
            </a:r>
          </a:p>
          <a:p>
            <a:pPr marL="203200" indent="-203200" algn="l">
              <a:lnSpc>
                <a:spcPts val="1820"/>
              </a:lnSpc>
              <a:spcAft>
                <a:spcPts val="400"/>
              </a:spcAft>
              <a:buSzPct val="100000"/>
              <a:buChar char="•"/>
            </a:pPr>
            <a:r>
              <a:rPr lang="en-US" sz="1500">
                <a:solidFill>
                  <a:srgbClr val="1B1F3B"/>
                </a:solidFill>
                <a:latin typeface="Arial" panose="020B0604020202020204" pitchFamily="34" charset="0"/>
                <a:ea typeface="Be Vietnam Pro" pitchFamily="34" charset="-122"/>
                <a:cs typeface="Be Vietnam Pro" pitchFamily="34" charset="-120"/>
              </a:rPr>
              <a:t>[Tiến bộ ở bài kiểm tra]</a:t>
            </a:r>
            <a:endParaRPr lang="en-US" sz="1500" dirty="0">
              <a:solidFill>
                <a:srgbClr val="1B1F3B"/>
              </a:solidFill>
              <a:latin typeface="Arial" panose="020B0604020202020204" pitchFamily="34" charset="0"/>
            </a:endParaRPr>
          </a:p>
        </p:txBody>
      </p:sp>
      <p:sp>
        <p:nvSpPr>
          <p:cNvPr id="8" name="Rectangle: Rounded Corners 7">
            <a:extLst>
              <a:ext uri="{FF2B5EF4-FFF2-40B4-BE49-F238E27FC236}">
                <a16:creationId xmlns:a16="http://schemas.microsoft.com/office/drawing/2014/main" id="{E7E21920-4AE8-7C7F-0CE5-3F82A3819DEC}"/>
              </a:ext>
            </a:extLst>
          </p:cNvPr>
          <p:cNvSpPr/>
          <p:nvPr/>
        </p:nvSpPr>
        <p:spPr>
          <a:xfrm>
            <a:off x="4368800" y="2692400"/>
            <a:ext cx="7213600" cy="1346200"/>
          </a:xfrm>
          <a:prstGeom prst="roundRect">
            <a:avLst>
              <a:gd name="adj" fmla="val 7547"/>
            </a:avLst>
          </a:prstGeom>
          <a:solidFill>
            <a:srgbClr val="EEF3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12"/>
          <p:cNvSpPr/>
          <p:nvPr/>
        </p:nvSpPr>
        <p:spPr>
          <a:xfrm>
            <a:off x="4597400" y="2692400"/>
            <a:ext cx="1524000" cy="1346200"/>
          </a:xfrm>
          <a:prstGeom prst="rect">
            <a:avLst/>
          </a:prstGeom>
          <a:noFill/>
          <a:ln/>
        </p:spPr>
        <p:txBody>
          <a:bodyPr wrap="square" lIns="0" tIns="0" rIns="0" bIns="0" rtlCol="0" anchor="ctr">
            <a:noAutofit/>
          </a:bodyPr>
          <a:lstStyle/>
          <a:p>
            <a:pPr marL="0" indent="0" algn="l">
              <a:lnSpc>
                <a:spcPts val="1800"/>
              </a:lnSpc>
              <a:buNone/>
            </a:pPr>
            <a:r>
              <a:rPr lang="en-US" b="1" dirty="0">
                <a:solidFill>
                  <a:srgbClr val="1E5BD8"/>
                </a:solidFill>
                <a:latin typeface="Arial" panose="020B0604020202020204" pitchFamily="34" charset="0"/>
                <a:ea typeface="Be Vietnam Pro" pitchFamily="34" charset="-122"/>
                <a:cs typeface="Be Vietnam Pro" pitchFamily="34" charset="-120"/>
              </a:rPr>
              <a:t>Giáo viên</a:t>
            </a:r>
            <a:endParaRPr lang="en-US" b="1" dirty="0">
              <a:solidFill>
                <a:srgbClr val="1E5BD8"/>
              </a:solidFill>
              <a:latin typeface="Arial" panose="020B0604020202020204" pitchFamily="34" charset="0"/>
            </a:endParaRPr>
          </a:p>
        </p:txBody>
      </p:sp>
      <p:sp>
        <p:nvSpPr>
          <p:cNvPr id="16" name="Text 13"/>
          <p:cNvSpPr/>
          <p:nvPr/>
        </p:nvSpPr>
        <p:spPr>
          <a:xfrm>
            <a:off x="6172200" y="2794000"/>
            <a:ext cx="5257800" cy="1143000"/>
          </a:xfrm>
          <a:prstGeom prst="rect">
            <a:avLst/>
          </a:prstGeom>
          <a:noFill/>
          <a:ln/>
        </p:spPr>
        <p:txBody>
          <a:bodyPr wrap="square" lIns="0" tIns="0" rIns="0" bIns="0" rtlCol="0" anchor="ctr">
            <a:noAutofit/>
          </a:bodyPr>
          <a:lstStyle/>
          <a:p>
            <a:pPr marL="203200" indent="-203200" algn="l">
              <a:lnSpc>
                <a:spcPts val="1820"/>
              </a:lnSpc>
              <a:spcAft>
                <a:spcPts val="400"/>
              </a:spcAft>
              <a:buSzPct val="100000"/>
              <a:buChar char="•"/>
            </a:pPr>
            <a:r>
              <a:rPr lang="en-US" sz="1500" dirty="0" err="1">
                <a:solidFill>
                  <a:srgbClr val="1B1F3B"/>
                </a:solidFill>
                <a:latin typeface="Arial" panose="020B0604020202020204" pitchFamily="34" charset="0"/>
                <a:ea typeface="Be Vietnam Pro" pitchFamily="34" charset="-122"/>
                <a:cs typeface="Be Vietnam Pro" pitchFamily="34" charset="-120"/>
              </a:rPr>
              <a:t>Thời</a:t>
            </a:r>
            <a:r>
              <a:rPr lang="en-US" sz="1500" dirty="0">
                <a:solidFill>
                  <a:srgbClr val="1B1F3B"/>
                </a:solidFill>
                <a:latin typeface="Arial" panose="020B0604020202020204" pitchFamily="34" charset="0"/>
                <a:ea typeface="Be Vietnam Pro" pitchFamily="34" charset="-122"/>
                <a:cs typeface="Be Vietnam Pro" pitchFamily="34" charset="-120"/>
              </a:rPr>
              <a:t> gian soạn đề, nhận </a:t>
            </a:r>
            <a:r>
              <a:rPr lang="en-US" sz="1500" dirty="0" err="1">
                <a:solidFill>
                  <a:srgbClr val="1B1F3B"/>
                </a:solidFill>
                <a:latin typeface="Arial" panose="020B0604020202020204" pitchFamily="34" charset="0"/>
                <a:ea typeface="Be Vietnam Pro" pitchFamily="34" charset="-122"/>
                <a:cs typeface="Be Vietnam Pro" pitchFamily="34" charset="-120"/>
              </a:rPr>
              <a:t>xét</a:t>
            </a:r>
            <a:r>
              <a:rPr lang="en-US" sz="1500" dirty="0">
                <a:solidFill>
                  <a:srgbClr val="1B1F3B"/>
                </a:solidFill>
                <a:latin typeface="Arial" panose="020B0604020202020204" pitchFamily="34" charset="0"/>
                <a:ea typeface="Be Vietnam Pro" pitchFamily="34" charset="-122"/>
                <a:cs typeface="Be Vietnam Pro" pitchFamily="34" charset="-120"/>
              </a:rPr>
              <a:t> </a:t>
            </a:r>
            <a:r>
              <a:rPr lang="en-US" sz="1500" dirty="0" err="1">
                <a:solidFill>
                  <a:srgbClr val="1B1F3B"/>
                </a:solidFill>
                <a:latin typeface="Arial" panose="020B0604020202020204" pitchFamily="34" charset="0"/>
                <a:ea typeface="Be Vietnam Pro" pitchFamily="34" charset="-122"/>
                <a:cs typeface="Be Vietnam Pro" pitchFamily="34" charset="-120"/>
              </a:rPr>
              <a:t>giảm</a:t>
            </a:r>
            <a:r>
              <a:rPr lang="en-US" sz="1500" dirty="0">
                <a:solidFill>
                  <a:srgbClr val="1B1F3B"/>
                </a:solidFill>
                <a:latin typeface="Arial" panose="020B0604020202020204" pitchFamily="34" charset="0"/>
                <a:ea typeface="Be Vietnam Pro" pitchFamily="34" charset="-122"/>
                <a:cs typeface="Be Vietnam Pro" pitchFamily="34" charset="-120"/>
              </a:rPr>
              <a:t>.</a:t>
            </a:r>
            <a:endParaRPr lang="en-US" sz="1500" dirty="0">
              <a:solidFill>
                <a:srgbClr val="1B1F3B"/>
              </a:solidFill>
              <a:latin typeface="Arial" panose="020B0604020202020204" pitchFamily="34" charset="0"/>
            </a:endParaRPr>
          </a:p>
          <a:p>
            <a:pPr marL="203200" indent="-203200" algn="l">
              <a:lnSpc>
                <a:spcPts val="1820"/>
              </a:lnSpc>
              <a:spcAft>
                <a:spcPts val="400"/>
              </a:spcAft>
              <a:buSzPct val="100000"/>
              <a:buChar char="•"/>
            </a:pPr>
            <a:r>
              <a:rPr lang="en-US" sz="1500" dirty="0" err="1">
                <a:solidFill>
                  <a:srgbClr val="1B1F3B"/>
                </a:solidFill>
                <a:latin typeface="Arial" panose="020B0604020202020204" pitchFamily="34" charset="0"/>
                <a:ea typeface="Be Vietnam Pro" pitchFamily="34" charset="-122"/>
                <a:cs typeface="Be Vietnam Pro" pitchFamily="34" charset="-120"/>
              </a:rPr>
              <a:t>Nắm</a:t>
            </a:r>
            <a:r>
              <a:rPr lang="en-US" sz="1500" dirty="0">
                <a:solidFill>
                  <a:srgbClr val="1B1F3B"/>
                </a:solidFill>
                <a:latin typeface="Arial" panose="020B0604020202020204" pitchFamily="34" charset="0"/>
                <a:ea typeface="Be Vietnam Pro" pitchFamily="34" charset="-122"/>
                <a:cs typeface="Be Vietnam Pro" pitchFamily="34" charset="-120"/>
              </a:rPr>
              <a:t> lỗi chung của lớp </a:t>
            </a:r>
            <a:r>
              <a:rPr lang="en-US" sz="1500" dirty="0" err="1">
                <a:solidFill>
                  <a:srgbClr val="1B1F3B"/>
                </a:solidFill>
                <a:latin typeface="Arial" panose="020B0604020202020204" pitchFamily="34" charset="0"/>
                <a:ea typeface="Be Vietnam Pro" pitchFamily="34" charset="-122"/>
                <a:cs typeface="Be Vietnam Pro" pitchFamily="34" charset="-120"/>
              </a:rPr>
              <a:t>nhanh</a:t>
            </a:r>
            <a:r>
              <a:rPr lang="en-US" sz="1500" dirty="0">
                <a:solidFill>
                  <a:srgbClr val="1B1F3B"/>
                </a:solidFill>
                <a:latin typeface="Arial" panose="020B0604020202020204" pitchFamily="34" charset="0"/>
                <a:ea typeface="Be Vietnam Pro" pitchFamily="34" charset="-122"/>
                <a:cs typeface="Be Vietnam Pro" pitchFamily="34" charset="-120"/>
              </a:rPr>
              <a:t> </a:t>
            </a:r>
            <a:r>
              <a:rPr lang="en-US" sz="1500" dirty="0" err="1">
                <a:solidFill>
                  <a:srgbClr val="1B1F3B"/>
                </a:solidFill>
                <a:latin typeface="Arial" panose="020B0604020202020204" pitchFamily="34" charset="0"/>
                <a:ea typeface="Be Vietnam Pro" pitchFamily="34" charset="-122"/>
                <a:cs typeface="Be Vietnam Pro" pitchFamily="34" charset="-120"/>
              </a:rPr>
              <a:t>hơn</a:t>
            </a:r>
            <a:r>
              <a:rPr lang="en-US" sz="1500" dirty="0">
                <a:solidFill>
                  <a:srgbClr val="1B1F3B"/>
                </a:solidFill>
                <a:latin typeface="Arial" panose="020B0604020202020204" pitchFamily="34" charset="0"/>
                <a:ea typeface="Be Vietnam Pro" pitchFamily="34" charset="-122"/>
                <a:cs typeface="Be Vietnam Pro" pitchFamily="34" charset="-120"/>
              </a:rPr>
              <a:t>.</a:t>
            </a:r>
            <a:endParaRPr lang="en-US" sz="1500" dirty="0">
              <a:solidFill>
                <a:srgbClr val="1B1F3B"/>
              </a:solidFill>
              <a:latin typeface="Arial" panose="020B0604020202020204" pitchFamily="34" charset="0"/>
            </a:endParaRPr>
          </a:p>
        </p:txBody>
      </p:sp>
      <p:sp>
        <p:nvSpPr>
          <p:cNvPr id="9" name="Rectangle: Rounded Corners 8">
            <a:extLst>
              <a:ext uri="{FF2B5EF4-FFF2-40B4-BE49-F238E27FC236}">
                <a16:creationId xmlns:a16="http://schemas.microsoft.com/office/drawing/2014/main" id="{91DBB3E1-BD89-D11B-3AEF-D2B245823604}"/>
              </a:ext>
            </a:extLst>
          </p:cNvPr>
          <p:cNvSpPr/>
          <p:nvPr/>
        </p:nvSpPr>
        <p:spPr>
          <a:xfrm>
            <a:off x="4368800" y="4114800"/>
            <a:ext cx="7213600" cy="1346200"/>
          </a:xfrm>
          <a:prstGeom prst="roundRect">
            <a:avLst>
              <a:gd name="adj" fmla="val 7547"/>
            </a:avLst>
          </a:prstGeom>
          <a:solidFill>
            <a:srgbClr val="EEF3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15"/>
          <p:cNvSpPr/>
          <p:nvPr/>
        </p:nvSpPr>
        <p:spPr>
          <a:xfrm>
            <a:off x="4597400" y="4114800"/>
            <a:ext cx="1524000" cy="1346200"/>
          </a:xfrm>
          <a:prstGeom prst="rect">
            <a:avLst/>
          </a:prstGeom>
          <a:noFill/>
          <a:ln/>
        </p:spPr>
        <p:txBody>
          <a:bodyPr wrap="square" lIns="0" tIns="0" rIns="0" bIns="0" rtlCol="0" anchor="ctr">
            <a:noAutofit/>
          </a:bodyPr>
          <a:lstStyle/>
          <a:p>
            <a:pPr marL="0" indent="0" algn="l">
              <a:lnSpc>
                <a:spcPts val="1800"/>
              </a:lnSpc>
              <a:buNone/>
            </a:pPr>
            <a:r>
              <a:rPr lang="en-US" b="1" dirty="0">
                <a:solidFill>
                  <a:srgbClr val="1E5BD8"/>
                </a:solidFill>
                <a:latin typeface="Arial" panose="020B0604020202020204" pitchFamily="34" charset="0"/>
                <a:ea typeface="Be Vietnam Pro" pitchFamily="34" charset="-122"/>
                <a:cs typeface="Be Vietnam Pro" pitchFamily="34" charset="-120"/>
              </a:rPr>
              <a:t>Phản hồi</a:t>
            </a:r>
            <a:endParaRPr lang="en-US" b="1" dirty="0">
              <a:solidFill>
                <a:srgbClr val="1E5BD8"/>
              </a:solidFill>
              <a:latin typeface="Arial" panose="020B0604020202020204" pitchFamily="34" charset="0"/>
            </a:endParaRPr>
          </a:p>
        </p:txBody>
      </p:sp>
      <p:sp>
        <p:nvSpPr>
          <p:cNvPr id="19" name="Text 16"/>
          <p:cNvSpPr/>
          <p:nvPr/>
        </p:nvSpPr>
        <p:spPr>
          <a:xfrm>
            <a:off x="6172200" y="4216400"/>
            <a:ext cx="5257800" cy="1143000"/>
          </a:xfrm>
          <a:prstGeom prst="rect">
            <a:avLst/>
          </a:prstGeom>
          <a:noFill/>
          <a:ln/>
        </p:spPr>
        <p:txBody>
          <a:bodyPr wrap="square" lIns="0" tIns="0" rIns="0" bIns="0" rtlCol="0" anchor="ctr">
            <a:noAutofit/>
          </a:bodyPr>
          <a:lstStyle/>
          <a:p>
            <a:pPr marL="203200" indent="-203200" algn="l">
              <a:lnSpc>
                <a:spcPts val="1820"/>
              </a:lnSpc>
              <a:spcAft>
                <a:spcPts val="400"/>
              </a:spcAft>
              <a:buFontTx/>
              <a:buChar char="•"/>
            </a:pPr>
            <a:r>
              <a:rPr lang="vi-VN" sz="1500">
                <a:solidFill>
                  <a:srgbClr val="1B1F3B"/>
                </a:solidFill>
                <a:latin typeface="Arial" panose="020B0604020202020204" pitchFamily="34" charset="0"/>
              </a:rPr>
              <a:t>Học sinh thích thú.</a:t>
            </a:r>
          </a:p>
          <a:p>
            <a:pPr marL="203200" indent="-203200" algn="l">
              <a:lnSpc>
                <a:spcPts val="1820"/>
              </a:lnSpc>
              <a:spcAft>
                <a:spcPts val="400"/>
              </a:spcAft>
              <a:buFontTx/>
              <a:buChar char="•"/>
            </a:pPr>
            <a:r>
              <a:rPr lang="vi-VN" sz="1500">
                <a:solidFill>
                  <a:srgbClr val="1B1F3B"/>
                </a:solidFill>
                <a:latin typeface="Arial" panose="020B0604020202020204" pitchFamily="34" charset="0"/>
              </a:rPr>
              <a:t>Phụ huynh hài lòng vì các con được luyện tập.</a:t>
            </a:r>
            <a:endParaRPr lang="en-US" sz="1500" dirty="0">
              <a:solidFill>
                <a:srgbClr val="1B1F3B"/>
              </a:solidFill>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THẢO LUẬN VÀ TỔNG KẾT</a:t>
            </a:r>
            <a:endParaRPr lang="en-US" sz="3000" dirty="0">
              <a:latin typeface="Arial" panose="020B0604020202020204" pitchFamily="34" charset="0"/>
            </a:endParaRPr>
          </a:p>
        </p:txBody>
      </p:sp>
      <p:graphicFrame>
        <p:nvGraphicFramePr>
          <p:cNvPr id="4" name="Table 0"/>
          <p:cNvGraphicFramePr>
            <a:graphicFrameLocks noGrp="1"/>
          </p:cNvGraphicFramePr>
          <p:nvPr>
            <p:extLst>
              <p:ext uri="{D42A27DB-BD31-4B8C-83A1-F6EECF244321}">
                <p14:modId xmlns:p14="http://schemas.microsoft.com/office/powerpoint/2010/main" val="4146219238"/>
              </p:ext>
            </p:extLst>
          </p:nvPr>
        </p:nvGraphicFramePr>
        <p:xfrm>
          <a:off x="609600" y="1270000"/>
          <a:ext cx="10962639" cy="2095500"/>
        </p:xfrm>
        <a:graphic>
          <a:graphicData uri="http://schemas.openxmlformats.org/drawingml/2006/table">
            <a:tbl>
              <a:tblPr/>
              <a:tblGrid>
                <a:gridCol w="2159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5003800">
                  <a:extLst>
                    <a:ext uri="{9D8B030D-6E8A-4147-A177-3AD203B41FA5}">
                      <a16:colId xmlns:a16="http://schemas.microsoft.com/office/drawing/2014/main" val="20002"/>
                    </a:ext>
                  </a:extLst>
                </a:gridCol>
              </a:tblGrid>
              <a:tr h="406400">
                <a:tc>
                  <a:txBody>
                    <a:bodyPr/>
                    <a:lstStyle/>
                    <a:p>
                      <a:pPr marL="0" indent="0">
                        <a:lnSpc>
                          <a:spcPts val="1820"/>
                        </a:lnSpc>
                        <a:buNone/>
                      </a:pPr>
                      <a:endParaRPr lang="en-US" sz="1500" b="1" dirty="0">
                        <a:solidFill>
                          <a:srgbClr val="FFFFFF"/>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000054"/>
                    </a:solidFill>
                  </a:tcPr>
                </a:tc>
                <a:tc>
                  <a:txBody>
                    <a:bodyPr/>
                    <a:lstStyle/>
                    <a:p>
                      <a:pPr marL="0" indent="0">
                        <a:lnSpc>
                          <a:spcPts val="1820"/>
                        </a:lnSpc>
                        <a:buNone/>
                      </a:pPr>
                      <a:r>
                        <a:rPr lang="en-US" sz="1500" b="1" dirty="0">
                          <a:solidFill>
                            <a:srgbClr val="FFFFFF"/>
                          </a:solidFill>
                          <a:latin typeface="Arial" panose="020B0604020202020204" pitchFamily="34" charset="0"/>
                          <a:ea typeface="Be Vietnam Pro" pitchFamily="34" charset="-122"/>
                          <a:cs typeface="Be Vietnam Pro" pitchFamily="34" charset="-120"/>
                        </a:rPr>
                        <a:t>Trước đây</a:t>
                      </a:r>
                      <a:endParaRPr lang="en-US" sz="1500" b="1" dirty="0">
                        <a:solidFill>
                          <a:srgbClr val="FFFFFF"/>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000054"/>
                    </a:solidFill>
                  </a:tcPr>
                </a:tc>
                <a:tc>
                  <a:txBody>
                    <a:bodyPr/>
                    <a:lstStyle/>
                    <a:p>
                      <a:pPr marL="0" indent="0">
                        <a:lnSpc>
                          <a:spcPts val="1820"/>
                        </a:lnSpc>
                        <a:buNone/>
                      </a:pPr>
                      <a:r>
                        <a:rPr lang="en-US" sz="1500" b="1" dirty="0">
                          <a:solidFill>
                            <a:srgbClr val="FFEA00"/>
                          </a:solidFill>
                          <a:latin typeface="Arial" panose="020B0604020202020204" pitchFamily="34" charset="0"/>
                          <a:ea typeface="Be Vietnam Pro" pitchFamily="34" charset="-122"/>
                          <a:cs typeface="Be Vietnam Pro" pitchFamily="34" charset="-120"/>
                        </a:rPr>
                        <a:t>Với Vương quốc Từ hay – Câu đẹp</a:t>
                      </a:r>
                      <a:endParaRPr lang="en-US" sz="1500" b="1" dirty="0">
                        <a:solidFill>
                          <a:srgbClr val="FFEA00"/>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000054"/>
                    </a:solidFill>
                  </a:tcPr>
                </a:tc>
                <a:extLst>
                  <a:ext uri="{0D108BD9-81ED-4DB2-BD59-A6C34878D82A}">
                    <a16:rowId xmlns:a16="http://schemas.microsoft.com/office/drawing/2014/main" val="10000"/>
                  </a:ext>
                </a:extLst>
              </a:tr>
              <a:tr h="406400">
                <a:tc>
                  <a:txBody>
                    <a:bodyPr/>
                    <a:lstStyle/>
                    <a:p>
                      <a:pPr marL="0" indent="0">
                        <a:lnSpc>
                          <a:spcPts val="1820"/>
                        </a:lnSpc>
                        <a:buNone/>
                      </a:pPr>
                      <a:r>
                        <a:rPr lang="en-US" sz="1500" b="1" dirty="0">
                          <a:solidFill>
                            <a:srgbClr val="000054"/>
                          </a:solidFill>
                          <a:latin typeface="Arial" panose="020B0604020202020204" pitchFamily="34" charset="0"/>
                          <a:ea typeface="Be Vietnam Pro" pitchFamily="34" charset="-122"/>
                          <a:cs typeface="Be Vietnam Pro" pitchFamily="34" charset="-120"/>
                        </a:rPr>
                        <a:t>Bài tập</a:t>
                      </a:r>
                      <a:endParaRPr lang="en-US" sz="1500" b="1" dirty="0">
                        <a:solidFill>
                          <a:srgbClr val="000054"/>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500" dirty="0">
                          <a:solidFill>
                            <a:srgbClr val="4A5072"/>
                          </a:solidFill>
                          <a:latin typeface="Arial" panose="020B0604020202020204" pitchFamily="34" charset="0"/>
                          <a:ea typeface="Be Vietnam Pro" pitchFamily="34" charset="-122"/>
                          <a:cs typeface="Be Vietnam Pro" pitchFamily="34" charset="-120"/>
                        </a:rPr>
                        <a:t>Phiếu giấy, chấm sau</a:t>
                      </a:r>
                      <a:endParaRPr lang="en-US" sz="1500" dirty="0">
                        <a:solidFill>
                          <a:srgbClr val="4A5072"/>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500" b="1" dirty="0">
                          <a:solidFill>
                            <a:srgbClr val="1B1F3B"/>
                          </a:solidFill>
                          <a:latin typeface="Arial" panose="020B0604020202020204" pitchFamily="34" charset="0"/>
                          <a:ea typeface="Be Vietnam Pro" pitchFamily="34" charset="-122"/>
                          <a:cs typeface="Be Vietnam Pro" pitchFamily="34" charset="-120"/>
                        </a:rPr>
                        <a:t>Chấm và giải thích ngay từng câu</a:t>
                      </a:r>
                      <a:endParaRPr lang="en-US" sz="1500" b="1" dirty="0">
                        <a:solidFill>
                          <a:srgbClr val="1B1F3B"/>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EEF3FC"/>
                    </a:solidFill>
                  </a:tcPr>
                </a:tc>
                <a:extLst>
                  <a:ext uri="{0D108BD9-81ED-4DB2-BD59-A6C34878D82A}">
                    <a16:rowId xmlns:a16="http://schemas.microsoft.com/office/drawing/2014/main" val="10001"/>
                  </a:ext>
                </a:extLst>
              </a:tr>
              <a:tr h="406400">
                <a:tc>
                  <a:txBody>
                    <a:bodyPr/>
                    <a:lstStyle/>
                    <a:p>
                      <a:pPr marL="0" indent="0">
                        <a:lnSpc>
                          <a:spcPts val="1820"/>
                        </a:lnSpc>
                        <a:buNone/>
                      </a:pPr>
                      <a:r>
                        <a:rPr lang="en-US" sz="1500" b="1" dirty="0">
                          <a:solidFill>
                            <a:srgbClr val="000054"/>
                          </a:solidFill>
                          <a:latin typeface="Arial" panose="020B0604020202020204" pitchFamily="34" charset="0"/>
                          <a:ea typeface="Be Vietnam Pro" pitchFamily="34" charset="-122"/>
                          <a:cs typeface="Be Vietnam Pro" pitchFamily="34" charset="-120"/>
                        </a:rPr>
                        <a:t>Phân hoá</a:t>
                      </a:r>
                      <a:endParaRPr lang="en-US" sz="1500" b="1" dirty="0">
                        <a:solidFill>
                          <a:srgbClr val="000054"/>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500" dirty="0">
                          <a:solidFill>
                            <a:srgbClr val="4A5072"/>
                          </a:solidFill>
                          <a:latin typeface="Arial" panose="020B0604020202020204" pitchFamily="34" charset="0"/>
                          <a:ea typeface="Be Vietnam Pro" pitchFamily="34" charset="-122"/>
                          <a:cs typeface="Be Vietnam Pro" pitchFamily="34" charset="-120"/>
                        </a:rPr>
                        <a:t>Một đề chung cho cả lớp</a:t>
                      </a:r>
                      <a:endParaRPr lang="en-US" sz="1500" dirty="0">
                        <a:solidFill>
                          <a:srgbClr val="4A5072"/>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500" b="1" dirty="0">
                          <a:solidFill>
                            <a:srgbClr val="1B1F3B"/>
                          </a:solidFill>
                          <a:latin typeface="Arial" panose="020B0604020202020204" pitchFamily="34" charset="0"/>
                          <a:ea typeface="Be Vietnam Pro" pitchFamily="34" charset="-122"/>
                          <a:cs typeface="Be Vietnam Pro" pitchFamily="34" charset="-120"/>
                        </a:rPr>
                        <a:t>3 mức, mở khoá theo năng lực từng em</a:t>
                      </a:r>
                      <a:endParaRPr lang="en-US" sz="1500" b="1" dirty="0">
                        <a:solidFill>
                          <a:srgbClr val="1B1F3B"/>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406400">
                <a:tc>
                  <a:txBody>
                    <a:bodyPr/>
                    <a:lstStyle/>
                    <a:p>
                      <a:pPr marL="0" indent="0">
                        <a:lnSpc>
                          <a:spcPts val="1820"/>
                        </a:lnSpc>
                        <a:buNone/>
                      </a:pPr>
                      <a:r>
                        <a:rPr lang="en-US" sz="1500" b="1" dirty="0">
                          <a:solidFill>
                            <a:srgbClr val="000054"/>
                          </a:solidFill>
                          <a:latin typeface="Arial" panose="020B0604020202020204" pitchFamily="34" charset="0"/>
                          <a:ea typeface="Be Vietnam Pro" pitchFamily="34" charset="-122"/>
                          <a:cs typeface="Be Vietnam Pro" pitchFamily="34" charset="-120"/>
                        </a:rPr>
                        <a:t>Theo dõi</a:t>
                      </a:r>
                      <a:endParaRPr lang="en-US" sz="1500" b="1" dirty="0">
                        <a:solidFill>
                          <a:srgbClr val="000054"/>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500" dirty="0">
                          <a:solidFill>
                            <a:srgbClr val="4A5072"/>
                          </a:solidFill>
                          <a:latin typeface="Arial" panose="020B0604020202020204" pitchFamily="34" charset="0"/>
                          <a:ea typeface="Be Vietnam Pro" pitchFamily="34" charset="-122"/>
                          <a:cs typeface="Be Vietnam Pro" pitchFamily="34" charset="-120"/>
                        </a:rPr>
                        <a:t>Cô tổng hợp thủ công</a:t>
                      </a:r>
                      <a:endParaRPr lang="en-US" sz="1500" dirty="0">
                        <a:solidFill>
                          <a:srgbClr val="4A5072"/>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500" b="1" dirty="0">
                          <a:solidFill>
                            <a:srgbClr val="1B1F3B"/>
                          </a:solidFill>
                          <a:latin typeface="Arial" panose="020B0604020202020204" pitchFamily="34" charset="0"/>
                          <a:ea typeface="Be Vietnam Pro" pitchFamily="34" charset="-122"/>
                          <a:cs typeface="Be Vietnam Pro" pitchFamily="34" charset="-120"/>
                        </a:rPr>
                        <a:t>Bảng kết quả theo chủ điểm, tải CSV</a:t>
                      </a:r>
                      <a:endParaRPr lang="en-US" sz="1500" b="1" dirty="0">
                        <a:solidFill>
                          <a:srgbClr val="1B1F3B"/>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EEF3FC"/>
                    </a:solidFill>
                  </a:tcPr>
                </a:tc>
                <a:extLst>
                  <a:ext uri="{0D108BD9-81ED-4DB2-BD59-A6C34878D82A}">
                    <a16:rowId xmlns:a16="http://schemas.microsoft.com/office/drawing/2014/main" val="10003"/>
                  </a:ext>
                </a:extLst>
              </a:tr>
              <a:tr h="406400">
                <a:tc>
                  <a:txBody>
                    <a:bodyPr/>
                    <a:lstStyle/>
                    <a:p>
                      <a:pPr marL="0" indent="0">
                        <a:lnSpc>
                          <a:spcPts val="1820"/>
                        </a:lnSpc>
                        <a:buNone/>
                      </a:pPr>
                      <a:r>
                        <a:rPr lang="en-US" sz="1500" b="1" dirty="0">
                          <a:solidFill>
                            <a:srgbClr val="000054"/>
                          </a:solidFill>
                          <a:latin typeface="Arial" panose="020B0604020202020204" pitchFamily="34" charset="0"/>
                          <a:ea typeface="Be Vietnam Pro" pitchFamily="34" charset="-122"/>
                          <a:cs typeface="Be Vietnam Pro" pitchFamily="34" charset="-120"/>
                        </a:rPr>
                        <a:t>Nhận xét</a:t>
                      </a:r>
                      <a:endParaRPr lang="en-US" sz="1500" b="1" dirty="0">
                        <a:solidFill>
                          <a:srgbClr val="000054"/>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500" dirty="0">
                          <a:solidFill>
                            <a:srgbClr val="4A5072"/>
                          </a:solidFill>
                          <a:latin typeface="Arial" panose="020B0604020202020204" pitchFamily="34" charset="0"/>
                          <a:ea typeface="Be Vietnam Pro" pitchFamily="34" charset="-122"/>
                          <a:cs typeface="Be Vietnam Pro" pitchFamily="34" charset="-120"/>
                        </a:rPr>
                        <a:t>Viết tay cho từng em</a:t>
                      </a:r>
                      <a:endParaRPr lang="en-US" sz="1500" dirty="0">
                        <a:solidFill>
                          <a:srgbClr val="4A5072"/>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500" b="1" dirty="0">
                          <a:solidFill>
                            <a:srgbClr val="1B1F3B"/>
                          </a:solidFill>
                          <a:latin typeface="Arial" panose="020B0604020202020204" pitchFamily="34" charset="0"/>
                          <a:ea typeface="Be Vietnam Pro" pitchFamily="34" charset="-122"/>
                          <a:cs typeface="Be Vietnam Pro" pitchFamily="34" charset="-120"/>
                        </a:rPr>
                        <a:t>AI viết nháp, cô sửa và duyệt</a:t>
                      </a:r>
                      <a:endParaRPr lang="en-US" sz="1500" b="1" dirty="0">
                        <a:solidFill>
                          <a:srgbClr val="1B1F3B"/>
                        </a:solidFill>
                        <a:latin typeface="Arial" panose="020B0604020202020204" pitchFamily="34" charset="0"/>
                        <a:ea typeface="Be Vietnam Pro" charset="0"/>
                        <a:cs typeface="Be Vietnam Pro"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bl>
          </a:graphicData>
        </a:graphic>
      </p:graphicFrame>
      <p:sp>
        <p:nvSpPr>
          <p:cNvPr id="5" name="Shape 1"/>
          <p:cNvSpPr/>
          <p:nvPr/>
        </p:nvSpPr>
        <p:spPr>
          <a:xfrm>
            <a:off x="609600" y="3759200"/>
            <a:ext cx="5384800" cy="1320800"/>
          </a:xfrm>
          <a:prstGeom prst="roundRect">
            <a:avLst>
              <a:gd name="adj" fmla="val 9324"/>
            </a:avLst>
          </a:prstGeom>
          <a:solidFill>
            <a:srgbClr val="EEF3FC"/>
          </a:solidFill>
          <a:ln/>
        </p:spPr>
      </p:sp>
      <p:sp>
        <p:nvSpPr>
          <p:cNvPr id="6" name="Text 2"/>
          <p:cNvSpPr/>
          <p:nvPr/>
        </p:nvSpPr>
        <p:spPr>
          <a:xfrm>
            <a:off x="838200" y="3962400"/>
            <a:ext cx="4978400" cy="3048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000054"/>
                </a:solidFill>
                <a:latin typeface="Arial" panose="020B0604020202020204" pitchFamily="34" charset="0"/>
                <a:ea typeface="Be Vietnam Pro" pitchFamily="34" charset="-122"/>
                <a:cs typeface="Be Vietnam Pro" pitchFamily="34" charset="-120"/>
              </a:rPr>
              <a:t>Bền vững, dễ nhân rộng</a:t>
            </a:r>
            <a:endParaRPr lang="en-US" sz="1700" b="1" dirty="0">
              <a:solidFill>
                <a:srgbClr val="000054"/>
              </a:solidFill>
              <a:latin typeface="Arial" panose="020B0604020202020204" pitchFamily="34" charset="0"/>
            </a:endParaRPr>
          </a:p>
        </p:txBody>
      </p:sp>
      <p:sp>
        <p:nvSpPr>
          <p:cNvPr id="7" name="Text 3"/>
          <p:cNvSpPr/>
          <p:nvPr/>
        </p:nvSpPr>
        <p:spPr>
          <a:xfrm>
            <a:off x="838200" y="4343400"/>
            <a:ext cx="4978400" cy="635000"/>
          </a:xfrm>
          <a:prstGeom prst="rect">
            <a:avLst/>
          </a:prstGeom>
          <a:noFill/>
          <a:ln/>
        </p:spPr>
        <p:txBody>
          <a:bodyPr wrap="square" lIns="0" tIns="0" rIns="0" bIns="0" rtlCol="0" anchor="t">
            <a:noAutofit/>
          </a:bodyPr>
          <a:lstStyle/>
          <a:p>
            <a:pPr marL="0" indent="0" algn="l">
              <a:lnSpc>
                <a:spcPts val="1740"/>
              </a:lnSpc>
              <a:buNone/>
            </a:pPr>
            <a:r>
              <a:rPr lang="en-US" sz="1500" dirty="0">
                <a:solidFill>
                  <a:srgbClr val="1B1F3B"/>
                </a:solidFill>
                <a:latin typeface="Arial" panose="020B0604020202020204" pitchFamily="34" charset="0"/>
                <a:ea typeface="Be Vietnam Pro" pitchFamily="34" charset="-122"/>
                <a:cs typeface="Be Vietnam Pro" pitchFamily="34" charset="-120"/>
              </a:rPr>
              <a:t>Một tệp HTML, mở bằng trình duyệt, không cần máy chủ. Thay ngân hàng câu hỏi là dùng được cho lớp, khối khác.</a:t>
            </a:r>
            <a:endParaRPr lang="en-US" sz="1500" dirty="0">
              <a:solidFill>
                <a:srgbClr val="1B1F3B"/>
              </a:solidFill>
              <a:latin typeface="Arial" panose="020B0604020202020204" pitchFamily="34" charset="0"/>
            </a:endParaRPr>
          </a:p>
        </p:txBody>
      </p:sp>
      <p:sp>
        <p:nvSpPr>
          <p:cNvPr id="8" name="Shape 4"/>
          <p:cNvSpPr/>
          <p:nvPr/>
        </p:nvSpPr>
        <p:spPr>
          <a:xfrm>
            <a:off x="6197600" y="3759200"/>
            <a:ext cx="5384800" cy="1320800"/>
          </a:xfrm>
          <a:prstGeom prst="roundRect">
            <a:avLst>
              <a:gd name="adj" fmla="val 9324"/>
            </a:avLst>
          </a:prstGeom>
          <a:solidFill>
            <a:srgbClr val="EEF3FC"/>
          </a:solidFill>
          <a:ln/>
        </p:spPr>
      </p:sp>
      <p:sp>
        <p:nvSpPr>
          <p:cNvPr id="9" name="Text 5"/>
          <p:cNvSpPr/>
          <p:nvPr/>
        </p:nvSpPr>
        <p:spPr>
          <a:xfrm>
            <a:off x="6426200" y="3962400"/>
            <a:ext cx="4978400" cy="304800"/>
          </a:xfrm>
          <a:prstGeom prst="rect">
            <a:avLst/>
          </a:prstGeom>
          <a:noFill/>
          <a:ln/>
        </p:spPr>
        <p:txBody>
          <a:bodyPr wrap="square" lIns="0" tIns="0" rIns="0" bIns="0" rtlCol="0" anchor="t">
            <a:noAutofit/>
          </a:bodyPr>
          <a:lstStyle/>
          <a:p>
            <a:pPr marL="0" indent="0" algn="l">
              <a:lnSpc>
                <a:spcPts val="1800"/>
              </a:lnSpc>
              <a:buNone/>
            </a:pPr>
            <a:r>
              <a:rPr lang="en-US" sz="1700" b="1" dirty="0">
                <a:solidFill>
                  <a:srgbClr val="000054"/>
                </a:solidFill>
                <a:latin typeface="Arial" panose="020B0604020202020204" pitchFamily="34" charset="0"/>
                <a:ea typeface="Be Vietnam Pro" pitchFamily="34" charset="-122"/>
                <a:cs typeface="Be Vietnam Pro" pitchFamily="34" charset="-120"/>
              </a:rPr>
              <a:t>Định hướng phát triển</a:t>
            </a:r>
            <a:endParaRPr lang="en-US" sz="1700" b="1" dirty="0">
              <a:solidFill>
                <a:srgbClr val="000054"/>
              </a:solidFill>
              <a:latin typeface="Arial" panose="020B0604020202020204" pitchFamily="34" charset="0"/>
            </a:endParaRPr>
          </a:p>
        </p:txBody>
      </p:sp>
      <p:sp>
        <p:nvSpPr>
          <p:cNvPr id="10" name="Text 6"/>
          <p:cNvSpPr/>
          <p:nvPr/>
        </p:nvSpPr>
        <p:spPr>
          <a:xfrm>
            <a:off x="6426200" y="4343400"/>
            <a:ext cx="4978400" cy="635000"/>
          </a:xfrm>
          <a:prstGeom prst="rect">
            <a:avLst/>
          </a:prstGeom>
          <a:noFill/>
          <a:ln/>
        </p:spPr>
        <p:txBody>
          <a:bodyPr wrap="square" lIns="0" tIns="0" rIns="0" bIns="0" rtlCol="0" anchor="t">
            <a:noAutofit/>
          </a:bodyPr>
          <a:lstStyle/>
          <a:p>
            <a:pPr marL="0" indent="0" algn="l">
              <a:lnSpc>
                <a:spcPts val="1740"/>
              </a:lnSpc>
              <a:buNone/>
            </a:pPr>
            <a:r>
              <a:rPr lang="en-US" sz="1500" dirty="0">
                <a:solidFill>
                  <a:srgbClr val="1B1F3B"/>
                </a:solidFill>
                <a:latin typeface="Arial" panose="020B0604020202020204" pitchFamily="34" charset="0"/>
                <a:ea typeface="Be Vietnam Pro" pitchFamily="34" charset="-122"/>
                <a:cs typeface="Be Vietnam Pro" pitchFamily="34" charset="-120"/>
              </a:rPr>
              <a:t>[Chia sẻ cho tổ chuyên môn khối 4; mở rộng sang lớp 3, lớp 5; bổ sung câu hỏi AI đã duyệt…]</a:t>
            </a:r>
            <a:endParaRPr lang="en-US" sz="1500" dirty="0">
              <a:solidFill>
                <a:srgbClr val="1B1F3B"/>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Giải Thưởng Tiên Phong Ứng Dụng AI Trong Giáo Dục Việt Nam 2026"/>
          <p:cNvPicPr>
            <a:picLocks noChangeAspect="1"/>
          </p:cNvPicPr>
          <p:nvPr/>
        </p:nvPicPr>
        <p:blipFill>
          <a:blip r:embed="rId3"/>
          <a:srcRect l="21" r="21"/>
          <a:stretch/>
        </p:blipFill>
        <p:spPr>
          <a:xfrm>
            <a:off x="0" y="5943600"/>
            <a:ext cx="12192000" cy="914400"/>
          </a:xfrm>
          <a:prstGeom prst="rect">
            <a:avLst/>
          </a:prstGeom>
        </p:spPr>
      </p:pic>
      <p:sp>
        <p:nvSpPr>
          <p:cNvPr id="3" name="Text 0"/>
          <p:cNvSpPr>
            <a:spLocks noGrp="1"/>
          </p:cNvSpPr>
          <p:nvPr>
            <p:ph type="title"/>
          </p:nvPr>
        </p:nvSpPr>
        <p:spPr>
          <a:xfrm>
            <a:off x="609600" y="609600"/>
            <a:ext cx="11301984"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00054"/>
                </a:solidFill>
                <a:latin typeface="Arial" panose="020B0604020202020204" pitchFamily="34" charset="0"/>
                <a:ea typeface="Be Vietnam Pro" pitchFamily="34" charset="-122"/>
                <a:cs typeface="Be Vietnam Pro" pitchFamily="34" charset="-120"/>
              </a:rPr>
              <a:t>TÀI LIỆU / THÔNG TIN ĐÍNH KÈM</a:t>
            </a:r>
            <a:endParaRPr lang="en-US" sz="3000" dirty="0">
              <a:latin typeface="Arial" panose="020B0604020202020204" pitchFamily="34" charset="0"/>
            </a:endParaRPr>
          </a:p>
        </p:txBody>
      </p:sp>
      <p:sp>
        <p:nvSpPr>
          <p:cNvPr id="4" name="Shape 1"/>
          <p:cNvSpPr/>
          <p:nvPr/>
        </p:nvSpPr>
        <p:spPr>
          <a:xfrm>
            <a:off x="609600" y="2133600"/>
            <a:ext cx="6604000" cy="0"/>
          </a:xfrm>
          <a:prstGeom prst="line">
            <a:avLst/>
          </a:prstGeom>
          <a:noFill/>
          <a:ln w="12700">
            <a:solidFill>
              <a:srgbClr val="E3E8F4"/>
            </a:solidFill>
            <a:prstDash val="solid"/>
          </a:ln>
        </p:spPr>
      </p:sp>
      <p:sp>
        <p:nvSpPr>
          <p:cNvPr id="5" name="Text 2"/>
          <p:cNvSpPr/>
          <p:nvPr/>
        </p:nvSpPr>
        <p:spPr>
          <a:xfrm>
            <a:off x="609600" y="1320800"/>
            <a:ext cx="6604000" cy="304800"/>
          </a:xfrm>
          <a:prstGeom prst="rect">
            <a:avLst/>
          </a:prstGeom>
          <a:noFill/>
          <a:ln/>
        </p:spPr>
        <p:txBody>
          <a:bodyPr wrap="square" lIns="0" tIns="0" rIns="0" bIns="0" rtlCol="0" anchor="t">
            <a:noAutofit/>
          </a:bodyPr>
          <a:lstStyle/>
          <a:p>
            <a:pPr marL="0" indent="0" algn="l">
              <a:lnSpc>
                <a:spcPts val="1680"/>
              </a:lnSpc>
              <a:buNone/>
            </a:pPr>
            <a:r>
              <a:rPr lang="en-US" sz="1700" b="1" dirty="0">
                <a:solidFill>
                  <a:srgbClr val="000054"/>
                </a:solidFill>
                <a:latin typeface="Arial" panose="020B0604020202020204" pitchFamily="34" charset="0"/>
                <a:ea typeface="Be Vietnam Pro" pitchFamily="34" charset="-122"/>
                <a:cs typeface="Be Vietnam Pro" pitchFamily="34" charset="-120"/>
              </a:rPr>
              <a:t>Dùng thử ứng dụng</a:t>
            </a:r>
            <a:endParaRPr lang="en-US" sz="1700" b="1" dirty="0">
              <a:solidFill>
                <a:srgbClr val="000054"/>
              </a:solidFill>
              <a:latin typeface="Arial" panose="020B0604020202020204" pitchFamily="34" charset="0"/>
            </a:endParaRPr>
          </a:p>
        </p:txBody>
      </p:sp>
      <p:sp>
        <p:nvSpPr>
          <p:cNvPr id="6" name="Text 3"/>
          <p:cNvSpPr/>
          <p:nvPr/>
        </p:nvSpPr>
        <p:spPr>
          <a:xfrm>
            <a:off x="609600" y="1651000"/>
            <a:ext cx="6604000" cy="304800"/>
          </a:xfrm>
          <a:prstGeom prst="rect">
            <a:avLst/>
          </a:prstGeom>
          <a:noFill/>
          <a:ln/>
        </p:spPr>
        <p:txBody>
          <a:bodyPr wrap="square" lIns="0" tIns="0" rIns="0" bIns="0" rtlCol="0" anchor="t">
            <a:noAutofit/>
          </a:bodyPr>
          <a:lstStyle/>
          <a:p>
            <a:pPr marL="0" indent="0" algn="l">
              <a:lnSpc>
                <a:spcPts val="1820"/>
              </a:lnSpc>
              <a:buNone/>
            </a:pPr>
            <a:r>
              <a:rPr lang="en-US" sz="1500" dirty="0">
                <a:solidFill>
                  <a:srgbClr val="1E5BD8"/>
                </a:solidFill>
                <a:latin typeface="Arial" panose="020B0604020202020204" pitchFamily="34" charset="0"/>
                <a:ea typeface="Be Vietnam Pro" pitchFamily="34" charset="-122"/>
                <a:cs typeface="Be Vietnam Pro" pitchFamily="34" charset="-120"/>
              </a:rPr>
              <a:t>[đường dẫn ứng dụng, ví dụ trang GitHub Pages của dự án]</a:t>
            </a:r>
            <a:endParaRPr lang="en-US" sz="1500" dirty="0">
              <a:latin typeface="Arial" panose="020B0604020202020204" pitchFamily="34" charset="0"/>
            </a:endParaRPr>
          </a:p>
        </p:txBody>
      </p:sp>
      <p:sp>
        <p:nvSpPr>
          <p:cNvPr id="7" name="Shape 4"/>
          <p:cNvSpPr/>
          <p:nvPr/>
        </p:nvSpPr>
        <p:spPr>
          <a:xfrm>
            <a:off x="609600" y="3124200"/>
            <a:ext cx="6604000" cy="0"/>
          </a:xfrm>
          <a:prstGeom prst="line">
            <a:avLst/>
          </a:prstGeom>
          <a:noFill/>
          <a:ln w="12700">
            <a:solidFill>
              <a:srgbClr val="E3E8F4"/>
            </a:solidFill>
            <a:prstDash val="solid"/>
          </a:ln>
        </p:spPr>
      </p:sp>
      <p:sp>
        <p:nvSpPr>
          <p:cNvPr id="8" name="Text 5"/>
          <p:cNvSpPr/>
          <p:nvPr/>
        </p:nvSpPr>
        <p:spPr>
          <a:xfrm>
            <a:off x="609600" y="2311400"/>
            <a:ext cx="6604000" cy="304800"/>
          </a:xfrm>
          <a:prstGeom prst="rect">
            <a:avLst/>
          </a:prstGeom>
          <a:noFill/>
          <a:ln/>
        </p:spPr>
        <p:txBody>
          <a:bodyPr wrap="square" lIns="0" tIns="0" rIns="0" bIns="0" rtlCol="0" anchor="t">
            <a:noAutofit/>
          </a:bodyPr>
          <a:lstStyle/>
          <a:p>
            <a:pPr marL="0" indent="0" algn="l">
              <a:lnSpc>
                <a:spcPts val="1680"/>
              </a:lnSpc>
              <a:buNone/>
            </a:pPr>
            <a:r>
              <a:rPr lang="en-US" sz="1700" b="1" dirty="0">
                <a:solidFill>
                  <a:srgbClr val="000054"/>
                </a:solidFill>
                <a:latin typeface="Arial" panose="020B0604020202020204" pitchFamily="34" charset="0"/>
                <a:ea typeface="Be Vietnam Pro" pitchFamily="34" charset="-122"/>
                <a:cs typeface="Be Vietnam Pro" pitchFamily="34" charset="-120"/>
              </a:rPr>
              <a:t>Mã nguồn</a:t>
            </a:r>
            <a:endParaRPr lang="en-US" sz="1700" b="1" dirty="0">
              <a:solidFill>
                <a:srgbClr val="000054"/>
              </a:solidFill>
              <a:latin typeface="Arial" panose="020B0604020202020204" pitchFamily="34" charset="0"/>
            </a:endParaRPr>
          </a:p>
        </p:txBody>
      </p:sp>
      <p:sp>
        <p:nvSpPr>
          <p:cNvPr id="9" name="Text 6"/>
          <p:cNvSpPr/>
          <p:nvPr/>
        </p:nvSpPr>
        <p:spPr>
          <a:xfrm>
            <a:off x="609600" y="2641600"/>
            <a:ext cx="6604000" cy="304800"/>
          </a:xfrm>
          <a:prstGeom prst="rect">
            <a:avLst/>
          </a:prstGeom>
          <a:noFill/>
          <a:ln/>
        </p:spPr>
        <p:txBody>
          <a:bodyPr wrap="square" lIns="0" tIns="0" rIns="0" bIns="0" rtlCol="0" anchor="t">
            <a:noAutofit/>
          </a:bodyPr>
          <a:lstStyle/>
          <a:p>
            <a:pPr marL="0" indent="0" algn="l">
              <a:lnSpc>
                <a:spcPts val="1820"/>
              </a:lnSpc>
              <a:buNone/>
            </a:pPr>
            <a:r>
              <a:rPr lang="en-US" sz="1500" u="sng" dirty="0">
                <a:solidFill>
                  <a:srgbClr val="1E5BD8"/>
                </a:solidFill>
                <a:latin typeface="Arial" panose="020B0604020202020204" pitchFamily="34" charset="0"/>
                <a:ea typeface="Be Vietnam Pro" pitchFamily="34" charset="-122"/>
                <a:cs typeface="Be Vietnam Pro" pitchFamily="34" charset="-120"/>
                <a:hlinkClick r:id="rId4">
                  <a:extLst>
                    <a:ext uri="{A12FA001-AC4F-418D-AE19-62706E023703}">
                      <ahyp:hlinkClr xmlns:ahyp="http://schemas.microsoft.com/office/drawing/2018/hyperlinkcolor" val="tx"/>
                    </a:ext>
                  </a:extLst>
                </a:hlinkClick>
              </a:rPr>
              <a:t>github.com/dungptt-dng/tramtu-vacau-lop4</a:t>
            </a:r>
            <a:endParaRPr lang="en-US" sz="1500" dirty="0">
              <a:latin typeface="Arial" panose="020B0604020202020204" pitchFamily="34" charset="0"/>
            </a:endParaRPr>
          </a:p>
        </p:txBody>
      </p:sp>
      <p:sp>
        <p:nvSpPr>
          <p:cNvPr id="10" name="Shape 7"/>
          <p:cNvSpPr/>
          <p:nvPr/>
        </p:nvSpPr>
        <p:spPr>
          <a:xfrm>
            <a:off x="609600" y="4114800"/>
            <a:ext cx="6604000" cy="0"/>
          </a:xfrm>
          <a:prstGeom prst="line">
            <a:avLst/>
          </a:prstGeom>
          <a:noFill/>
          <a:ln w="12700">
            <a:solidFill>
              <a:srgbClr val="E3E8F4"/>
            </a:solidFill>
            <a:prstDash val="solid"/>
          </a:ln>
        </p:spPr>
      </p:sp>
      <p:sp>
        <p:nvSpPr>
          <p:cNvPr id="11" name="Text 8"/>
          <p:cNvSpPr/>
          <p:nvPr/>
        </p:nvSpPr>
        <p:spPr>
          <a:xfrm>
            <a:off x="609600" y="3302000"/>
            <a:ext cx="6604000" cy="304800"/>
          </a:xfrm>
          <a:prstGeom prst="rect">
            <a:avLst/>
          </a:prstGeom>
          <a:noFill/>
          <a:ln/>
        </p:spPr>
        <p:txBody>
          <a:bodyPr wrap="square" lIns="0" tIns="0" rIns="0" bIns="0" rtlCol="0" anchor="t">
            <a:noAutofit/>
          </a:bodyPr>
          <a:lstStyle/>
          <a:p>
            <a:pPr marL="0" indent="0" algn="l">
              <a:lnSpc>
                <a:spcPts val="1680"/>
              </a:lnSpc>
              <a:buNone/>
            </a:pPr>
            <a:r>
              <a:rPr lang="en-US" sz="1700" b="1" dirty="0">
                <a:solidFill>
                  <a:srgbClr val="000054"/>
                </a:solidFill>
                <a:latin typeface="Arial" panose="020B0604020202020204" pitchFamily="34" charset="0"/>
                <a:ea typeface="Be Vietnam Pro" pitchFamily="34" charset="-122"/>
                <a:cs typeface="Be Vietnam Pro" pitchFamily="34" charset="-120"/>
              </a:rPr>
              <a:t>Video giới thiệu</a:t>
            </a:r>
            <a:endParaRPr lang="en-US" sz="1700" b="1" dirty="0">
              <a:solidFill>
                <a:srgbClr val="000054"/>
              </a:solidFill>
              <a:latin typeface="Arial" panose="020B0604020202020204" pitchFamily="34" charset="0"/>
            </a:endParaRPr>
          </a:p>
        </p:txBody>
      </p:sp>
      <p:sp>
        <p:nvSpPr>
          <p:cNvPr id="12" name="Text 9"/>
          <p:cNvSpPr/>
          <p:nvPr/>
        </p:nvSpPr>
        <p:spPr>
          <a:xfrm>
            <a:off x="609600" y="3632200"/>
            <a:ext cx="6604000" cy="304800"/>
          </a:xfrm>
          <a:prstGeom prst="rect">
            <a:avLst/>
          </a:prstGeom>
          <a:noFill/>
          <a:ln/>
        </p:spPr>
        <p:txBody>
          <a:bodyPr wrap="square" lIns="0" tIns="0" rIns="0" bIns="0" rtlCol="0" anchor="t">
            <a:noAutofit/>
          </a:bodyPr>
          <a:lstStyle/>
          <a:p>
            <a:pPr marL="0" indent="0" algn="l">
              <a:lnSpc>
                <a:spcPts val="1820"/>
              </a:lnSpc>
              <a:buNone/>
            </a:pPr>
            <a:r>
              <a:rPr lang="en-US" sz="1500" dirty="0">
                <a:solidFill>
                  <a:srgbClr val="1E5BD8"/>
                </a:solidFill>
                <a:latin typeface="Arial" panose="020B0604020202020204" pitchFamily="34" charset="0"/>
                <a:ea typeface="Be Vietnam Pro" pitchFamily="34" charset="-122"/>
                <a:cs typeface="Be Vietnam Pro" pitchFamily="34" charset="-120"/>
              </a:rPr>
              <a:t>[đường dẫn YouTube rút gọn]</a:t>
            </a:r>
            <a:endParaRPr lang="en-US" sz="1500" dirty="0">
              <a:latin typeface="Arial" panose="020B0604020202020204" pitchFamily="34" charset="0"/>
            </a:endParaRPr>
          </a:p>
        </p:txBody>
      </p:sp>
      <p:sp>
        <p:nvSpPr>
          <p:cNvPr id="13" name="Text 10"/>
          <p:cNvSpPr/>
          <p:nvPr/>
        </p:nvSpPr>
        <p:spPr>
          <a:xfrm>
            <a:off x="609600" y="4292600"/>
            <a:ext cx="6604000" cy="304800"/>
          </a:xfrm>
          <a:prstGeom prst="rect">
            <a:avLst/>
          </a:prstGeom>
          <a:noFill/>
          <a:ln/>
        </p:spPr>
        <p:txBody>
          <a:bodyPr wrap="square" lIns="0" tIns="0" rIns="0" bIns="0" rtlCol="0" anchor="t">
            <a:noAutofit/>
          </a:bodyPr>
          <a:lstStyle/>
          <a:p>
            <a:pPr marL="0" indent="0" algn="l">
              <a:lnSpc>
                <a:spcPts val="1680"/>
              </a:lnSpc>
              <a:buNone/>
            </a:pPr>
            <a:r>
              <a:rPr lang="en-US" sz="1700" b="1" dirty="0">
                <a:solidFill>
                  <a:srgbClr val="000054"/>
                </a:solidFill>
                <a:latin typeface="Arial" panose="020B0604020202020204" pitchFamily="34" charset="0"/>
                <a:ea typeface="Be Vietnam Pro" pitchFamily="34" charset="-122"/>
                <a:cs typeface="Be Vietnam Pro" pitchFamily="34" charset="-120"/>
              </a:rPr>
              <a:t>Minh chứng (Google Drive)</a:t>
            </a:r>
            <a:endParaRPr lang="en-US" sz="1700" b="1" dirty="0">
              <a:solidFill>
                <a:srgbClr val="000054"/>
              </a:solidFill>
              <a:latin typeface="Arial" panose="020B0604020202020204" pitchFamily="34" charset="0"/>
            </a:endParaRPr>
          </a:p>
        </p:txBody>
      </p:sp>
      <p:sp>
        <p:nvSpPr>
          <p:cNvPr id="14" name="Text 11"/>
          <p:cNvSpPr/>
          <p:nvPr/>
        </p:nvSpPr>
        <p:spPr>
          <a:xfrm>
            <a:off x="609600" y="4622800"/>
            <a:ext cx="6604000" cy="304800"/>
          </a:xfrm>
          <a:prstGeom prst="rect">
            <a:avLst/>
          </a:prstGeom>
          <a:noFill/>
          <a:ln/>
        </p:spPr>
        <p:txBody>
          <a:bodyPr wrap="square" lIns="0" tIns="0" rIns="0" bIns="0" rtlCol="0" anchor="t">
            <a:noAutofit/>
          </a:bodyPr>
          <a:lstStyle/>
          <a:p>
            <a:pPr marL="0" indent="0" algn="l">
              <a:lnSpc>
                <a:spcPts val="1820"/>
              </a:lnSpc>
              <a:buNone/>
            </a:pPr>
            <a:r>
              <a:rPr lang="en-US" sz="1500" dirty="0">
                <a:solidFill>
                  <a:srgbClr val="1E5BD8"/>
                </a:solidFill>
                <a:latin typeface="Arial" panose="020B0604020202020204" pitchFamily="34" charset="0"/>
                <a:ea typeface="Be Vietnam Pro" pitchFamily="34" charset="-122"/>
                <a:cs typeface="Be Vietnam Pro" pitchFamily="34" charset="-120"/>
              </a:rPr>
              <a:t>[ảnh lớp học, bảng kết quả CSV, phiếu khảo sát]</a:t>
            </a:r>
            <a:endParaRPr lang="en-US" sz="1500" dirty="0">
              <a:latin typeface="Arial" panose="020B0604020202020204" pitchFamily="34" charset="0"/>
            </a:endParaRPr>
          </a:p>
        </p:txBody>
      </p:sp>
      <p:sp>
        <p:nvSpPr>
          <p:cNvPr id="15" name="Shape 12"/>
          <p:cNvSpPr/>
          <p:nvPr/>
        </p:nvSpPr>
        <p:spPr>
          <a:xfrm>
            <a:off x="7620000" y="1270000"/>
            <a:ext cx="3962400" cy="3606800"/>
          </a:xfrm>
          <a:prstGeom prst="roundRect">
            <a:avLst>
              <a:gd name="adj" fmla="val 3228"/>
            </a:avLst>
          </a:prstGeom>
          <a:solidFill>
            <a:srgbClr val="EEF3FC"/>
          </a:solidFill>
          <a:ln/>
        </p:spPr>
      </p:sp>
      <p:pic>
        <p:nvPicPr>
          <p:cNvPr id="16" name="Image 1" descr="Màn hình trạm học Danh từ với phần Ghi nhớ và ba mức luyện tập"/>
          <p:cNvPicPr>
            <a:picLocks noChangeAspect="1"/>
          </p:cNvPicPr>
          <p:nvPr/>
        </p:nvPicPr>
        <p:blipFill>
          <a:blip r:embed="rId5"/>
          <a:srcRect l="72" r="72"/>
          <a:stretch/>
        </p:blipFill>
        <p:spPr>
          <a:xfrm>
            <a:off x="7823201" y="1473200"/>
            <a:ext cx="3550891" cy="2222500"/>
          </a:xfrm>
          <a:prstGeom prst="roundRect">
            <a:avLst>
              <a:gd name="adj" fmla="val 3448"/>
            </a:avLst>
          </a:prstGeom>
        </p:spPr>
      </p:pic>
      <p:sp>
        <p:nvSpPr>
          <p:cNvPr id="17" name="Text 13"/>
          <p:cNvSpPr/>
          <p:nvPr/>
        </p:nvSpPr>
        <p:spPr>
          <a:xfrm>
            <a:off x="7823200" y="3835400"/>
            <a:ext cx="3556000" cy="889000"/>
          </a:xfrm>
          <a:prstGeom prst="rect">
            <a:avLst/>
          </a:prstGeom>
          <a:noFill/>
          <a:ln/>
        </p:spPr>
        <p:txBody>
          <a:bodyPr wrap="square" lIns="0" tIns="0" rIns="0" bIns="0" rtlCol="0" anchor="t">
            <a:noAutofit/>
          </a:bodyPr>
          <a:lstStyle/>
          <a:p>
            <a:pPr marL="0" indent="0" algn="l">
              <a:lnSpc>
                <a:spcPts val="1740"/>
              </a:lnSpc>
              <a:buNone/>
            </a:pPr>
            <a:r>
              <a:rPr lang="en-US" sz="1500" dirty="0">
                <a:solidFill>
                  <a:srgbClr val="1B1F3B"/>
                </a:solidFill>
                <a:latin typeface="Arial" panose="020B0604020202020204" pitchFamily="34" charset="0"/>
                <a:ea typeface="Be Vietnam Pro" pitchFamily="34" charset="-122"/>
                <a:cs typeface="Be Vietnam Pro" pitchFamily="34" charset="-120"/>
              </a:rPr>
              <a:t>Các đường dẫn được chia sẻ ở chế độ công khai và rút gọn bằng tinyurl/bitly.</a:t>
            </a:r>
            <a:endParaRPr lang="en-US" sz="1500" dirty="0">
              <a:solidFill>
                <a:srgbClr val="1B1F3B"/>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54"/>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25019" b="25019"/>
          <a:stretch/>
        </p:blipFill>
        <p:spPr>
          <a:xfrm>
            <a:off x="0" y="0"/>
            <a:ext cx="12192000" cy="6858000"/>
          </a:xfrm>
          <a:prstGeom prst="rect">
            <a:avLst/>
          </a:prstGeom>
        </p:spPr>
      </p:pic>
      <p:pic>
        <p:nvPicPr>
          <p:cNvPr id="3" name="Image 1" descr="Giải thưởng Tiên phong ứng dụng AI trong giáo dục Việt Nam 2026"/>
          <p:cNvPicPr>
            <a:picLocks noChangeAspect="1"/>
          </p:cNvPicPr>
          <p:nvPr/>
        </p:nvPicPr>
        <p:blipFill>
          <a:blip r:embed="rId4"/>
          <a:srcRect t="4" b="4"/>
          <a:stretch/>
        </p:blipFill>
        <p:spPr>
          <a:xfrm>
            <a:off x="0" y="0"/>
            <a:ext cx="12192000" cy="1917700"/>
          </a:xfrm>
          <a:prstGeom prst="rect">
            <a:avLst/>
          </a:prstGeom>
        </p:spPr>
      </p:pic>
      <p:sp>
        <p:nvSpPr>
          <p:cNvPr id="4" name="Text 0"/>
          <p:cNvSpPr>
            <a:spLocks noGrp="1"/>
          </p:cNvSpPr>
          <p:nvPr>
            <p:ph type="title"/>
          </p:nvPr>
        </p:nvSpPr>
        <p:spPr>
          <a:xfrm>
            <a:off x="445008" y="2984500"/>
            <a:ext cx="11301984" cy="695960"/>
          </a:xfrm>
          <a:prstGeom prst="rect">
            <a:avLst/>
          </a:prstGeom>
          <a:noFill/>
          <a:ln/>
        </p:spPr>
        <p:txBody>
          <a:bodyPr wrap="square" lIns="0" tIns="0" rIns="0" bIns="0" rtlCol="0" anchor="t">
            <a:normAutofit/>
          </a:bodyPr>
          <a:lstStyle/>
          <a:p>
            <a:pPr marL="0" indent="0" algn="ctr">
              <a:lnSpc>
                <a:spcPts val="5280"/>
              </a:lnSpc>
              <a:buNone/>
            </a:pPr>
            <a:r>
              <a:rPr lang="en-US" sz="4800" b="1" i="0" dirty="0">
                <a:solidFill>
                  <a:srgbClr val="FFFFFF"/>
                </a:solidFill>
                <a:latin typeface="Arial" panose="020B0604020202020204" pitchFamily="34" charset="0"/>
                <a:ea typeface="Be Vietnam Pro" pitchFamily="34" charset="-122"/>
                <a:cs typeface="Be Vietnam Pro" pitchFamily="34" charset="-120"/>
              </a:rPr>
              <a:t>TRÂN TRỌNG CẢM ƠN!</a:t>
            </a:r>
            <a:endParaRPr lang="en-US" sz="4800" dirty="0">
              <a:latin typeface="Arial" panose="020B0604020202020204" pitchFamily="34" charset="0"/>
            </a:endParaRPr>
          </a:p>
        </p:txBody>
      </p:sp>
      <p:sp>
        <p:nvSpPr>
          <p:cNvPr id="5" name="Text 1"/>
          <p:cNvSpPr/>
          <p:nvPr/>
        </p:nvSpPr>
        <p:spPr>
          <a:xfrm>
            <a:off x="445008" y="3810000"/>
            <a:ext cx="11301984" cy="322580"/>
          </a:xfrm>
          <a:prstGeom prst="rect">
            <a:avLst/>
          </a:prstGeom>
          <a:noFill/>
          <a:ln/>
        </p:spPr>
        <p:txBody>
          <a:bodyPr wrap="square" lIns="0" tIns="0" rIns="0" bIns="0" rtlCol="0" anchor="t">
            <a:normAutofit/>
          </a:bodyPr>
          <a:lstStyle/>
          <a:p>
            <a:pPr marL="0" indent="0" algn="ctr">
              <a:lnSpc>
                <a:spcPts val="2340"/>
              </a:lnSpc>
              <a:buNone/>
            </a:pPr>
            <a:r>
              <a:rPr lang="en-US" sz="1800" b="1" dirty="0">
                <a:solidFill>
                  <a:srgbClr val="FFEA00"/>
                </a:solidFill>
                <a:latin typeface="Arial" panose="020B0604020202020204" pitchFamily="34" charset="0"/>
                <a:ea typeface="Be Vietnam Pro" pitchFamily="34" charset="-122"/>
                <a:cs typeface="Be Vietnam Pro" pitchFamily="34" charset="-120"/>
              </a:rPr>
              <a:t>Vương quốc Từ hay – Câu đẹp Lớp 4</a:t>
            </a:r>
            <a:endParaRPr lang="en-US" sz="1800" dirty="0">
              <a:latin typeface="Arial" panose="020B0604020202020204" pitchFamily="34" charset="0"/>
            </a:endParaRPr>
          </a:p>
        </p:txBody>
      </p:sp>
      <p:sp>
        <p:nvSpPr>
          <p:cNvPr id="6" name="Text 2"/>
          <p:cNvSpPr/>
          <p:nvPr/>
        </p:nvSpPr>
        <p:spPr>
          <a:xfrm>
            <a:off x="445008" y="4191000"/>
            <a:ext cx="11301984" cy="27432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FFFFFF"/>
                </a:solidFill>
                <a:latin typeface="Arial" panose="020B0604020202020204" pitchFamily="34" charset="0"/>
                <a:ea typeface="Be Vietnam Pro" pitchFamily="34" charset="-122"/>
                <a:cs typeface="Be Vietnam Pro" pitchFamily="34" charset="-120"/>
              </a:rPr>
              <a:t>Phạm Thị Thùy Dung · Trường Tiểu học Huỳnh Ngọc Huệ, Đà Nẵng</a:t>
            </a:r>
            <a:endParaRPr lang="en-US" sz="14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Vương quốc Từ hay – Câu đẹp Lớp 4">
  <a:themeElements>
    <a:clrScheme name="Vương quốc Từ hay – Câu đẹp Lớp 4">
      <a:dk1>
        <a:srgbClr val="000054"/>
      </a:dk1>
      <a:lt1>
        <a:srgbClr val="FFFFFF"/>
      </a:lt1>
      <a:dk2>
        <a:srgbClr val="40407F"/>
      </a:dk2>
      <a:lt2>
        <a:srgbClr val="E6E6EE"/>
      </a:lt2>
      <a:accent1>
        <a:srgbClr val="1E5BD8"/>
      </a:accent1>
      <a:accent2>
        <a:srgbClr val="FFEA00"/>
      </a:accent2>
      <a:accent3>
        <a:srgbClr val="E61E2A"/>
      </a:accent3>
      <a:accent4>
        <a:srgbClr val="12207A"/>
      </a:accent4>
      <a:accent5>
        <a:srgbClr val="3A4170"/>
      </a:accent5>
      <a:accent6>
        <a:srgbClr val="4A5072"/>
      </a:accent6>
      <a:hlink>
        <a:srgbClr val="0563C1"/>
      </a:hlink>
      <a:folHlink>
        <a:srgbClr val="954F72"/>
      </a:folHlink>
    </a:clrScheme>
    <a:fontScheme name="Vương quốc Từ hay – Câu đẹp Lớp 4">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1852</Words>
  <Application>Microsoft Office PowerPoint</Application>
  <PresentationFormat>Widescreen</PresentationFormat>
  <Paragraphs>180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Be Vietnam Pro</vt:lpstr>
      <vt:lpstr>Arial</vt:lpstr>
      <vt:lpstr>Vương quốc Từ hay – Câu đẹp Lớp 4</vt:lpstr>
      <vt:lpstr>VƯƠNG QUỐC TỪ HAY – CÂU ĐẸP LỚP 4</vt:lpstr>
      <vt:lpstr>DÀN Ý SLIDE</vt:lpstr>
      <vt:lpstr>BỐI CẢNH VÀ VẤN ĐỀ</vt:lpstr>
      <vt:lpstr>Ý TƯỞNG VÀ GIẢI PHÁP</vt:lpstr>
      <vt:lpstr>SẢN PHẨM: GÓC HỌC SINH</vt:lpstr>
      <vt:lpstr>PHẢN HỒI TỨC THÌ VÀ THÁM TỬ AI</vt:lpstr>
      <vt:lpstr>TRỢ LÝ AI CHO GIÁO VIÊN</vt:lpstr>
      <vt:lpstr>ĐẠO ĐỨC VÀ TRÁCH NHIỆM KHI DÙNG AI</vt:lpstr>
      <vt:lpstr>TRIỂN KHAI THỰC TẾ</vt:lpstr>
      <vt:lpstr>KẾT QUẢ VÀ TÁC ĐỘNG</vt:lpstr>
      <vt:lpstr>THẢO LUẬN VÀ TỔNG KẾT</vt:lpstr>
      <vt:lpstr>TÀI LIỆU / THÔNG TIN ĐÍNH KÈM</vt:lpstr>
      <vt:lpstr>TRÂN TRỌNG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Vương quốc Từ hay – Câu đẹp Lớp 4</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Hieu Tran</cp:lastModifiedBy>
  <cp:revision>4</cp:revision>
  <dcterms:created xsi:type="dcterms:W3CDTF">2026-10-23T04:34:42Z</dcterms:created>
  <dcterms:modified xsi:type="dcterms:W3CDTF">2026-10-23T14:17:09Z</dcterms:modified>
</cp:coreProperties>
</file>