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Be Vietnam Pro"/>
      <p:regular r:id="rId201314"/>
    </p:embeddedFont>
    <p:embeddedFont>
      <p:font typeface="Be Vietnam Pro SemiBold"/>
      <p:regular r:id="rId201315"/>
    </p:embeddedFont>
    <p:embeddedFont>
      <p:font typeface="Be Vietnam Pro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chào Ban giám khảo. Em/tôi là Phạm Thị Thùy Dung, giáo viên chủ nhiệm lớp 4, Trường Tiểu học Huỳnh Ngọc Huệ, Đà Nẵng. Sản phẩm dự thi: Vương quốc Từ hay – Câu đẹp Lớp 4, ứng dụng ôn luyện phân môn Luyện từ và câu, chủ đề "Lớp học số tích hợp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10 phần, đi từ vấn đề thực tế của lớp, ý tưởng dùng AI, sản phẩm, cách triển khai đến kết quả và hướng phát triển.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vấn đề thực tế của lớp. Cô thay các ô [__] bằng số liệu thật của lớp (sĩ số, tỉ lệ học sinh nhầm từ loại) và một câu chuyện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Ý tưởng cốt lõi: học sinh luyện tập không qua AI, AI chỉ đứng sau hỗ trợ giáo viên, mọi nội dung AI tạo ra đều được cô duyệt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học sinh: 35 trạm theo 35 tuần, mỗi trạm có phần Ghi nhớ, Mẹo nhỏ và ba mức luyện tập. Học sinh chỉ nhập họ tên, lớp; không cần tài khoản.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Dạng bài Thám tử AI giúp học sinh hiểu AI có thể sai và hình thành thói quen kiểm tra lại, một kĩ năng sử dụng AI có trách nhiệm ngay từ tiểu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Trợ lý AI chạy bằng tài khoản Claude của cô, chỉ khi cô mở ứng dụng trong Claude. Kèm theo là bảng Kết quả lớp theo từng chủ điểm và nút tải bảng kết quả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nguyên tắc giúp sử dụng AI an toàn, chính xác và có trách nhiệm trong lớp tiểu học.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tả vòng luyện tập hằng tuần. Cô điền thời gian triển khai và số học sinh thực tế vào các ô [__].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 điền số liệu thật từ bảng Kết quả lớp (tải CSV trong Góc giáo viên), bảng khảo sát và phản hồi của học sinh, phụ huynh.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54"/>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1917700"/>
          </a:xfrm>
          <a:prstGeom prst="rect">
            <a:avLst/>
          </a:prstGeom>
        </p:spPr>
      </p:pic>
      <p:sp>
        <p:nvSpPr>
          <p:cNvPr id="3" name="Text 0"/>
          <p:cNvSpPr/>
          <p:nvPr/>
        </p:nvSpPr>
        <p:spPr>
          <a:xfrm>
            <a:off x="444985" y="2522379"/>
            <a:ext cx="11301626" cy="530820"/>
          </a:xfrm>
          <a:prstGeom prst="rect">
            <a:avLst/>
          </a:prstGeom>
          <a:noFill/>
          <a:ln/>
        </p:spPr>
        <p:txBody>
          <a:bodyPr wrap="none" lIns="0" tIns="0" rIns="0" bIns="0" rtlCol="0" anchor="t"/>
          <a:lstStyle/>
          <a:p>
            <a:pPr algn="ctr" indent="0" marL="0">
              <a:lnSpc>
                <a:spcPct val="92000"/>
              </a:lnSpc>
              <a:buNone/>
            </a:pPr>
            <a:r>
              <a:rPr lang="en-US" sz="3800" b="1" dirty="0">
                <a:solidFill>
                  <a:srgbClr val="000054"/>
                </a:solidFill>
                <a:latin typeface="Be Vietnam Pro Bold" pitchFamily="34" charset="0"/>
                <a:ea typeface="Be Vietnam Pro Bold" pitchFamily="34" charset="-122"/>
                <a:cs typeface="Be Vietnam Pro Bold" pitchFamily="34" charset="0"/>
              </a:rPr>
              <a:t>VƯƠNG QUỐC TỪ HAY – CÂU ĐẸP LỚP 4</a:t>
            </a:r>
            <a:endParaRPr lang="en-US" sz="3800" dirty="0"/>
          </a:p>
        </p:txBody>
      </p:sp>
      <p:sp>
        <p:nvSpPr>
          <p:cNvPr id="4" name="Text 1"/>
          <p:cNvSpPr/>
          <p:nvPr/>
        </p:nvSpPr>
        <p:spPr>
          <a:xfrm>
            <a:off x="140193" y="3177858"/>
            <a:ext cx="11911211" cy="274241"/>
          </a:xfrm>
          <a:prstGeom prst="rect">
            <a:avLst/>
          </a:prstGeom>
          <a:noFill/>
          <a:ln/>
        </p:spPr>
        <p:txBody>
          <a:bodyPr wrap="none" lIns="0" tIns="0" rIns="0" bIns="0" rtlCol="0" anchor="t"/>
          <a:lstStyle/>
          <a:p>
            <a:pPr algn="ctr" indent="0" marL="0">
              <a:lnSpc>
                <a:spcPct val="113000"/>
              </a:lnSpc>
              <a:buNone/>
            </a:pPr>
            <a:r>
              <a:rPr lang="en-US" sz="1600" dirty="0">
                <a:solidFill>
                  <a:srgbClr val="3A4170"/>
                </a:solidFill>
                <a:latin typeface="Be Vietnam Pro" pitchFamily="34" charset="0"/>
                <a:ea typeface="Be Vietnam Pro" pitchFamily="34" charset="-122"/>
                <a:cs typeface="Be Vietnam Pro" pitchFamily="34" charset="0"/>
              </a:rPr>
              <a:t>Ứng dụng ôn luyện </a:t>
            </a:r>
            <a:pPr algn="ctr" indent="0" marL="0">
              <a:lnSpc>
                <a:spcPct val="113000"/>
              </a:lnSpc>
              <a:buNone/>
            </a:pPr>
            <a:r>
              <a:rPr lang="en-US" sz="1600" b="1" dirty="0">
                <a:solidFill>
                  <a:srgbClr val="1E5BD8"/>
                </a:solidFill>
                <a:latin typeface="Be Vietnam Pro Bold" pitchFamily="34" charset="0"/>
                <a:ea typeface="Be Vietnam Pro Bold" pitchFamily="34" charset="-122"/>
                <a:cs typeface="Be Vietnam Pro Bold" pitchFamily="34" charset="0"/>
              </a:rPr>
              <a:t>Luyện từ và câu – Tiếng Việt 4</a:t>
            </a:r>
            <a:pPr algn="ctr" indent="0" marL="0">
              <a:lnSpc>
                <a:spcPct val="113000"/>
              </a:lnSpc>
              <a:buNone/>
            </a:pPr>
            <a:r>
              <a:rPr lang="en-US" sz="1600" dirty="0">
                <a:solidFill>
                  <a:srgbClr val="3A4170"/>
                </a:solidFill>
                <a:latin typeface="Be Vietnam Pro" pitchFamily="34" charset="0"/>
                <a:ea typeface="Be Vietnam Pro" pitchFamily="34" charset="-122"/>
                <a:cs typeface="Be Vietnam Pro" pitchFamily="34" charset="0"/>
              </a:rPr>
              <a:t> (Kết nối tri thức) có trợ lý AI cho giáo viên</a:t>
            </a:r>
            <a:endParaRPr lang="en-US" sz="1600" dirty="0"/>
          </a:p>
        </p:txBody>
      </p:sp>
      <p:pic>
        <p:nvPicPr>
          <p:cNvPr id="5" name="Image 1" descr="preencoded.png">    </p:cNvPr>
          <p:cNvPicPr>
            <a:picLocks noChangeAspect="1"/>
          </p:cNvPicPr>
          <p:nvPr/>
        </p:nvPicPr>
        <p:blipFill>
          <a:blip r:embed="rId2"/>
          <a:stretch>
            <a:fillRect/>
          </a:stretch>
        </p:blipFill>
        <p:spPr>
          <a:xfrm>
            <a:off x="685783" y="4165600"/>
            <a:ext cx="10820129" cy="2006600"/>
          </a:xfrm>
          <a:prstGeom prst="rect">
            <a:avLst/>
          </a:prstGeom>
        </p:spPr>
      </p:pic>
      <p:pic>
        <p:nvPicPr>
          <p:cNvPr id="6" name="Image 2" descr="preencoded.png">    </p:cNvPr>
          <p:cNvPicPr>
            <a:picLocks noChangeAspect="1"/>
          </p:cNvPicPr>
          <p:nvPr/>
        </p:nvPicPr>
        <p:blipFill>
          <a:blip r:embed="rId3"/>
          <a:stretch>
            <a:fillRect/>
          </a:stretch>
        </p:blipFill>
        <p:spPr>
          <a:xfrm>
            <a:off x="356186" y="3784600"/>
            <a:ext cx="1116381" cy="1250950"/>
          </a:xfrm>
          <a:prstGeom prst="rect">
            <a:avLst/>
          </a:prstGeom>
        </p:spPr>
      </p:pic>
      <p:pic>
        <p:nvPicPr>
          <p:cNvPr id="7" name="Image 3" descr="preencoded.png">    </p:cNvPr>
          <p:cNvPicPr>
            <a:picLocks noChangeAspect="1"/>
          </p:cNvPicPr>
          <p:nvPr/>
        </p:nvPicPr>
        <p:blipFill>
          <a:blip r:embed="rId4"/>
          <a:stretch>
            <a:fillRect/>
          </a:stretch>
        </p:blipFill>
        <p:spPr>
          <a:xfrm>
            <a:off x="3073323" y="4648200"/>
            <a:ext cx="965176" cy="965200"/>
          </a:xfrm>
          <a:prstGeom prst="rect">
            <a:avLst/>
          </a:prstGeom>
        </p:spPr>
      </p:pic>
      <p:sp>
        <p:nvSpPr>
          <p:cNvPr id="8" name="Shape 2"/>
          <p:cNvSpPr/>
          <p:nvPr/>
        </p:nvSpPr>
        <p:spPr>
          <a:xfrm>
            <a:off x="5587860" y="4165600"/>
            <a:ext cx="5918052" cy="2006600"/>
          </a:xfrm>
          <a:prstGeom prst="roundRect">
            <a:avLst>
              <a:gd name="adj" fmla="val 6076"/>
            </a:avLst>
          </a:prstGeom>
          <a:solidFill>
            <a:srgbClr val="FFFFFF"/>
          </a:solidFill>
          <a:ln w="12700">
            <a:solidFill>
              <a:srgbClr val="E3E8F4"/>
            </a:solidFill>
            <a:prstDash val="solid"/>
          </a:ln>
        </p:spPr>
      </p:sp>
      <p:sp>
        <p:nvSpPr>
          <p:cNvPr id="9" name="Text 3"/>
          <p:cNvSpPr/>
          <p:nvPr/>
        </p:nvSpPr>
        <p:spPr>
          <a:xfrm>
            <a:off x="5778355" y="4305300"/>
            <a:ext cx="5537061" cy="1674713"/>
          </a:xfrm>
          <a:prstGeom prst="rect">
            <a:avLst/>
          </a:prstGeom>
          <a:noFill/>
          <a:ln/>
        </p:spPr>
        <p:txBody>
          <a:bodyPr wrap="square" lIns="0" tIns="0" rIns="0" bIns="0" rtlCol="0" anchor="t">
            <a:normAutofit/>
          </a:bodyPr>
          <a:lstStyle/>
          <a:p>
            <a:pPr algn="l" indent="0" marL="0">
              <a:lnSpc>
                <a:spcPct val="117000"/>
              </a:lnSpc>
              <a:buNone/>
            </a:pPr>
            <a:r>
              <a:rPr lang="en-US" sz="1400" b="1" dirty="0">
                <a:solidFill>
                  <a:srgbClr val="000000"/>
                </a:solidFill>
                <a:latin typeface="Be Vietnam Pro Bold" pitchFamily="34" charset="0"/>
                <a:ea typeface="Be Vietnam Pro Bold" pitchFamily="34" charset="-122"/>
                <a:cs typeface="Be Vietnam Pro Bold" pitchFamily="34" charset="0"/>
              </a:rPr>
              <a:t>Giáo viên thực hiện</a:t>
            </a:r>
            <a:endParaRPr lang="en-US" sz="1300" dirty="0"/>
          </a:p>
          <a:p>
            <a:pPr algn="l" indent="0" marL="0">
              <a:lnSpc>
                <a:spcPct val="117000"/>
              </a:lnSpc>
              <a:buNone/>
            </a:pPr>
            <a:r>
              <a:rPr lang="en-US" sz="1300" b="1" dirty="0">
                <a:solidFill>
                  <a:srgbClr val="1E5BD8"/>
                </a:solidFill>
                <a:latin typeface="Be Vietnam Pro Bold" pitchFamily="34" charset="0"/>
                <a:ea typeface="Be Vietnam Pro Bold" pitchFamily="34" charset="-122"/>
                <a:cs typeface="Be Vietnam Pro Bold" pitchFamily="34" charset="0"/>
              </a:rPr>
              <a:t>Phạm Thị Thùy Dung</a:t>
            </a:r>
            <a:endParaRPr lang="en-US" sz="1300" dirty="0"/>
          </a:p>
          <a:p>
            <a:pPr algn="l" indent="0" marL="0">
              <a:lnSpc>
                <a:spcPct val="117000"/>
              </a:lnSpc>
              <a:buNone/>
            </a:pPr>
            <a:r>
              <a:rPr lang="en-US" sz="1400" b="1" dirty="0">
                <a:solidFill>
                  <a:srgbClr val="000000"/>
                </a:solidFill>
                <a:latin typeface="Be Vietnam Pro Bold" pitchFamily="34" charset="0"/>
                <a:ea typeface="Be Vietnam Pro Bold" pitchFamily="34" charset="-122"/>
                <a:cs typeface="Be Vietnam Pro Bold" pitchFamily="34" charset="0"/>
              </a:rPr>
              <a:t>Đơn vị công tác:</a:t>
            </a:r>
            <a:endParaRPr lang="en-US" sz="1300" dirty="0"/>
          </a:p>
          <a:p>
            <a:pPr algn="l" indent="0" marL="0">
              <a:lnSpc>
                <a:spcPct val="117000"/>
              </a:lnSpc>
              <a:buNone/>
            </a:pPr>
            <a:r>
              <a:rPr lang="en-US" sz="1300" dirty="0">
                <a:solidFill>
                  <a:srgbClr val="000000"/>
                </a:solidFill>
                <a:latin typeface="Be Vietnam Pro" pitchFamily="34" charset="0"/>
                <a:ea typeface="Be Vietnam Pro" pitchFamily="34" charset="-122"/>
                <a:cs typeface="Be Vietnam Pro" pitchFamily="34" charset="0"/>
              </a:rPr>
              <a:t>Trường Tiểu học Huỳnh Ngọc Huệ</a:t>
            </a:r>
            <a:endParaRPr lang="en-US" sz="1300" dirty="0"/>
          </a:p>
          <a:p>
            <a:pPr algn="l" indent="0" marL="0">
              <a:lnSpc>
                <a:spcPct val="117000"/>
              </a:lnSpc>
              <a:buNone/>
            </a:pPr>
            <a:r>
              <a:rPr lang="en-US" sz="1300" dirty="0">
                <a:solidFill>
                  <a:srgbClr val="000000"/>
                </a:solidFill>
                <a:latin typeface="Be Vietnam Pro" pitchFamily="34" charset="0"/>
                <a:ea typeface="Be Vietnam Pro" pitchFamily="34" charset="-122"/>
                <a:cs typeface="Be Vietnam Pro" pitchFamily="34" charset="0"/>
              </a:rPr>
              <a:t>158 Hà Huy Tập, phường Thanh Khê, thành phố Đà Nẵng</a:t>
            </a:r>
            <a:endParaRPr lang="en-US" sz="1300" dirty="0"/>
          </a:p>
          <a:p>
            <a:pPr algn="l" indent="0" marL="0">
              <a:lnSpc>
                <a:spcPct val="117000"/>
              </a:lnSpc>
              <a:buNone/>
            </a:pPr>
            <a:r>
              <a:rPr lang="en-US" sz="1400" b="1" dirty="0">
                <a:solidFill>
                  <a:srgbClr val="000000"/>
                </a:solidFill>
                <a:latin typeface="Be Vietnam Pro Bold" pitchFamily="34" charset="0"/>
                <a:ea typeface="Be Vietnam Pro Bold" pitchFamily="34" charset="-122"/>
                <a:cs typeface="Be Vietnam Pro Bold" pitchFamily="34" charset="0"/>
              </a:rPr>
              <a:t>Email:</a:t>
            </a:r>
            <a:endParaRPr lang="en-US" sz="1300" dirty="0"/>
          </a:p>
          <a:p>
            <a:pPr algn="l" indent="0" marL="0">
              <a:lnSpc>
                <a:spcPct val="117000"/>
              </a:lnSpc>
              <a:buNone/>
            </a:pPr>
            <a:r>
              <a:rPr lang="en-US" sz="1300" dirty="0">
                <a:solidFill>
                  <a:srgbClr val="000000"/>
                </a:solidFill>
                <a:latin typeface="Be Vietnam Pro" pitchFamily="34" charset="0"/>
                <a:ea typeface="Be Vietnam Pro" pitchFamily="34" charset="-122"/>
                <a:cs typeface="Be Vietnam Pro" pitchFamily="34" charset="0"/>
              </a:rPr>
              <a:t>phamthithuydung@gmail.com</a:t>
            </a:r>
            <a:endParaRPr lang="en-US" sz="1300" dirty="0"/>
          </a:p>
        </p:txBody>
      </p:sp>
      <p:sp>
        <p:nvSpPr>
          <p:cNvPr id="10" name="Shape 4"/>
          <p:cNvSpPr/>
          <p:nvPr/>
        </p:nvSpPr>
        <p:spPr>
          <a:xfrm>
            <a:off x="3060623" y="4635500"/>
            <a:ext cx="990575" cy="990600"/>
          </a:xfrm>
          <a:prstGeom prst="ellipse">
            <a:avLst/>
          </a:prstGeom>
          <a:noFill/>
          <a:ln w="25399">
            <a:solidFill>
              <a:srgbClr val="FFEA0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5848" cy="6858000"/>
          </a:xfrm>
          <a:prstGeom prst="rect">
            <a:avLst/>
          </a:prstGeom>
        </p:spPr>
      </p:pic>
      <p:sp>
        <p:nvSpPr>
          <p:cNvPr id="3" name="Shape 0"/>
          <p:cNvSpPr/>
          <p:nvPr/>
        </p:nvSpPr>
        <p:spPr>
          <a:xfrm>
            <a:off x="609585" y="952500"/>
            <a:ext cx="4876678" cy="4403130"/>
          </a:xfrm>
          <a:prstGeom prst="roundRect">
            <a:avLst>
              <a:gd name="adj" fmla="val 4122"/>
            </a:avLst>
          </a:prstGeom>
          <a:solidFill>
            <a:srgbClr val="FFFFFF"/>
          </a:solidFill>
          <a:ln/>
        </p:spPr>
      </p:sp>
      <p:sp>
        <p:nvSpPr>
          <p:cNvPr id="4" name="Shape 1"/>
          <p:cNvSpPr/>
          <p:nvPr/>
        </p:nvSpPr>
        <p:spPr>
          <a:xfrm>
            <a:off x="736582" y="4159250"/>
            <a:ext cx="4761289" cy="639961"/>
          </a:xfrm>
          <a:prstGeom prst="roundRect">
            <a:avLst>
              <a:gd name="adj" fmla="val 5358"/>
            </a:avLst>
          </a:prstGeom>
          <a:solidFill>
            <a:srgbClr val="FFFFFF"/>
          </a:solidFill>
          <a:ln/>
        </p:spPr>
      </p:sp>
      <p:sp>
        <p:nvSpPr>
          <p:cNvPr id="5" name="Text 2"/>
          <p:cNvSpPr/>
          <p:nvPr/>
        </p:nvSpPr>
        <p:spPr>
          <a:xfrm>
            <a:off x="736582" y="4163695"/>
            <a:ext cx="4761289" cy="426641"/>
          </a:xfrm>
          <a:prstGeom prst="rect">
            <a:avLst/>
          </a:prstGeom>
          <a:noFill/>
          <a:ln/>
        </p:spPr>
        <p:txBody>
          <a:bodyPr wrap="square" lIns="0" tIns="0" rIns="0" bIns="0" rtlCol="0" anchor="t">
            <a:normAutofit/>
          </a:bodyPr>
          <a:lstStyle/>
          <a:p>
            <a:pPr algn="l" indent="0" marL="0">
              <a:lnSpc>
                <a:spcPct val="100000"/>
              </a:lnSpc>
              <a:buNone/>
            </a:pPr>
            <a:r>
              <a:rPr lang="en-US" sz="1400" b="1" i="1" dirty="0">
                <a:solidFill>
                  <a:srgbClr val="000000"/>
                </a:solidFill>
                <a:latin typeface="Be Vietnam Pro Bold" pitchFamily="34" charset="0"/>
                <a:ea typeface="Be Vietnam Pro Bold" pitchFamily="34" charset="-122"/>
                <a:cs typeface="Be Vietnam Pro Bold" pitchFamily="34" charset="0"/>
              </a:rPr>
              <a:t>Màn hình khởi động: học sinh nhập họ tên, lớp và bước vào hành trình qua ba chặng:</a:t>
            </a:r>
            <a:endParaRPr lang="en-US" sz="1400" dirty="0"/>
          </a:p>
        </p:txBody>
      </p:sp>
      <p:sp>
        <p:nvSpPr>
          <p:cNvPr id="6" name="Text 3"/>
          <p:cNvSpPr/>
          <p:nvPr/>
        </p:nvSpPr>
        <p:spPr>
          <a:xfrm>
            <a:off x="431789" y="4590336"/>
            <a:ext cx="5370874" cy="213320"/>
          </a:xfrm>
          <a:prstGeom prst="rect">
            <a:avLst/>
          </a:prstGeom>
          <a:noFill/>
          <a:ln/>
        </p:spPr>
        <p:txBody>
          <a:bodyPr wrap="none" lIns="0" tIns="0" rIns="0" bIns="0" rtlCol="0" anchor="t"/>
          <a:lstStyle/>
          <a:p>
            <a:pPr algn="ctr" indent="0" marL="0">
              <a:lnSpc>
                <a:spcPct val="100000"/>
              </a:lnSpc>
              <a:buNone/>
            </a:pPr>
            <a:r>
              <a:rPr lang="en-US" sz="1400" b="1" i="1" dirty="0">
                <a:solidFill>
                  <a:srgbClr val="000000"/>
                </a:solidFill>
                <a:latin typeface="Be Vietnam Pro Bold" pitchFamily="34" charset="0"/>
                <a:ea typeface="Be Vietnam Pro Bold" pitchFamily="34" charset="-122"/>
                <a:cs typeface="Be Vietnam Pro Bold" pitchFamily="34" charset="0"/>
              </a:rPr>
              <a:t>Khởi động – Tăng tốc – Chinh phục.</a:t>
            </a:r>
            <a:endParaRPr lang="en-US" sz="1400" dirty="0"/>
          </a:p>
        </p:txBody>
      </p:sp>
      <p:pic>
        <p:nvPicPr>
          <p:cNvPr id="7" name="Image 1" descr="preencoded.png">    </p:cNvPr>
          <p:cNvPicPr>
            <a:picLocks noChangeAspect="1"/>
          </p:cNvPicPr>
          <p:nvPr/>
        </p:nvPicPr>
        <p:blipFill>
          <a:blip r:embed="rId2"/>
          <a:stretch>
            <a:fillRect/>
          </a:stretch>
        </p:blipFill>
        <p:spPr>
          <a:xfrm>
            <a:off x="736582" y="1079500"/>
            <a:ext cx="4622684" cy="2889250"/>
          </a:xfrm>
          <a:prstGeom prst="rect">
            <a:avLst/>
          </a:prstGeom>
        </p:spPr>
      </p:pic>
      <p:sp>
        <p:nvSpPr>
          <p:cNvPr id="8" name="Text 4"/>
          <p:cNvSpPr/>
          <p:nvPr/>
        </p:nvSpPr>
        <p:spPr>
          <a:xfrm>
            <a:off x="6654634" y="636774"/>
            <a:ext cx="5101403" cy="419100"/>
          </a:xfrm>
          <a:prstGeom prst="rect">
            <a:avLst/>
          </a:prstGeom>
          <a:noFill/>
          <a:ln/>
        </p:spPr>
        <p:txBody>
          <a:bodyPr wrap="none" lIns="0" tIns="0" rIns="0" bIns="0" rtlCol="0" anchor="t"/>
          <a:lstStyle/>
          <a:p>
            <a:pPr algn="l" indent="0" marL="0">
              <a:lnSpc>
                <a:spcPct val="92000"/>
              </a:lnSpc>
              <a:buNone/>
            </a:pPr>
            <a:r>
              <a:rPr lang="en-US" sz="3000" b="1" dirty="0">
                <a:solidFill>
                  <a:srgbClr val="000054"/>
                </a:solidFill>
                <a:latin typeface="Be Vietnam Pro Bold" pitchFamily="34" charset="0"/>
                <a:ea typeface="Be Vietnam Pro Bold" pitchFamily="34" charset="-122"/>
                <a:cs typeface="Be Vietnam Pro Bold" pitchFamily="34" charset="0"/>
              </a:rPr>
              <a:t>DÀN Ý SLIDE</a:t>
            </a:r>
            <a:endParaRPr lang="en-US" sz="3000" dirty="0"/>
          </a:p>
        </p:txBody>
      </p:sp>
      <p:sp>
        <p:nvSpPr>
          <p:cNvPr id="9" name="Text 5"/>
          <p:cNvSpPr/>
          <p:nvPr/>
        </p:nvSpPr>
        <p:spPr>
          <a:xfrm>
            <a:off x="6588059" y="1420416"/>
            <a:ext cx="5109539" cy="4144367"/>
          </a:xfrm>
          <a:prstGeom prst="rect">
            <a:avLst/>
          </a:prstGeom>
          <a:noFill/>
          <a:ln/>
        </p:spPr>
        <p:txBody>
          <a:bodyPr wrap="square" lIns="0" tIns="0" rIns="0" bIns="0" rtlCol="0" anchor="t">
            <a:normAutofit/>
          </a:bodyPr>
          <a:lstStyle/>
          <a:p>
            <a:pPr algn="l" marL="325120" indent="-325120">
              <a:lnSpc>
                <a:spcPct val="170000"/>
              </a:lnSpc>
              <a:buSzPct val="100000"/>
              <a:buFont typeface="+mj-lt"/>
              <a:buAutoNum type="arabicPeriod" startAt="1"/>
            </a:pPr>
            <a:r>
              <a:rPr lang="en-US" sz="1600" dirty="0">
                <a:solidFill>
                  <a:srgbClr val="1B1F3B"/>
                </a:solidFill>
                <a:latin typeface="Be Vietnam Pro" pitchFamily="34" charset="0"/>
                <a:ea typeface="Be Vietnam Pro" pitchFamily="34" charset="-122"/>
                <a:cs typeface="Be Vietnam Pro" pitchFamily="34" charset="0"/>
              </a:rPr>
              <a:t>Bối cảnh và vấn đề</a:t>
            </a:r>
            <a:endParaRPr lang="en-US" sz="1600" dirty="0"/>
          </a:p>
          <a:p>
            <a:pPr algn="l" marL="325120" indent="-325120">
              <a:lnSpc>
                <a:spcPct val="170000"/>
              </a:lnSpc>
              <a:buSzPct val="100000"/>
              <a:buFont typeface="+mj-lt"/>
              <a:buAutoNum type="arabicPeriod" startAt="2"/>
            </a:pPr>
            <a:r>
              <a:rPr lang="en-US" sz="1600" dirty="0">
                <a:solidFill>
                  <a:srgbClr val="1B1F3B"/>
                </a:solidFill>
                <a:latin typeface="Be Vietnam Pro" pitchFamily="34" charset="0"/>
                <a:ea typeface="Be Vietnam Pro" pitchFamily="34" charset="-122"/>
                <a:cs typeface="Be Vietnam Pro" pitchFamily="34" charset="0"/>
              </a:rPr>
              <a:t>Ý tưởng và giải pháp AI</a:t>
            </a:r>
            <a:endParaRPr lang="en-US" sz="1600" dirty="0"/>
          </a:p>
          <a:p>
            <a:pPr algn="l" marL="325120" indent="-325120">
              <a:lnSpc>
                <a:spcPct val="170000"/>
              </a:lnSpc>
              <a:buSzPct val="100000"/>
              <a:buFont typeface="+mj-lt"/>
              <a:buAutoNum type="arabicPeriod" startAt="3"/>
            </a:pPr>
            <a:r>
              <a:rPr lang="en-US" sz="1600" dirty="0">
                <a:solidFill>
                  <a:srgbClr val="1B1F3B"/>
                </a:solidFill>
                <a:latin typeface="Be Vietnam Pro" pitchFamily="34" charset="0"/>
                <a:ea typeface="Be Vietnam Pro" pitchFamily="34" charset="-122"/>
                <a:cs typeface="Be Vietnam Pro" pitchFamily="34" charset="0"/>
              </a:rPr>
              <a:t>Sản phẩm: góc học sinh</a:t>
            </a:r>
            <a:endParaRPr lang="en-US" sz="1600" dirty="0"/>
          </a:p>
          <a:p>
            <a:pPr algn="l" marL="325120" indent="-325120">
              <a:lnSpc>
                <a:spcPct val="170000"/>
              </a:lnSpc>
              <a:buSzPct val="100000"/>
              <a:buFont typeface="+mj-lt"/>
              <a:buAutoNum type="arabicPeriod" startAt="4"/>
            </a:pPr>
            <a:r>
              <a:rPr lang="en-US" sz="1600" dirty="0">
                <a:solidFill>
                  <a:srgbClr val="1B1F3B"/>
                </a:solidFill>
                <a:latin typeface="Be Vietnam Pro" pitchFamily="34" charset="0"/>
                <a:ea typeface="Be Vietnam Pro" pitchFamily="34" charset="-122"/>
                <a:cs typeface="Be Vietnam Pro" pitchFamily="34" charset="0"/>
              </a:rPr>
              <a:t>Phản hồi tức thì và Thám tử AI</a:t>
            </a:r>
            <a:endParaRPr lang="en-US" sz="1600" dirty="0"/>
          </a:p>
          <a:p>
            <a:pPr algn="l" marL="325120" indent="-325120">
              <a:lnSpc>
                <a:spcPct val="170000"/>
              </a:lnSpc>
              <a:buSzPct val="100000"/>
              <a:buFont typeface="+mj-lt"/>
              <a:buAutoNum type="arabicPeriod" startAt="5"/>
            </a:pPr>
            <a:r>
              <a:rPr lang="en-US" sz="1600" dirty="0">
                <a:solidFill>
                  <a:srgbClr val="1B1F3B"/>
                </a:solidFill>
                <a:latin typeface="Be Vietnam Pro" pitchFamily="34" charset="0"/>
                <a:ea typeface="Be Vietnam Pro" pitchFamily="34" charset="-122"/>
                <a:cs typeface="Be Vietnam Pro" pitchFamily="34" charset="0"/>
              </a:rPr>
              <a:t>Trợ lý AI cho giáo viên</a:t>
            </a:r>
            <a:endParaRPr lang="en-US" sz="1600" dirty="0"/>
          </a:p>
          <a:p>
            <a:pPr algn="l" marL="325120" indent="-325120">
              <a:lnSpc>
                <a:spcPct val="170000"/>
              </a:lnSpc>
              <a:buSzPct val="100000"/>
              <a:buFont typeface="+mj-lt"/>
              <a:buAutoNum type="arabicPeriod" startAt="6"/>
            </a:pPr>
            <a:r>
              <a:rPr lang="en-US" sz="1600" dirty="0">
                <a:solidFill>
                  <a:srgbClr val="1B1F3B"/>
                </a:solidFill>
                <a:latin typeface="Be Vietnam Pro" pitchFamily="34" charset="0"/>
                <a:ea typeface="Be Vietnam Pro" pitchFamily="34" charset="-122"/>
                <a:cs typeface="Be Vietnam Pro" pitchFamily="34" charset="0"/>
              </a:rPr>
              <a:t>Đạo đức và trách nhiệm khi dùng AI</a:t>
            </a:r>
            <a:endParaRPr lang="en-US" sz="1600" dirty="0"/>
          </a:p>
          <a:p>
            <a:pPr algn="l" marL="325120" indent="-325120">
              <a:lnSpc>
                <a:spcPct val="170000"/>
              </a:lnSpc>
              <a:buSzPct val="100000"/>
              <a:buFont typeface="+mj-lt"/>
              <a:buAutoNum type="arabicPeriod" startAt="7"/>
            </a:pPr>
            <a:r>
              <a:rPr lang="en-US" sz="1600" dirty="0">
                <a:solidFill>
                  <a:srgbClr val="1B1F3B"/>
                </a:solidFill>
                <a:latin typeface="Be Vietnam Pro" pitchFamily="34" charset="0"/>
                <a:ea typeface="Be Vietnam Pro" pitchFamily="34" charset="-122"/>
                <a:cs typeface="Be Vietnam Pro" pitchFamily="34" charset="0"/>
              </a:rPr>
              <a:t>Triển khai thực tế</a:t>
            </a:r>
            <a:endParaRPr lang="en-US" sz="1600" dirty="0"/>
          </a:p>
          <a:p>
            <a:pPr algn="l" marL="325120" indent="-325120">
              <a:lnSpc>
                <a:spcPct val="170000"/>
              </a:lnSpc>
              <a:buSzPct val="100000"/>
              <a:buFont typeface="+mj-lt"/>
              <a:buAutoNum type="arabicPeriod" startAt="8"/>
            </a:pPr>
            <a:r>
              <a:rPr lang="en-US" sz="1600" dirty="0">
                <a:solidFill>
                  <a:srgbClr val="1B1F3B"/>
                </a:solidFill>
                <a:latin typeface="Be Vietnam Pro" pitchFamily="34" charset="0"/>
                <a:ea typeface="Be Vietnam Pro" pitchFamily="34" charset="-122"/>
                <a:cs typeface="Be Vietnam Pro" pitchFamily="34" charset="0"/>
              </a:rPr>
              <a:t>Kết quả và tác động</a:t>
            </a:r>
            <a:endParaRPr lang="en-US" sz="1600" dirty="0"/>
          </a:p>
          <a:p>
            <a:pPr algn="l" marL="325120" indent="-325120">
              <a:lnSpc>
                <a:spcPct val="170000"/>
              </a:lnSpc>
              <a:buSzPct val="100000"/>
              <a:buFont typeface="+mj-lt"/>
              <a:buAutoNum type="arabicPeriod" startAt="9"/>
            </a:pPr>
            <a:r>
              <a:rPr lang="en-US" sz="1600" dirty="0">
                <a:solidFill>
                  <a:srgbClr val="1B1F3B"/>
                </a:solidFill>
                <a:latin typeface="Be Vietnam Pro" pitchFamily="34" charset="0"/>
                <a:ea typeface="Be Vietnam Pro" pitchFamily="34" charset="-122"/>
                <a:cs typeface="Be Vietnam Pro" pitchFamily="34" charset="0"/>
              </a:rPr>
              <a:t>Thảo luận và tổng kết</a:t>
            </a:r>
            <a:endParaRPr lang="en-US" sz="1600" dirty="0"/>
          </a:p>
          <a:p>
            <a:pPr algn="l" marL="325120" indent="-325120">
              <a:lnSpc>
                <a:spcPct val="170000"/>
              </a:lnSpc>
              <a:buSzPct val="100000"/>
              <a:buFont typeface="+mj-lt"/>
              <a:buAutoNum type="arabicPeriod" startAt="10"/>
            </a:pPr>
            <a:r>
              <a:rPr lang="en-US" sz="1600" dirty="0">
                <a:solidFill>
                  <a:srgbClr val="1B1F3B"/>
                </a:solidFill>
                <a:latin typeface="Be Vietnam Pro" pitchFamily="34" charset="0"/>
                <a:ea typeface="Be Vietnam Pro" pitchFamily="34" charset="-122"/>
                <a:cs typeface="Be Vietnam Pro" pitchFamily="34" charset="0"/>
              </a:rPr>
              <a:t>Tài liệu đính kèm</a:t>
            </a:r>
            <a:endParaRPr lang="en-US" sz="1600" dirty="0"/>
          </a:p>
        </p:txBody>
      </p:sp>
      <p:pic>
        <p:nvPicPr>
          <p:cNvPr id="10" name="Image 2" descr="preencoded.png">    </p:cNvPr>
          <p:cNvPicPr>
            <a:picLocks noChangeAspect="1"/>
          </p:cNvPicPr>
          <p:nvPr/>
        </p:nvPicPr>
        <p:blipFill>
          <a:blip r:embed="rId3"/>
          <a:stretch>
            <a:fillRect/>
          </a:stretch>
        </p:blipFill>
        <p:spPr>
          <a:xfrm>
            <a:off x="6457193" y="6121400"/>
            <a:ext cx="5157063" cy="30460"/>
          </a:xfrm>
          <a:prstGeom prst="rect">
            <a:avLst/>
          </a:prstGeom>
        </p:spPr>
      </p:pic>
      <p:sp>
        <p:nvSpPr>
          <p:cNvPr id="11" name="Text 6"/>
          <p:cNvSpPr/>
          <p:nvPr/>
        </p:nvSpPr>
        <p:spPr>
          <a:xfrm>
            <a:off x="6654634" y="6229850"/>
            <a:ext cx="5537061" cy="182860"/>
          </a:xfrm>
          <a:prstGeom prst="rect">
            <a:avLst/>
          </a:prstGeom>
          <a:noFill/>
          <a:ln/>
        </p:spPr>
        <p:txBody>
          <a:bodyPr wrap="none" lIns="0" tIns="0" rIns="0" bIns="0" rtlCol="0" anchor="t"/>
          <a:lstStyle/>
          <a:p>
            <a:pPr algn="l" indent="0" marL="0">
              <a:lnSpc>
                <a:spcPct val="100000"/>
              </a:lnSpc>
              <a:buNone/>
            </a:pPr>
            <a:r>
              <a:rPr lang="en-US" sz="1200" b="1" dirty="0">
                <a:solidFill>
                  <a:srgbClr val="000054"/>
                </a:solidFill>
                <a:latin typeface="Be Vietnam Pro Bold" pitchFamily="34" charset="0"/>
                <a:ea typeface="Be Vietnam Pro Bold" pitchFamily="34" charset="-122"/>
                <a:cs typeface="Be Vietnam Pro Bold" pitchFamily="34" charset="0"/>
              </a:rPr>
              <a:t>Giải Thưởng Tiên Phong Ứng Dụng AI Trong Giáo Dục Việt Nam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535174"/>
            <a:ext cx="10972526" cy="419100"/>
          </a:xfrm>
          <a:prstGeom prst="rect">
            <a:avLst/>
          </a:prstGeom>
          <a:noFill/>
          <a:ln/>
        </p:spPr>
        <p:txBody>
          <a:bodyPr wrap="none" lIns="0" tIns="0" rIns="0" bIns="0" rtlCol="0" anchor="t"/>
          <a:lstStyle/>
          <a:p>
            <a:pPr algn="l" indent="0" marL="0">
              <a:lnSpc>
                <a:spcPct val="92000"/>
              </a:lnSpc>
              <a:buNone/>
            </a:pPr>
            <a:r>
              <a:rPr lang="en-US" sz="3000" b="1" dirty="0">
                <a:solidFill>
                  <a:srgbClr val="000054"/>
                </a:solidFill>
                <a:latin typeface="Be Vietnam Pro Bold" pitchFamily="34" charset="0"/>
                <a:ea typeface="Be Vietnam Pro Bold" pitchFamily="34" charset="-122"/>
                <a:cs typeface="Be Vietnam Pro Bold" pitchFamily="34" charset="0"/>
              </a:rPr>
              <a:t>BỐI CẢNH VÀ VẤN ĐỀ</a:t>
            </a:r>
            <a:endParaRPr lang="en-US" sz="3000" dirty="0"/>
          </a:p>
        </p:txBody>
      </p:sp>
      <p:sp>
        <p:nvSpPr>
          <p:cNvPr id="3" name="Text 1"/>
          <p:cNvSpPr/>
          <p:nvPr/>
        </p:nvSpPr>
        <p:spPr>
          <a:xfrm>
            <a:off x="609585" y="1104900"/>
            <a:ext cx="6309262" cy="414437"/>
          </a:xfrm>
          <a:prstGeom prst="rect">
            <a:avLst/>
          </a:prstGeom>
          <a:noFill/>
          <a:ln/>
        </p:spPr>
        <p:txBody>
          <a:bodyPr wrap="none" lIns="0" tIns="0" rIns="0" bIns="0" rtlCol="0" anchor="t"/>
          <a:lstStyle/>
          <a:p>
            <a:pPr algn="l" indent="0" marL="0">
              <a:lnSpc>
                <a:spcPct val="170000"/>
              </a:lnSpc>
              <a:buNone/>
            </a:pPr>
            <a:r>
              <a:rPr lang="en-US" sz="1600" b="1" dirty="0">
                <a:solidFill>
                  <a:srgbClr val="1E5BD8"/>
                </a:solidFill>
                <a:latin typeface="Be Vietnam Pro Bold" pitchFamily="34" charset="0"/>
                <a:ea typeface="Be Vietnam Pro Bold" pitchFamily="34" charset="-122"/>
                <a:cs typeface="Be Vietnam Pro Bold" pitchFamily="34" charset="0"/>
              </a:rPr>
              <a:t>Khó khăn trong dạy Luyện từ và câu lớp 4</a:t>
            </a:r>
            <a:endParaRPr lang="en-US" sz="1600" dirty="0"/>
          </a:p>
        </p:txBody>
      </p:sp>
      <p:sp>
        <p:nvSpPr>
          <p:cNvPr id="4" name="Text 2"/>
          <p:cNvSpPr/>
          <p:nvPr/>
        </p:nvSpPr>
        <p:spPr>
          <a:xfrm>
            <a:off x="609585" y="1646337"/>
            <a:ext cx="6309262" cy="2718296"/>
          </a:xfrm>
          <a:prstGeom prst="rect">
            <a:avLst/>
          </a:prstGeom>
          <a:noFill/>
          <a:ln/>
        </p:spPr>
        <p:txBody>
          <a:bodyPr wrap="square" lIns="0" tIns="0" rIns="0" bIns="0" rtlCol="0" anchor="t">
            <a:normAutofit/>
          </a:bodyPr>
          <a:lstStyle/>
          <a:p>
            <a:pPr algn="l" marL="168910" indent="-168910">
              <a:lnSpc>
                <a:spcPct val="170000"/>
              </a:lnSpc>
              <a:buSzPct val="100000"/>
              <a:buChar char="•"/>
            </a:pPr>
            <a:r>
              <a:rPr lang="en-US" sz="1400" dirty="0">
                <a:solidFill>
                  <a:srgbClr val="1B1F3B"/>
                </a:solidFill>
                <a:latin typeface="Be Vietnam Pro" pitchFamily="34" charset="0"/>
                <a:ea typeface="Be Vietnam Pro" pitchFamily="34" charset="-122"/>
                <a:cs typeface="Be Vietnam Pro" pitchFamily="34" charset="0"/>
              </a:rPr>
              <a:t>Kiến thức trừu tượng: danh từ, động từ, tính từ, chủ ngữ – vị ngữ, trạng ngữ… học sinh dễ nhầm khi vận dụng.</a:t>
            </a:r>
            <a:endParaRPr lang="en-US" sz="1400" dirty="0"/>
          </a:p>
          <a:p>
            <a:pPr algn="l" marL="168910" indent="-168910">
              <a:lnSpc>
                <a:spcPct val="170000"/>
              </a:lnSpc>
              <a:buSzPct val="100000"/>
              <a:buChar char="•"/>
            </a:pPr>
            <a:r>
              <a:rPr lang="en-US" sz="1400" dirty="0">
                <a:solidFill>
                  <a:srgbClr val="1B1F3B"/>
                </a:solidFill>
                <a:latin typeface="Be Vietnam Pro" pitchFamily="34" charset="0"/>
                <a:ea typeface="Be Vietnam Pro" pitchFamily="34" charset="-122"/>
                <a:cs typeface="Be Vietnam Pro" pitchFamily="34" charset="0"/>
              </a:rPr>
              <a:t>Thời lượng trên lớp có hạn, cô khó sửa lỗi riêng cho từng em.</a:t>
            </a:r>
            <a:endParaRPr lang="en-US" sz="1400" dirty="0"/>
          </a:p>
          <a:p>
            <a:pPr algn="l" marL="168910" indent="-168910">
              <a:lnSpc>
                <a:spcPct val="170000"/>
              </a:lnSpc>
              <a:buSzPct val="100000"/>
              <a:buChar char="•"/>
            </a:pPr>
            <a:r>
              <a:rPr lang="en-US" sz="1400" dirty="0">
                <a:solidFill>
                  <a:srgbClr val="1B1F3B"/>
                </a:solidFill>
                <a:latin typeface="Be Vietnam Pro" pitchFamily="34" charset="0"/>
                <a:ea typeface="Be Vietnam Pro" pitchFamily="34" charset="-122"/>
                <a:cs typeface="Be Vietnam Pro" pitchFamily="34" charset="0"/>
              </a:rPr>
              <a:t>Phiếu bài tập giấy chấm chậm: em không biết ngay mình sai ở đâu, cô khó nắm lỗi chung của cả lớp.</a:t>
            </a:r>
            <a:endParaRPr lang="en-US" sz="1400" dirty="0"/>
          </a:p>
          <a:p>
            <a:pPr algn="l" marL="168910" indent="-168910">
              <a:lnSpc>
                <a:spcPct val="170000"/>
              </a:lnSpc>
              <a:buSzPct val="100000"/>
              <a:buChar char="•"/>
            </a:pPr>
            <a:r>
              <a:rPr lang="en-US" sz="1400" dirty="0">
                <a:solidFill>
                  <a:srgbClr val="1B1F3B"/>
                </a:solidFill>
                <a:latin typeface="Be Vietnam Pro" pitchFamily="34" charset="0"/>
                <a:ea typeface="Be Vietnam Pro" pitchFamily="34" charset="-122"/>
                <a:cs typeface="Be Vietnam Pro" pitchFamily="34" charset="0"/>
              </a:rPr>
              <a:t>Học sinh đã gặp AI nhưng chưa có thói quen kiểm tra lại câu trả lời của AI.</a:t>
            </a:r>
            <a:endParaRPr lang="en-US" sz="1400" dirty="0"/>
          </a:p>
        </p:txBody>
      </p:sp>
      <p:sp>
        <p:nvSpPr>
          <p:cNvPr id="5" name="Shape 3"/>
          <p:cNvSpPr/>
          <p:nvPr/>
        </p:nvSpPr>
        <p:spPr>
          <a:xfrm>
            <a:off x="7375936" y="1104900"/>
            <a:ext cx="4206174" cy="1722239"/>
          </a:xfrm>
          <a:prstGeom prst="roundRect">
            <a:avLst>
              <a:gd name="adj" fmla="val 7079"/>
            </a:avLst>
          </a:prstGeom>
          <a:solidFill>
            <a:srgbClr val="EEF3FC"/>
          </a:solidFill>
          <a:ln/>
        </p:spPr>
      </p:sp>
      <p:sp>
        <p:nvSpPr>
          <p:cNvPr id="6" name="Text 4"/>
          <p:cNvSpPr/>
          <p:nvPr/>
        </p:nvSpPr>
        <p:spPr>
          <a:xfrm>
            <a:off x="7604530" y="1308100"/>
            <a:ext cx="3977580" cy="362645"/>
          </a:xfrm>
          <a:prstGeom prst="rect">
            <a:avLst/>
          </a:prstGeom>
          <a:noFill/>
          <a:ln/>
        </p:spPr>
        <p:txBody>
          <a:bodyPr wrap="none" lIns="0" tIns="0" rIns="0" bIns="0" rtlCol="0" anchor="t"/>
          <a:lstStyle/>
          <a:p>
            <a:pPr algn="l" indent="0" marL="0">
              <a:lnSpc>
                <a:spcPct val="170000"/>
              </a:lnSpc>
              <a:buNone/>
            </a:pPr>
            <a:r>
              <a:rPr lang="en-US" sz="1400" b="1" dirty="0">
                <a:solidFill>
                  <a:srgbClr val="000054"/>
                </a:solidFill>
                <a:latin typeface="Be Vietnam Pro Bold" pitchFamily="34" charset="0"/>
                <a:ea typeface="Be Vietnam Pro Bold" pitchFamily="34" charset="-122"/>
                <a:cs typeface="Be Vietnam Pro Bold" pitchFamily="34" charset="0"/>
              </a:rPr>
              <a:t>Đối tượng chính</a:t>
            </a:r>
            <a:endParaRPr lang="en-US" sz="1400" dirty="0"/>
          </a:p>
        </p:txBody>
      </p:sp>
      <p:sp>
        <p:nvSpPr>
          <p:cNvPr id="7" name="Text 5"/>
          <p:cNvSpPr/>
          <p:nvPr/>
        </p:nvSpPr>
        <p:spPr>
          <a:xfrm>
            <a:off x="7604530" y="1797745"/>
            <a:ext cx="3748986" cy="462161"/>
          </a:xfrm>
          <a:prstGeom prst="rect">
            <a:avLst/>
          </a:prstGeom>
          <a:noFill/>
          <a:ln/>
        </p:spPr>
        <p:txBody>
          <a:bodyPr wrap="square" lIns="0" tIns="0" rIns="0" bIns="0" rtlCol="0" anchor="t">
            <a:normAutofit/>
          </a:bodyPr>
          <a:lstStyle/>
          <a:p>
            <a:pPr algn="l" indent="0" marL="0">
              <a:lnSpc>
                <a:spcPct val="117000"/>
              </a:lnSpc>
              <a:buNone/>
            </a:pPr>
            <a:r>
              <a:rPr lang="en-US" sz="1300" dirty="0">
                <a:solidFill>
                  <a:srgbClr val="1B1F3B"/>
                </a:solidFill>
                <a:latin typeface="Be Vietnam Pro" pitchFamily="34" charset="0"/>
                <a:ea typeface="Be Vietnam Pro" pitchFamily="34" charset="-122"/>
                <a:cs typeface="Be Vietnam Pro" pitchFamily="34" charset="0"/>
              </a:rPr>
              <a:t>Học sinh lớp 4/11 ([30 em) và giáo viên chủ nhiệm dạy Tiếng Việt</a:t>
            </a:r>
            <a:endParaRPr lang="en-US" sz="1300" dirty="0"/>
          </a:p>
        </p:txBody>
      </p:sp>
      <p:sp>
        <p:nvSpPr>
          <p:cNvPr id="8" name="Shape 6"/>
          <p:cNvSpPr/>
          <p:nvPr/>
        </p:nvSpPr>
        <p:spPr>
          <a:xfrm>
            <a:off x="7375936" y="3131939"/>
            <a:ext cx="4206174" cy="1232694"/>
          </a:xfrm>
          <a:prstGeom prst="roundRect">
            <a:avLst>
              <a:gd name="adj" fmla="val 9890"/>
            </a:avLst>
          </a:prstGeom>
          <a:solidFill>
            <a:srgbClr val="000054"/>
          </a:solidFill>
          <a:ln/>
        </p:spPr>
      </p:sp>
      <p:sp>
        <p:nvSpPr>
          <p:cNvPr id="9" name="Text 7"/>
          <p:cNvSpPr/>
          <p:nvPr/>
        </p:nvSpPr>
        <p:spPr>
          <a:xfrm>
            <a:off x="7604530" y="3335139"/>
            <a:ext cx="3748986" cy="462161"/>
          </a:xfrm>
          <a:prstGeom prst="rect">
            <a:avLst/>
          </a:prstGeom>
          <a:noFill/>
          <a:ln/>
        </p:spPr>
        <p:txBody>
          <a:bodyPr wrap="square" lIns="0" tIns="0" rIns="0" bIns="0" rtlCol="0" anchor="t">
            <a:normAutofit/>
          </a:bodyPr>
          <a:lstStyle/>
          <a:p>
            <a:pPr algn="l" indent="0" marL="0">
              <a:lnSpc>
                <a:spcPct val="117000"/>
              </a:lnSpc>
              <a:buNone/>
            </a:pPr>
            <a:r>
              <a:rPr lang="en-US" sz="1300" dirty="0">
                <a:solidFill>
                  <a:srgbClr val="FFFFFF"/>
                </a:solidFill>
                <a:latin typeface="Be Vietnam Pro" pitchFamily="34" charset="0"/>
                <a:ea typeface="Be Vietnam Pro" pitchFamily="34" charset="-122"/>
                <a:cs typeface="Be Vietnam Pro" pitchFamily="34" charset="0"/>
              </a:rPr>
              <a:t>học sinh còn nhầm lẫn từ loại trong [bài khảo sát đầu năm]</a:t>
            </a:r>
            <a:endParaRPr lang="en-US" sz="1300" dirty="0"/>
          </a:p>
        </p:txBody>
      </p:sp>
      <p:pic>
        <p:nvPicPr>
          <p:cNvPr id="10" name="Image 0" descr="preencoded.png">    </p:cNvPr>
          <p:cNvPicPr>
            <a:picLocks noChangeAspect="1"/>
          </p:cNvPicPr>
          <p:nvPr/>
        </p:nvPicPr>
        <p:blipFill>
          <a:blip r:embed="rId1"/>
          <a:stretch>
            <a:fillRect/>
          </a:stretch>
        </p:blipFill>
        <p:spPr>
          <a:xfrm>
            <a:off x="609585" y="5611316"/>
            <a:ext cx="10972526" cy="12466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535174"/>
            <a:ext cx="10972526" cy="419100"/>
          </a:xfrm>
          <a:prstGeom prst="rect">
            <a:avLst/>
          </a:prstGeom>
          <a:noFill/>
          <a:ln/>
        </p:spPr>
        <p:txBody>
          <a:bodyPr wrap="none" lIns="0" tIns="0" rIns="0" bIns="0" rtlCol="0" anchor="t"/>
          <a:lstStyle/>
          <a:p>
            <a:pPr algn="l" indent="0" marL="0">
              <a:lnSpc>
                <a:spcPct val="92000"/>
              </a:lnSpc>
              <a:buNone/>
            </a:pPr>
            <a:r>
              <a:rPr lang="en-US" sz="3000" b="1" dirty="0">
                <a:solidFill>
                  <a:srgbClr val="000054"/>
                </a:solidFill>
                <a:latin typeface="Be Vietnam Pro Bold" pitchFamily="34" charset="0"/>
                <a:ea typeface="Be Vietnam Pro Bold" pitchFamily="34" charset="-122"/>
                <a:cs typeface="Be Vietnam Pro Bold" pitchFamily="34" charset="0"/>
              </a:rPr>
              <a:t>Ý TƯỞNG VÀ GIẢI PHÁP</a:t>
            </a:r>
            <a:endParaRPr lang="en-US" sz="3000" dirty="0"/>
          </a:p>
        </p:txBody>
      </p:sp>
      <p:sp>
        <p:nvSpPr>
          <p:cNvPr id="3" name="Text 1"/>
          <p:cNvSpPr/>
          <p:nvPr/>
        </p:nvSpPr>
        <p:spPr>
          <a:xfrm>
            <a:off x="609585" y="1071245"/>
            <a:ext cx="10972526" cy="274241"/>
          </a:xfrm>
          <a:prstGeom prst="rect">
            <a:avLst/>
          </a:prstGeom>
          <a:noFill/>
          <a:ln/>
        </p:spPr>
        <p:txBody>
          <a:bodyPr wrap="none" lIns="0" tIns="0" rIns="0" bIns="0" rtlCol="0" anchor="t"/>
          <a:lstStyle/>
          <a:p>
            <a:pPr algn="l" indent="0" marL="0">
              <a:lnSpc>
                <a:spcPct val="100000"/>
              </a:lnSpc>
              <a:buNone/>
            </a:pPr>
            <a:r>
              <a:rPr lang="en-US" sz="1800" b="1" dirty="0">
                <a:solidFill>
                  <a:srgbClr val="1E5BD8"/>
                </a:solidFill>
                <a:latin typeface="Be Vietnam Pro Bold" pitchFamily="34" charset="0"/>
                <a:ea typeface="Be Vietnam Pro Bold" pitchFamily="34" charset="-122"/>
                <a:cs typeface="Be Vietnam Pro Bold" pitchFamily="34" charset="0"/>
              </a:rPr>
              <a:t>Học sinh luyện tập – AI hỗ trợ cô – Cô là người quyết định</a:t>
            </a:r>
            <a:endParaRPr lang="en-US" sz="1800" dirty="0"/>
          </a:p>
        </p:txBody>
      </p:sp>
      <p:sp>
        <p:nvSpPr>
          <p:cNvPr id="4" name="Shape 2"/>
          <p:cNvSpPr/>
          <p:nvPr/>
        </p:nvSpPr>
        <p:spPr>
          <a:xfrm>
            <a:off x="609585" y="1506141"/>
            <a:ext cx="3454314" cy="1805781"/>
          </a:xfrm>
          <a:prstGeom prst="roundRect">
            <a:avLst>
              <a:gd name="adj" fmla="val 6752"/>
            </a:avLst>
          </a:prstGeom>
          <a:solidFill>
            <a:srgbClr val="EEF3FC"/>
          </a:solidFill>
          <a:ln/>
        </p:spPr>
      </p:sp>
      <p:sp>
        <p:nvSpPr>
          <p:cNvPr id="5" name="Text 3"/>
          <p:cNvSpPr/>
          <p:nvPr/>
        </p:nvSpPr>
        <p:spPr>
          <a:xfrm>
            <a:off x="838179" y="1709341"/>
            <a:ext cx="3225719" cy="388541"/>
          </a:xfrm>
          <a:prstGeom prst="rect">
            <a:avLst/>
          </a:prstGeom>
          <a:noFill/>
          <a:ln/>
        </p:spPr>
        <p:txBody>
          <a:bodyPr wrap="none" lIns="0" tIns="0" rIns="0" bIns="0" rtlCol="0" anchor="t"/>
          <a:lstStyle/>
          <a:p>
            <a:pPr algn="l" indent="0" marL="0">
              <a:lnSpc>
                <a:spcPct val="170000"/>
              </a:lnSpc>
              <a:buNone/>
            </a:pPr>
            <a:r>
              <a:rPr lang="en-US" sz="1500" b="1" dirty="0">
                <a:solidFill>
                  <a:srgbClr val="000054"/>
                </a:solidFill>
                <a:latin typeface="Be Vietnam Pro Bold" pitchFamily="34" charset="0"/>
                <a:ea typeface="Be Vietnam Pro Bold" pitchFamily="34" charset="-122"/>
                <a:cs typeface="Be Vietnam Pro Bold" pitchFamily="34" charset="0"/>
              </a:rPr>
              <a:t>Cho học sinh</a:t>
            </a:r>
            <a:endParaRPr lang="en-US" sz="1500" dirty="0"/>
          </a:p>
        </p:txBody>
      </p:sp>
      <p:sp>
        <p:nvSpPr>
          <p:cNvPr id="6" name="Text 4"/>
          <p:cNvSpPr/>
          <p:nvPr/>
        </p:nvSpPr>
        <p:spPr>
          <a:xfrm>
            <a:off x="838179" y="2226786"/>
            <a:ext cx="2997125" cy="883841"/>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1B1F3B"/>
                </a:solidFill>
                <a:latin typeface="Be Vietnam Pro" pitchFamily="34" charset="0"/>
                <a:ea typeface="Be Vietnam Pro" pitchFamily="34" charset="-122"/>
                <a:cs typeface="Be Vietnam Pro" pitchFamily="34" charset="0"/>
              </a:rPr>
              <a:t>Ôn luyện theo đúng 35 tuần của sách Tiếng Việt 4, ba mức độ, chấm và giải thích ngay. Không cần tài khoản, không trò chuyện với AI.</a:t>
            </a:r>
            <a:endParaRPr lang="en-US" sz="1200" dirty="0"/>
          </a:p>
        </p:txBody>
      </p:sp>
      <p:sp>
        <p:nvSpPr>
          <p:cNvPr id="7" name="Shape 5"/>
          <p:cNvSpPr/>
          <p:nvPr/>
        </p:nvSpPr>
        <p:spPr>
          <a:xfrm>
            <a:off x="4368691" y="1506141"/>
            <a:ext cx="3454314" cy="1805781"/>
          </a:xfrm>
          <a:prstGeom prst="roundRect">
            <a:avLst>
              <a:gd name="adj" fmla="val 6752"/>
            </a:avLst>
          </a:prstGeom>
          <a:solidFill>
            <a:srgbClr val="EEF3FC"/>
          </a:solidFill>
          <a:ln/>
        </p:spPr>
      </p:sp>
      <p:sp>
        <p:nvSpPr>
          <p:cNvPr id="8" name="Text 6"/>
          <p:cNvSpPr/>
          <p:nvPr/>
        </p:nvSpPr>
        <p:spPr>
          <a:xfrm>
            <a:off x="4597285" y="1709341"/>
            <a:ext cx="3225719" cy="388541"/>
          </a:xfrm>
          <a:prstGeom prst="rect">
            <a:avLst/>
          </a:prstGeom>
          <a:noFill/>
          <a:ln/>
        </p:spPr>
        <p:txBody>
          <a:bodyPr wrap="none" lIns="0" tIns="0" rIns="0" bIns="0" rtlCol="0" anchor="t"/>
          <a:lstStyle/>
          <a:p>
            <a:pPr algn="l" indent="0" marL="0">
              <a:lnSpc>
                <a:spcPct val="170000"/>
              </a:lnSpc>
              <a:buNone/>
            </a:pPr>
            <a:r>
              <a:rPr lang="en-US" sz="1500" b="1" dirty="0">
                <a:solidFill>
                  <a:srgbClr val="000054"/>
                </a:solidFill>
                <a:latin typeface="Be Vietnam Pro Bold" pitchFamily="34" charset="0"/>
                <a:ea typeface="Be Vietnam Pro Bold" pitchFamily="34" charset="-122"/>
                <a:cs typeface="Be Vietnam Pro Bold" pitchFamily="34" charset="0"/>
              </a:rPr>
              <a:t>Cho giáo viên</a:t>
            </a:r>
            <a:endParaRPr lang="en-US" sz="1500" dirty="0"/>
          </a:p>
        </p:txBody>
      </p:sp>
      <p:sp>
        <p:nvSpPr>
          <p:cNvPr id="9" name="Text 7"/>
          <p:cNvSpPr/>
          <p:nvPr/>
        </p:nvSpPr>
        <p:spPr>
          <a:xfrm>
            <a:off x="4597285" y="2226786"/>
            <a:ext cx="2997125" cy="662880"/>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1B1F3B"/>
                </a:solidFill>
                <a:latin typeface="Be Vietnam Pro" pitchFamily="34" charset="0"/>
                <a:ea typeface="Be Vietnam Pro" pitchFamily="34" charset="-122"/>
                <a:cs typeface="Be Vietnam Pro" pitchFamily="34" charset="0"/>
              </a:rPr>
              <a:t>Góc giáo viên có trợ lý AI: soạn thêm câu hỏi, nháp nhận xét câu học sinh viết, gợi ý chia nhóm cho tiết sau.</a:t>
            </a:r>
            <a:endParaRPr lang="en-US" sz="1200" dirty="0"/>
          </a:p>
        </p:txBody>
      </p:sp>
      <p:sp>
        <p:nvSpPr>
          <p:cNvPr id="10" name="Shape 8"/>
          <p:cNvSpPr/>
          <p:nvPr/>
        </p:nvSpPr>
        <p:spPr>
          <a:xfrm>
            <a:off x="8127797" y="1506141"/>
            <a:ext cx="3454314" cy="1805781"/>
          </a:xfrm>
          <a:prstGeom prst="roundRect">
            <a:avLst>
              <a:gd name="adj" fmla="val 6752"/>
            </a:avLst>
          </a:prstGeom>
          <a:solidFill>
            <a:srgbClr val="EEF3FC"/>
          </a:solidFill>
          <a:ln/>
        </p:spPr>
      </p:sp>
      <p:sp>
        <p:nvSpPr>
          <p:cNvPr id="11" name="Text 9"/>
          <p:cNvSpPr/>
          <p:nvPr/>
        </p:nvSpPr>
        <p:spPr>
          <a:xfrm>
            <a:off x="8356391" y="1709341"/>
            <a:ext cx="3225719" cy="388541"/>
          </a:xfrm>
          <a:prstGeom prst="rect">
            <a:avLst/>
          </a:prstGeom>
          <a:noFill/>
          <a:ln/>
        </p:spPr>
        <p:txBody>
          <a:bodyPr wrap="none" lIns="0" tIns="0" rIns="0" bIns="0" rtlCol="0" anchor="t"/>
          <a:lstStyle/>
          <a:p>
            <a:pPr algn="l" indent="0" marL="0">
              <a:lnSpc>
                <a:spcPct val="170000"/>
              </a:lnSpc>
              <a:buNone/>
            </a:pPr>
            <a:r>
              <a:rPr lang="en-US" sz="1500" b="1" dirty="0">
                <a:solidFill>
                  <a:srgbClr val="000054"/>
                </a:solidFill>
                <a:latin typeface="Be Vietnam Pro Bold" pitchFamily="34" charset="0"/>
                <a:ea typeface="Be Vietnam Pro Bold" pitchFamily="34" charset="-122"/>
                <a:cs typeface="Be Vietnam Pro Bold" pitchFamily="34" charset="0"/>
              </a:rPr>
              <a:t>Công cụ AI</a:t>
            </a:r>
            <a:endParaRPr lang="en-US" sz="1500" dirty="0"/>
          </a:p>
        </p:txBody>
      </p:sp>
      <p:sp>
        <p:nvSpPr>
          <p:cNvPr id="12" name="Text 10"/>
          <p:cNvSpPr/>
          <p:nvPr/>
        </p:nvSpPr>
        <p:spPr>
          <a:xfrm>
            <a:off x="8356391" y="2226786"/>
            <a:ext cx="2997125" cy="883841"/>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1B1F3B"/>
                </a:solidFill>
                <a:latin typeface="Be Vietnam Pro" pitchFamily="34" charset="0"/>
                <a:ea typeface="Be Vietnam Pro" pitchFamily="34" charset="-122"/>
                <a:cs typeface="Be Vietnam Pro" pitchFamily="34" charset="0"/>
              </a:rPr>
              <a:t>Claude (Anthropic): cùng cô thiết kế, lập trình ứng dụng và làm trợ lý trong Góc giáo viên. Ứng dụng web một tệp, chạy trên trình duyệt.</a:t>
            </a:r>
            <a:endParaRPr lang="en-US" sz="1200" dirty="0"/>
          </a:p>
        </p:txBody>
      </p:sp>
      <p:sp>
        <p:nvSpPr>
          <p:cNvPr id="13" name="Shape 11"/>
          <p:cNvSpPr/>
          <p:nvPr/>
        </p:nvSpPr>
        <p:spPr>
          <a:xfrm>
            <a:off x="609585" y="3489722"/>
            <a:ext cx="10972526" cy="797520"/>
          </a:xfrm>
          <a:prstGeom prst="roundRect">
            <a:avLst>
              <a:gd name="adj" fmla="val 15287"/>
            </a:avLst>
          </a:prstGeom>
          <a:solidFill>
            <a:srgbClr val="000054"/>
          </a:solidFill>
          <a:ln/>
        </p:spPr>
      </p:sp>
      <p:sp>
        <p:nvSpPr>
          <p:cNvPr id="14" name="Text 12"/>
          <p:cNvSpPr/>
          <p:nvPr/>
        </p:nvSpPr>
        <p:spPr>
          <a:xfrm>
            <a:off x="863578" y="3768507"/>
            <a:ext cx="2370674" cy="248841"/>
          </a:xfrm>
          <a:prstGeom prst="rect">
            <a:avLst/>
          </a:prstGeom>
          <a:noFill/>
          <a:ln/>
        </p:spPr>
        <p:txBody>
          <a:bodyPr wrap="none" lIns="0" tIns="0" rIns="0" bIns="0" rtlCol="0" anchor="t"/>
          <a:lstStyle/>
          <a:p>
            <a:pPr algn="l" indent="0" marL="0">
              <a:lnSpc>
                <a:spcPct val="117000"/>
              </a:lnSpc>
              <a:buNone/>
            </a:pPr>
            <a:r>
              <a:rPr lang="en-US" sz="1400" b="1" dirty="0">
                <a:solidFill>
                  <a:srgbClr val="FFEA00"/>
                </a:solidFill>
                <a:latin typeface="Be Vietnam Pro Bold" pitchFamily="34" charset="0"/>
                <a:ea typeface="Be Vietnam Pro Bold" pitchFamily="34" charset="-122"/>
                <a:cs typeface="Be Vietnam Pro Bold" pitchFamily="34" charset="0"/>
              </a:rPr>
              <a:t>Vì sao chọn AI?</a:t>
            </a:r>
            <a:endParaRPr lang="en-US" sz="1400" dirty="0"/>
          </a:p>
        </p:txBody>
      </p:sp>
      <p:sp>
        <p:nvSpPr>
          <p:cNvPr id="15" name="Text 13"/>
          <p:cNvSpPr/>
          <p:nvPr/>
        </p:nvSpPr>
        <p:spPr>
          <a:xfrm>
            <a:off x="3538945" y="3669427"/>
            <a:ext cx="7789172" cy="441920"/>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FFFFFF"/>
                </a:solidFill>
                <a:latin typeface="Be Vietnam Pro" pitchFamily="34" charset="0"/>
                <a:ea typeface="Be Vietnam Pro" pitchFamily="34" charset="-122"/>
                <a:cs typeface="Be Vietnam Pro" pitchFamily="34" charset="0"/>
              </a:rPr>
              <a:t>AI làm nhanh những việc trước đây cô làm thủ công: soạn bài tập phân hoá, viết nhận xét riêng cho từng em, đọc số liệu lỗi của cả lớp. Cô dành thời gian cho việc kèm học sinh.</a:t>
            </a:r>
            <a:endParaRPr lang="en-US" sz="1200" dirty="0"/>
          </a:p>
        </p:txBody>
      </p:sp>
      <p:pic>
        <p:nvPicPr>
          <p:cNvPr id="16" name="Image 0" descr="preencoded.png">    </p:cNvPr>
          <p:cNvPicPr>
            <a:picLocks noChangeAspect="1"/>
          </p:cNvPicPr>
          <p:nvPr/>
        </p:nvPicPr>
        <p:blipFill>
          <a:blip r:embed="rId1"/>
          <a:stretch>
            <a:fillRect/>
          </a:stretch>
        </p:blipFill>
        <p:spPr>
          <a:xfrm>
            <a:off x="609585" y="5572621"/>
            <a:ext cx="10972526" cy="12853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331974"/>
            <a:ext cx="10972526" cy="419100"/>
          </a:xfrm>
          <a:prstGeom prst="rect">
            <a:avLst/>
          </a:prstGeom>
          <a:noFill/>
          <a:ln/>
        </p:spPr>
        <p:txBody>
          <a:bodyPr wrap="none" lIns="0" tIns="0" rIns="0" bIns="0" rtlCol="0" anchor="t"/>
          <a:lstStyle/>
          <a:p>
            <a:pPr algn="l" indent="0" marL="0">
              <a:lnSpc>
                <a:spcPct val="92000"/>
              </a:lnSpc>
              <a:buNone/>
            </a:pPr>
            <a:r>
              <a:rPr lang="en-US" sz="3000" b="1" dirty="0">
                <a:solidFill>
                  <a:srgbClr val="000054"/>
                </a:solidFill>
                <a:latin typeface="Be Vietnam Pro Bold" pitchFamily="34" charset="0"/>
                <a:ea typeface="Be Vietnam Pro Bold" pitchFamily="34" charset="-122"/>
                <a:cs typeface="Be Vietnam Pro Bold" pitchFamily="34" charset="0"/>
              </a:rPr>
              <a:t>SẢN PHẨM: GÓC HỌC SINH</a:t>
            </a:r>
            <a:endParaRPr lang="en-US" sz="3000" dirty="0"/>
          </a:p>
        </p:txBody>
      </p:sp>
      <p:sp>
        <p:nvSpPr>
          <p:cNvPr id="3" name="Shape 1"/>
          <p:cNvSpPr/>
          <p:nvPr/>
        </p:nvSpPr>
        <p:spPr>
          <a:xfrm>
            <a:off x="609585" y="850900"/>
            <a:ext cx="3499953" cy="2197001"/>
          </a:xfrm>
          <a:prstGeom prst="rect">
            <a:avLst/>
          </a:prstGeom>
          <a:noFill/>
          <a:ln w="12700">
            <a:solidFill>
              <a:srgbClr val="D5DEF0"/>
            </a:solidFill>
            <a:prstDash val="solid"/>
          </a:ln>
        </p:spPr>
      </p:sp>
      <p:pic>
        <p:nvPicPr>
          <p:cNvPr id="4" name="Image 0" descr="preencoded.png">    </p:cNvPr>
          <p:cNvPicPr>
            <a:picLocks noChangeAspect="1"/>
          </p:cNvPicPr>
          <p:nvPr/>
        </p:nvPicPr>
        <p:blipFill>
          <a:blip r:embed="rId1"/>
          <a:stretch>
            <a:fillRect/>
          </a:stretch>
        </p:blipFill>
        <p:spPr>
          <a:xfrm>
            <a:off x="622284" y="863600"/>
            <a:ext cx="3474554" cy="2171601"/>
          </a:xfrm>
          <a:prstGeom prst="rect">
            <a:avLst/>
          </a:prstGeom>
        </p:spPr>
      </p:pic>
      <p:sp>
        <p:nvSpPr>
          <p:cNvPr id="5" name="Text 2"/>
          <p:cNvSpPr/>
          <p:nvPr/>
        </p:nvSpPr>
        <p:spPr>
          <a:xfrm>
            <a:off x="609585" y="3178711"/>
            <a:ext cx="3555911" cy="426641"/>
          </a:xfrm>
          <a:prstGeom prst="rect">
            <a:avLst/>
          </a:prstGeom>
          <a:noFill/>
          <a:ln/>
        </p:spPr>
        <p:txBody>
          <a:bodyPr wrap="square" lIns="0" tIns="0" rIns="0" bIns="0" rtlCol="0" anchor="t">
            <a:normAutofit/>
          </a:bodyPr>
          <a:lstStyle/>
          <a:p>
            <a:pPr algn="l" indent="0" marL="0">
              <a:lnSpc>
                <a:spcPct val="117000"/>
              </a:lnSpc>
              <a:buNone/>
            </a:pPr>
            <a:r>
              <a:rPr lang="en-US" sz="1200" i="1" dirty="0">
                <a:solidFill>
                  <a:srgbClr val="4A5072"/>
                </a:solidFill>
                <a:latin typeface="Be Vietnam Pro" pitchFamily="34" charset="0"/>
                <a:ea typeface="Be Vietnam Pro" pitchFamily="34" charset="-122"/>
                <a:cs typeface="Be Vietnam Pro" pitchFamily="34" charset="0"/>
              </a:rPr>
              <a:t>Hành trình học tập: mỗi tuần một trạm, theo chủ điểm của sách</a:t>
            </a:r>
            <a:endParaRPr lang="en-US" sz="1200" dirty="0"/>
          </a:p>
        </p:txBody>
      </p:sp>
      <p:sp>
        <p:nvSpPr>
          <p:cNvPr id="6" name="Text 3"/>
          <p:cNvSpPr/>
          <p:nvPr/>
        </p:nvSpPr>
        <p:spPr>
          <a:xfrm>
            <a:off x="4470288" y="869203"/>
            <a:ext cx="7111822" cy="279400"/>
          </a:xfrm>
          <a:prstGeom prst="rect">
            <a:avLst/>
          </a:prstGeom>
          <a:noFill/>
          <a:ln/>
        </p:spPr>
        <p:txBody>
          <a:bodyPr wrap="none" lIns="0" tIns="0" rIns="0" bIns="0" rtlCol="0" anchor="t"/>
          <a:lstStyle/>
          <a:p>
            <a:pPr algn="l" indent="0" marL="0">
              <a:lnSpc>
                <a:spcPct val="92000"/>
              </a:lnSpc>
              <a:buNone/>
            </a:pPr>
            <a:r>
              <a:rPr lang="en-US" sz="2000" dirty="0">
                <a:solidFill>
                  <a:srgbClr val="000054"/>
                </a:solidFill>
                <a:latin typeface="Be Vietnam Pro" pitchFamily="34" charset="0"/>
                <a:ea typeface="Be Vietnam Pro" pitchFamily="34" charset="-122"/>
                <a:cs typeface="Be Vietnam Pro" pitchFamily="34" charset="0"/>
              </a:rPr>
              <a:t>Khởi động</a:t>
            </a:r>
            <a:endParaRPr lang="en-US" sz="2000" dirty="0"/>
          </a:p>
        </p:txBody>
      </p:sp>
      <p:sp>
        <p:nvSpPr>
          <p:cNvPr id="7" name="Text 4"/>
          <p:cNvSpPr/>
          <p:nvPr/>
        </p:nvSpPr>
        <p:spPr>
          <a:xfrm>
            <a:off x="4470288" y="1240552"/>
            <a:ext cx="7111822" cy="284460"/>
          </a:xfrm>
          <a:prstGeom prst="rect">
            <a:avLst/>
          </a:prstGeom>
          <a:noFill/>
          <a:ln/>
        </p:spPr>
        <p:txBody>
          <a:bodyPr wrap="none" lIns="0" tIns="0" rIns="0" bIns="0" rtlCol="0" anchor="t"/>
          <a:lstStyle/>
          <a:p>
            <a:pPr algn="l" indent="0" marL="0">
              <a:lnSpc>
                <a:spcPct val="117000"/>
              </a:lnSpc>
              <a:buNone/>
            </a:pPr>
            <a:r>
              <a:rPr lang="en-US" sz="1600" dirty="0">
                <a:solidFill>
                  <a:srgbClr val="1B1F3B"/>
                </a:solidFill>
                <a:latin typeface="Be Vietnam Pro" pitchFamily="34" charset="0"/>
                <a:ea typeface="Be Vietnam Pro" pitchFamily="34" charset="-122"/>
                <a:cs typeface="Be Vietnam Pro" pitchFamily="34" charset="0"/>
              </a:rPr>
              <a:t>Mức 1: Nhận biết, làm quen kiến thức trọng tâm</a:t>
            </a:r>
            <a:endParaRPr lang="en-US" sz="1600" dirty="0"/>
          </a:p>
        </p:txBody>
      </p:sp>
      <p:sp>
        <p:nvSpPr>
          <p:cNvPr id="8" name="Text 5"/>
          <p:cNvSpPr/>
          <p:nvPr/>
        </p:nvSpPr>
        <p:spPr>
          <a:xfrm>
            <a:off x="4470288" y="1695298"/>
            <a:ext cx="7111822" cy="279400"/>
          </a:xfrm>
          <a:prstGeom prst="rect">
            <a:avLst/>
          </a:prstGeom>
          <a:noFill/>
          <a:ln/>
        </p:spPr>
        <p:txBody>
          <a:bodyPr wrap="none" lIns="0" tIns="0" rIns="0" bIns="0" rtlCol="0" anchor="t"/>
          <a:lstStyle/>
          <a:p>
            <a:pPr algn="l" indent="0" marL="0">
              <a:lnSpc>
                <a:spcPct val="92000"/>
              </a:lnSpc>
              <a:buNone/>
            </a:pPr>
            <a:r>
              <a:rPr lang="en-US" sz="2000" dirty="0">
                <a:solidFill>
                  <a:srgbClr val="000054"/>
                </a:solidFill>
                <a:latin typeface="Be Vietnam Pro" pitchFamily="34" charset="0"/>
                <a:ea typeface="Be Vietnam Pro" pitchFamily="34" charset="-122"/>
                <a:cs typeface="Be Vietnam Pro" pitchFamily="34" charset="0"/>
              </a:rPr>
              <a:t>Tăng tốc</a:t>
            </a:r>
            <a:endParaRPr lang="en-US" sz="2000" dirty="0"/>
          </a:p>
        </p:txBody>
      </p:sp>
      <p:sp>
        <p:nvSpPr>
          <p:cNvPr id="9" name="Text 6"/>
          <p:cNvSpPr/>
          <p:nvPr/>
        </p:nvSpPr>
        <p:spPr>
          <a:xfrm>
            <a:off x="4470288" y="2066647"/>
            <a:ext cx="7111822" cy="284460"/>
          </a:xfrm>
          <a:prstGeom prst="rect">
            <a:avLst/>
          </a:prstGeom>
          <a:noFill/>
          <a:ln/>
        </p:spPr>
        <p:txBody>
          <a:bodyPr wrap="none" lIns="0" tIns="0" rIns="0" bIns="0" rtlCol="0" anchor="t"/>
          <a:lstStyle/>
          <a:p>
            <a:pPr algn="l" indent="0" marL="0">
              <a:lnSpc>
                <a:spcPct val="117000"/>
              </a:lnSpc>
              <a:buNone/>
            </a:pPr>
            <a:r>
              <a:rPr lang="en-US" sz="1600" dirty="0">
                <a:solidFill>
                  <a:srgbClr val="1B1F3B"/>
                </a:solidFill>
                <a:latin typeface="Be Vietnam Pro" pitchFamily="34" charset="0"/>
                <a:ea typeface="Be Vietnam Pro" pitchFamily="34" charset="-122"/>
                <a:cs typeface="Be Vietnam Pro" pitchFamily="34" charset="0"/>
              </a:rPr>
              <a:t>Mức 2: Hiểu sâu, phân loại và luyện phản xạ</a:t>
            </a:r>
            <a:endParaRPr lang="en-US" sz="1600" dirty="0"/>
          </a:p>
        </p:txBody>
      </p:sp>
      <p:sp>
        <p:nvSpPr>
          <p:cNvPr id="10" name="Text 7"/>
          <p:cNvSpPr/>
          <p:nvPr/>
        </p:nvSpPr>
        <p:spPr>
          <a:xfrm>
            <a:off x="4470288" y="2521394"/>
            <a:ext cx="7111822" cy="279400"/>
          </a:xfrm>
          <a:prstGeom prst="rect">
            <a:avLst/>
          </a:prstGeom>
          <a:noFill/>
          <a:ln/>
        </p:spPr>
        <p:txBody>
          <a:bodyPr wrap="none" lIns="0" tIns="0" rIns="0" bIns="0" rtlCol="0" anchor="t"/>
          <a:lstStyle/>
          <a:p>
            <a:pPr algn="l" indent="0" marL="0">
              <a:lnSpc>
                <a:spcPct val="92000"/>
              </a:lnSpc>
              <a:buNone/>
            </a:pPr>
            <a:r>
              <a:rPr lang="en-US" sz="2000" dirty="0">
                <a:solidFill>
                  <a:srgbClr val="000054"/>
                </a:solidFill>
                <a:latin typeface="Be Vietnam Pro" pitchFamily="34" charset="0"/>
                <a:ea typeface="Be Vietnam Pro" pitchFamily="34" charset="-122"/>
                <a:cs typeface="Be Vietnam Pro" pitchFamily="34" charset="0"/>
              </a:rPr>
              <a:t>Chinh phục</a:t>
            </a:r>
            <a:endParaRPr lang="en-US" sz="2000" dirty="0"/>
          </a:p>
        </p:txBody>
      </p:sp>
      <p:sp>
        <p:nvSpPr>
          <p:cNvPr id="11" name="Text 8"/>
          <p:cNvSpPr/>
          <p:nvPr/>
        </p:nvSpPr>
        <p:spPr>
          <a:xfrm>
            <a:off x="4470288" y="2892742"/>
            <a:ext cx="7111822" cy="284460"/>
          </a:xfrm>
          <a:prstGeom prst="rect">
            <a:avLst/>
          </a:prstGeom>
          <a:noFill/>
          <a:ln/>
        </p:spPr>
        <p:txBody>
          <a:bodyPr wrap="none" lIns="0" tIns="0" rIns="0" bIns="0" rtlCol="0" anchor="t"/>
          <a:lstStyle/>
          <a:p>
            <a:pPr algn="l" indent="0" marL="0">
              <a:lnSpc>
                <a:spcPct val="117000"/>
              </a:lnSpc>
              <a:buNone/>
            </a:pPr>
            <a:r>
              <a:rPr lang="en-US" sz="1600" dirty="0">
                <a:solidFill>
                  <a:srgbClr val="1B1F3B"/>
                </a:solidFill>
                <a:latin typeface="Be Vietnam Pro" pitchFamily="34" charset="0"/>
                <a:ea typeface="Be Vietnam Pro" pitchFamily="34" charset="-122"/>
                <a:cs typeface="Be Vietnam Pro" pitchFamily="34" charset="0"/>
              </a:rPr>
              <a:t>Mức 3: Vận dụng nâng cao và tự đặt câu</a:t>
            </a:r>
            <a:endParaRPr lang="en-US" sz="1600" dirty="0"/>
          </a:p>
        </p:txBody>
      </p:sp>
      <p:sp>
        <p:nvSpPr>
          <p:cNvPr id="12" name="Shape 9"/>
          <p:cNvSpPr/>
          <p:nvPr/>
        </p:nvSpPr>
        <p:spPr>
          <a:xfrm>
            <a:off x="4470288" y="3303885"/>
            <a:ext cx="3479713" cy="917575"/>
          </a:xfrm>
          <a:prstGeom prst="roundRect">
            <a:avLst>
              <a:gd name="adj" fmla="val 13287"/>
            </a:avLst>
          </a:prstGeom>
          <a:solidFill>
            <a:srgbClr val="EEF3FC"/>
          </a:solidFill>
          <a:ln/>
        </p:spPr>
      </p:sp>
      <p:sp>
        <p:nvSpPr>
          <p:cNvPr id="13" name="Text 10"/>
          <p:cNvSpPr/>
          <p:nvPr/>
        </p:nvSpPr>
        <p:spPr>
          <a:xfrm>
            <a:off x="4597285" y="3429284"/>
            <a:ext cx="3225719" cy="391120"/>
          </a:xfrm>
          <a:prstGeom prst="rect">
            <a:avLst/>
          </a:prstGeom>
          <a:noFill/>
          <a:ln/>
        </p:spPr>
        <p:txBody>
          <a:bodyPr wrap="none" lIns="0" tIns="0" rIns="0" bIns="0" rtlCol="0" anchor="t"/>
          <a:lstStyle/>
          <a:p>
            <a:pPr algn="l" indent="0" marL="0">
              <a:lnSpc>
                <a:spcPct val="92000"/>
              </a:lnSpc>
              <a:buNone/>
            </a:pPr>
            <a:r>
              <a:rPr lang="en-US" sz="2800" b="1" dirty="0">
                <a:solidFill>
                  <a:srgbClr val="000054"/>
                </a:solidFill>
                <a:latin typeface="Be Vietnam Pro Bold" pitchFamily="34" charset="0"/>
                <a:ea typeface="Be Vietnam Pro Bold" pitchFamily="34" charset="-122"/>
                <a:cs typeface="Be Vietnam Pro Bold" pitchFamily="34" charset="0"/>
              </a:rPr>
              <a:t>35</a:t>
            </a:r>
            <a:endParaRPr lang="en-US" sz="2800" dirty="0"/>
          </a:p>
        </p:txBody>
      </p:sp>
      <p:sp>
        <p:nvSpPr>
          <p:cNvPr id="14" name="Text 11"/>
          <p:cNvSpPr/>
          <p:nvPr/>
        </p:nvSpPr>
        <p:spPr>
          <a:xfrm>
            <a:off x="4597285" y="3910350"/>
            <a:ext cx="3352716" cy="213320"/>
          </a:xfrm>
          <a:prstGeom prst="rect">
            <a:avLst/>
          </a:prstGeom>
          <a:noFill/>
          <a:ln/>
        </p:spPr>
        <p:txBody>
          <a:bodyPr wrap="none" lIns="0" tIns="0" rIns="0" bIns="0" rtlCol="0" anchor="t"/>
          <a:lstStyle/>
          <a:p>
            <a:pPr algn="l" indent="0" marL="0">
              <a:lnSpc>
                <a:spcPct val="117000"/>
              </a:lnSpc>
              <a:buNone/>
            </a:pPr>
            <a:r>
              <a:rPr lang="en-US" sz="1200" spc="72" kern="100" dirty="0">
                <a:solidFill>
                  <a:srgbClr val="1B1F3B"/>
                </a:solidFill>
                <a:latin typeface="Be Vietnam Pro" pitchFamily="34" charset="0"/>
                <a:ea typeface="Be Vietnam Pro" pitchFamily="34" charset="-122"/>
                <a:cs typeface="Be Vietnam Pro" pitchFamily="34" charset="0"/>
              </a:rPr>
              <a:t>trạm học: 31 bài và 4 trạm ôn tập</a:t>
            </a:r>
            <a:endParaRPr lang="en-US" sz="1200" dirty="0"/>
          </a:p>
        </p:txBody>
      </p:sp>
      <p:sp>
        <p:nvSpPr>
          <p:cNvPr id="15" name="Shape 12"/>
          <p:cNvSpPr/>
          <p:nvPr/>
        </p:nvSpPr>
        <p:spPr>
          <a:xfrm>
            <a:off x="8102397" y="3303885"/>
            <a:ext cx="3479713" cy="917575"/>
          </a:xfrm>
          <a:prstGeom prst="roundRect">
            <a:avLst>
              <a:gd name="adj" fmla="val 13287"/>
            </a:avLst>
          </a:prstGeom>
          <a:solidFill>
            <a:srgbClr val="EEF3FC"/>
          </a:solidFill>
          <a:ln/>
        </p:spPr>
      </p:sp>
      <p:sp>
        <p:nvSpPr>
          <p:cNvPr id="16" name="Text 13"/>
          <p:cNvSpPr/>
          <p:nvPr/>
        </p:nvSpPr>
        <p:spPr>
          <a:xfrm>
            <a:off x="8229394" y="3429284"/>
            <a:ext cx="3225719" cy="391120"/>
          </a:xfrm>
          <a:prstGeom prst="rect">
            <a:avLst/>
          </a:prstGeom>
          <a:noFill/>
          <a:ln/>
        </p:spPr>
        <p:txBody>
          <a:bodyPr wrap="none" lIns="0" tIns="0" rIns="0" bIns="0" rtlCol="0" anchor="t"/>
          <a:lstStyle/>
          <a:p>
            <a:pPr algn="l" indent="0" marL="0">
              <a:lnSpc>
                <a:spcPct val="92000"/>
              </a:lnSpc>
              <a:buNone/>
            </a:pPr>
            <a:r>
              <a:rPr lang="en-US" sz="2800" b="1" dirty="0">
                <a:solidFill>
                  <a:srgbClr val="000054"/>
                </a:solidFill>
                <a:latin typeface="Be Vietnam Pro Bold" pitchFamily="34" charset="0"/>
                <a:ea typeface="Be Vietnam Pro Bold" pitchFamily="34" charset="-122"/>
                <a:cs typeface="Be Vietnam Pro Bold" pitchFamily="34" charset="0"/>
              </a:rPr>
              <a:t>372</a:t>
            </a:r>
            <a:endParaRPr lang="en-US" sz="2800" dirty="0"/>
          </a:p>
        </p:txBody>
      </p:sp>
      <p:sp>
        <p:nvSpPr>
          <p:cNvPr id="17" name="Text 14"/>
          <p:cNvSpPr/>
          <p:nvPr/>
        </p:nvSpPr>
        <p:spPr>
          <a:xfrm>
            <a:off x="8229394" y="3910350"/>
            <a:ext cx="3352716" cy="213320"/>
          </a:xfrm>
          <a:prstGeom prst="rect">
            <a:avLst/>
          </a:prstGeom>
          <a:noFill/>
          <a:ln/>
        </p:spPr>
        <p:txBody>
          <a:bodyPr wrap="none" lIns="0" tIns="0" rIns="0" bIns="0" rtlCol="0" anchor="t"/>
          <a:lstStyle/>
          <a:p>
            <a:pPr algn="l" indent="0" marL="0">
              <a:lnSpc>
                <a:spcPct val="117000"/>
              </a:lnSpc>
              <a:buNone/>
            </a:pPr>
            <a:r>
              <a:rPr lang="en-US" sz="1200" spc="72" kern="100" dirty="0">
                <a:solidFill>
                  <a:srgbClr val="1B1F3B"/>
                </a:solidFill>
                <a:latin typeface="Be Vietnam Pro" pitchFamily="34" charset="0"/>
                <a:ea typeface="Be Vietnam Pro" pitchFamily="34" charset="-122"/>
                <a:cs typeface="Be Vietnam Pro" pitchFamily="34" charset="0"/>
              </a:rPr>
              <a:t>câu hỏi bám sát SGK Kết nối tri thức</a:t>
            </a:r>
            <a:endParaRPr lang="en-US" sz="1200" dirty="0"/>
          </a:p>
        </p:txBody>
      </p:sp>
      <p:sp>
        <p:nvSpPr>
          <p:cNvPr id="18" name="Shape 15"/>
          <p:cNvSpPr/>
          <p:nvPr/>
        </p:nvSpPr>
        <p:spPr>
          <a:xfrm>
            <a:off x="4470288" y="4373860"/>
            <a:ext cx="3479713" cy="1130895"/>
          </a:xfrm>
          <a:prstGeom prst="roundRect">
            <a:avLst>
              <a:gd name="adj" fmla="val 10781"/>
            </a:avLst>
          </a:prstGeom>
          <a:solidFill>
            <a:srgbClr val="EEF3FC"/>
          </a:solidFill>
          <a:ln/>
        </p:spPr>
      </p:sp>
      <p:sp>
        <p:nvSpPr>
          <p:cNvPr id="19" name="Text 16"/>
          <p:cNvSpPr/>
          <p:nvPr/>
        </p:nvSpPr>
        <p:spPr>
          <a:xfrm>
            <a:off x="4597285" y="4499259"/>
            <a:ext cx="3225719" cy="391120"/>
          </a:xfrm>
          <a:prstGeom prst="rect">
            <a:avLst/>
          </a:prstGeom>
          <a:noFill/>
          <a:ln/>
        </p:spPr>
        <p:txBody>
          <a:bodyPr wrap="none" lIns="0" tIns="0" rIns="0" bIns="0" rtlCol="0" anchor="t"/>
          <a:lstStyle/>
          <a:p>
            <a:pPr algn="l" indent="0" marL="0">
              <a:lnSpc>
                <a:spcPct val="92000"/>
              </a:lnSpc>
              <a:buNone/>
            </a:pPr>
            <a:r>
              <a:rPr lang="en-US" sz="2800" b="1" dirty="0">
                <a:solidFill>
                  <a:srgbClr val="1E5BD8"/>
                </a:solidFill>
                <a:latin typeface="Be Vietnam Pro Bold" pitchFamily="34" charset="0"/>
                <a:ea typeface="Be Vietnam Pro Bold" pitchFamily="34" charset="-122"/>
                <a:cs typeface="Be Vietnam Pro Bold" pitchFamily="34" charset="0"/>
              </a:rPr>
              <a:t>3</a:t>
            </a:r>
            <a:endParaRPr lang="en-US" sz="2800" dirty="0"/>
          </a:p>
        </p:txBody>
      </p:sp>
      <p:sp>
        <p:nvSpPr>
          <p:cNvPr id="20" name="Text 17"/>
          <p:cNvSpPr/>
          <p:nvPr/>
        </p:nvSpPr>
        <p:spPr>
          <a:xfrm>
            <a:off x="4597285" y="4980325"/>
            <a:ext cx="3225719" cy="426641"/>
          </a:xfrm>
          <a:prstGeom prst="rect">
            <a:avLst/>
          </a:prstGeom>
          <a:noFill/>
          <a:ln/>
        </p:spPr>
        <p:txBody>
          <a:bodyPr wrap="square" lIns="0" tIns="0" rIns="0" bIns="0" rtlCol="0" anchor="t">
            <a:normAutofit/>
          </a:bodyPr>
          <a:lstStyle/>
          <a:p>
            <a:pPr algn="l" indent="0" marL="0">
              <a:lnSpc>
                <a:spcPct val="117000"/>
              </a:lnSpc>
              <a:buNone/>
            </a:pPr>
            <a:r>
              <a:rPr lang="en-US" sz="1200" spc="72" kern="100" dirty="0">
                <a:solidFill>
                  <a:srgbClr val="1B1F3B"/>
                </a:solidFill>
                <a:latin typeface="Be Vietnam Pro" pitchFamily="34" charset="0"/>
                <a:ea typeface="Be Vietnam Pro" pitchFamily="34" charset="-122"/>
                <a:cs typeface="Be Vietnam Pro" pitchFamily="34" charset="0"/>
              </a:rPr>
              <a:t>mức: Khởi động – Tăng tốc – Chinh phục</a:t>
            </a:r>
            <a:endParaRPr lang="en-US" sz="1200" dirty="0"/>
          </a:p>
        </p:txBody>
      </p:sp>
      <p:sp>
        <p:nvSpPr>
          <p:cNvPr id="21" name="Shape 18"/>
          <p:cNvSpPr/>
          <p:nvPr/>
        </p:nvSpPr>
        <p:spPr>
          <a:xfrm>
            <a:off x="8102397" y="4373860"/>
            <a:ext cx="3479713" cy="1130895"/>
          </a:xfrm>
          <a:prstGeom prst="roundRect">
            <a:avLst>
              <a:gd name="adj" fmla="val 10781"/>
            </a:avLst>
          </a:prstGeom>
          <a:solidFill>
            <a:srgbClr val="EEF3FC"/>
          </a:solidFill>
          <a:ln/>
        </p:spPr>
      </p:sp>
      <p:sp>
        <p:nvSpPr>
          <p:cNvPr id="22" name="Text 19"/>
          <p:cNvSpPr/>
          <p:nvPr/>
        </p:nvSpPr>
        <p:spPr>
          <a:xfrm>
            <a:off x="8229394" y="4499259"/>
            <a:ext cx="3225719" cy="391120"/>
          </a:xfrm>
          <a:prstGeom prst="rect">
            <a:avLst/>
          </a:prstGeom>
          <a:noFill/>
          <a:ln/>
        </p:spPr>
        <p:txBody>
          <a:bodyPr wrap="none" lIns="0" tIns="0" rIns="0" bIns="0" rtlCol="0" anchor="t"/>
          <a:lstStyle/>
          <a:p>
            <a:pPr algn="l" indent="0" marL="0">
              <a:lnSpc>
                <a:spcPct val="92000"/>
              </a:lnSpc>
              <a:buNone/>
            </a:pPr>
            <a:r>
              <a:rPr lang="en-US" sz="2800" b="1" dirty="0">
                <a:solidFill>
                  <a:srgbClr val="1E5BD8"/>
                </a:solidFill>
                <a:latin typeface="Be Vietnam Pro Bold" pitchFamily="34" charset="0"/>
                <a:ea typeface="Be Vietnam Pro Bold" pitchFamily="34" charset="-122"/>
                <a:cs typeface="Be Vietnam Pro Bold" pitchFamily="34" charset="0"/>
              </a:rPr>
              <a:t>7</a:t>
            </a:r>
            <a:endParaRPr lang="en-US" sz="2800" dirty="0"/>
          </a:p>
        </p:txBody>
      </p:sp>
      <p:sp>
        <p:nvSpPr>
          <p:cNvPr id="23" name="Text 20"/>
          <p:cNvSpPr/>
          <p:nvPr/>
        </p:nvSpPr>
        <p:spPr>
          <a:xfrm>
            <a:off x="8229394" y="4980325"/>
            <a:ext cx="3352716" cy="213320"/>
          </a:xfrm>
          <a:prstGeom prst="rect">
            <a:avLst/>
          </a:prstGeom>
          <a:noFill/>
          <a:ln/>
        </p:spPr>
        <p:txBody>
          <a:bodyPr wrap="none" lIns="0" tIns="0" rIns="0" bIns="0" rtlCol="0" anchor="t"/>
          <a:lstStyle/>
          <a:p>
            <a:pPr algn="l" indent="0" marL="0">
              <a:lnSpc>
                <a:spcPct val="117000"/>
              </a:lnSpc>
              <a:buNone/>
            </a:pPr>
            <a:r>
              <a:rPr lang="en-US" sz="1200" spc="72" kern="100" dirty="0">
                <a:solidFill>
                  <a:srgbClr val="1B1F3B"/>
                </a:solidFill>
                <a:latin typeface="Be Vietnam Pro" pitchFamily="34" charset="0"/>
                <a:ea typeface="Be Vietnam Pro" pitchFamily="34" charset="-122"/>
                <a:cs typeface="Be Vietnam Pro" pitchFamily="34" charset="0"/>
              </a:rPr>
              <a:t>dạng bài tương tác</a:t>
            </a:r>
            <a:endParaRPr lang="en-US" sz="1200" dirty="0"/>
          </a:p>
        </p:txBody>
      </p:sp>
      <p:sp>
        <p:nvSpPr>
          <p:cNvPr id="24" name="Text 21"/>
          <p:cNvSpPr/>
          <p:nvPr/>
        </p:nvSpPr>
        <p:spPr>
          <a:xfrm>
            <a:off x="4470288" y="5645619"/>
            <a:ext cx="7111822" cy="446881"/>
          </a:xfrm>
          <a:prstGeom prst="rect">
            <a:avLst/>
          </a:prstGeom>
          <a:noFill/>
          <a:ln/>
        </p:spPr>
        <p:txBody>
          <a:bodyPr wrap="square" lIns="0" tIns="0" rIns="0" bIns="0" rtlCol="0" anchor="t">
            <a:normAutofit/>
          </a:bodyPr>
          <a:lstStyle/>
          <a:p>
            <a:pPr algn="l" indent="0" marL="0">
              <a:lnSpc>
                <a:spcPct val="92000"/>
              </a:lnSpc>
              <a:buNone/>
            </a:pPr>
            <a:r>
              <a:rPr lang="en-US" sz="1600" b="1" dirty="0">
                <a:solidFill>
                  <a:srgbClr val="3A4170"/>
                </a:solidFill>
                <a:latin typeface="Be Vietnam Pro Bold" pitchFamily="34" charset="0"/>
                <a:ea typeface="Be Vietnam Pro Bold" pitchFamily="34" charset="-122"/>
                <a:cs typeface="Be Vietnam Pro Bold" pitchFamily="34" charset="0"/>
              </a:rPr>
              <a:t>Trắc nghiệm · Chạm chọn từ · Xếp nhóm · Nối cột · Điền từ · Đúng/Sai · Tự đặt câu. Mức sau mở khoá khi em đạt 2 sao ở mức trước.</a:t>
            </a:r>
            <a:endParaRPr lang="en-US" sz="1600" dirty="0"/>
          </a:p>
        </p:txBody>
      </p:sp>
      <p:pic>
        <p:nvPicPr>
          <p:cNvPr id="25" name="Image 1" descr="preencoded.png">    </p:cNvPr>
          <p:cNvPicPr>
            <a:picLocks noChangeAspect="1"/>
          </p:cNvPicPr>
          <p:nvPr/>
        </p:nvPicPr>
        <p:blipFill>
          <a:blip r:embed="rId2"/>
          <a:stretch>
            <a:fillRect/>
          </a:stretch>
        </p:blipFill>
        <p:spPr>
          <a:xfrm>
            <a:off x="609585" y="6248400"/>
            <a:ext cx="10972526" cy="609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535174"/>
            <a:ext cx="10972526" cy="419100"/>
          </a:xfrm>
          <a:prstGeom prst="rect">
            <a:avLst/>
          </a:prstGeom>
          <a:noFill/>
          <a:ln/>
        </p:spPr>
        <p:txBody>
          <a:bodyPr wrap="none" lIns="0" tIns="0" rIns="0" bIns="0" rtlCol="0" anchor="t"/>
          <a:lstStyle/>
          <a:p>
            <a:pPr algn="l" indent="0" marL="0">
              <a:lnSpc>
                <a:spcPct val="92000"/>
              </a:lnSpc>
              <a:buNone/>
            </a:pPr>
            <a:r>
              <a:rPr lang="en-US" sz="3000" b="1" dirty="0">
                <a:solidFill>
                  <a:srgbClr val="000054"/>
                </a:solidFill>
                <a:latin typeface="Be Vietnam Pro Bold" pitchFamily="34" charset="0"/>
                <a:ea typeface="Be Vietnam Pro Bold" pitchFamily="34" charset="-122"/>
                <a:cs typeface="Be Vietnam Pro Bold" pitchFamily="34" charset="0"/>
              </a:rPr>
              <a:t>PHẢN HỒI TỨC THÌ VÀ THÁM TỬ AI</a:t>
            </a:r>
            <a:endParaRPr lang="en-US" sz="3000" dirty="0"/>
          </a:p>
        </p:txBody>
      </p:sp>
      <p:sp>
        <p:nvSpPr>
          <p:cNvPr id="3" name="Shape 1"/>
          <p:cNvSpPr/>
          <p:nvPr/>
        </p:nvSpPr>
        <p:spPr>
          <a:xfrm>
            <a:off x="609585" y="1104900"/>
            <a:ext cx="4591729" cy="3174901"/>
          </a:xfrm>
          <a:prstGeom prst="rect">
            <a:avLst/>
          </a:prstGeom>
          <a:noFill/>
          <a:ln w="12700">
            <a:solidFill>
              <a:srgbClr val="D5DEF0"/>
            </a:solidFill>
            <a:prstDash val="solid"/>
          </a:ln>
        </p:spPr>
      </p:sp>
      <p:pic>
        <p:nvPicPr>
          <p:cNvPr id="4" name="Image 0" descr="preencoded.png">    </p:cNvPr>
          <p:cNvPicPr>
            <a:picLocks noChangeAspect="1"/>
          </p:cNvPicPr>
          <p:nvPr/>
        </p:nvPicPr>
        <p:blipFill>
          <a:blip r:embed="rId1"/>
          <a:stretch>
            <a:fillRect/>
          </a:stretch>
        </p:blipFill>
        <p:spPr>
          <a:xfrm>
            <a:off x="622284" y="1117600"/>
            <a:ext cx="4566330" cy="3149501"/>
          </a:xfrm>
          <a:prstGeom prst="rect">
            <a:avLst/>
          </a:prstGeom>
        </p:spPr>
      </p:pic>
      <p:sp>
        <p:nvSpPr>
          <p:cNvPr id="5" name="Text 2"/>
          <p:cNvSpPr/>
          <p:nvPr/>
        </p:nvSpPr>
        <p:spPr>
          <a:xfrm>
            <a:off x="5798596" y="1104900"/>
            <a:ext cx="806430" cy="177800"/>
          </a:xfrm>
          <a:prstGeom prst="rect">
            <a:avLst/>
          </a:prstGeom>
          <a:noFill/>
          <a:ln/>
        </p:spPr>
        <p:txBody>
          <a:bodyPr wrap="none" lIns="0" tIns="0" rIns="0" bIns="0" rtlCol="0" anchor="t"/>
          <a:lstStyle/>
          <a:p>
            <a:pPr algn="l" indent="0" marL="0">
              <a:lnSpc>
                <a:spcPct val="83000"/>
              </a:lnSpc>
              <a:buNone/>
            </a:pPr>
            <a:r>
              <a:rPr lang="en-US" sz="1400" dirty="0">
                <a:solidFill>
                  <a:srgbClr val="3A4170"/>
                </a:solidFill>
                <a:latin typeface="Be Vietnam Pro SemiBold" pitchFamily="34" charset="0"/>
                <a:ea typeface="Be Vietnam Pro SemiBold" pitchFamily="34" charset="-122"/>
                <a:cs typeface="Be Vietnam Pro SemiBold" pitchFamily="34" charset="0"/>
              </a:rPr>
              <a:t>01</a:t>
            </a:r>
            <a:endParaRPr lang="en-US" sz="1400" dirty="0"/>
          </a:p>
        </p:txBody>
      </p:sp>
      <p:sp>
        <p:nvSpPr>
          <p:cNvPr id="6" name="Shape 3"/>
          <p:cNvSpPr/>
          <p:nvPr/>
        </p:nvSpPr>
        <p:spPr>
          <a:xfrm>
            <a:off x="5798596" y="1353840"/>
            <a:ext cx="1622980" cy="19050"/>
          </a:xfrm>
          <a:prstGeom prst="rect">
            <a:avLst/>
          </a:prstGeom>
          <a:solidFill>
            <a:srgbClr val="3A4170"/>
          </a:solidFill>
          <a:ln/>
        </p:spPr>
      </p:sp>
      <p:sp>
        <p:nvSpPr>
          <p:cNvPr id="7" name="Text 4"/>
          <p:cNvSpPr/>
          <p:nvPr/>
        </p:nvSpPr>
        <p:spPr>
          <a:xfrm>
            <a:off x="5798596" y="1479550"/>
            <a:ext cx="1622980" cy="362645"/>
          </a:xfrm>
          <a:prstGeom prst="rect">
            <a:avLst/>
          </a:prstGeom>
          <a:noFill/>
          <a:ln/>
        </p:spPr>
        <p:txBody>
          <a:bodyPr wrap="none" lIns="0" tIns="0" rIns="0" bIns="0" rtlCol="0" anchor="t"/>
          <a:lstStyle/>
          <a:p>
            <a:pPr algn="l" indent="0" marL="0">
              <a:lnSpc>
                <a:spcPct val="170000"/>
              </a:lnSpc>
              <a:buNone/>
            </a:pPr>
            <a:r>
              <a:rPr lang="en-US" sz="1400" b="1" dirty="0">
                <a:solidFill>
                  <a:srgbClr val="1E5BD8"/>
                </a:solidFill>
                <a:latin typeface="Be Vietnam Pro Bold" pitchFamily="34" charset="0"/>
                <a:ea typeface="Be Vietnam Pro Bold" pitchFamily="34" charset="-122"/>
                <a:cs typeface="Be Vietnam Pro Bold" pitchFamily="34" charset="0"/>
              </a:rPr>
              <a:t>Làm bài &amp; Thử lại</a:t>
            </a:r>
            <a:endParaRPr lang="en-US" sz="1400" dirty="0"/>
          </a:p>
        </p:txBody>
      </p:sp>
      <p:sp>
        <p:nvSpPr>
          <p:cNvPr id="8" name="Text 5"/>
          <p:cNvSpPr/>
          <p:nvPr/>
        </p:nvSpPr>
        <p:spPr>
          <a:xfrm>
            <a:off x="5798596" y="1952129"/>
            <a:ext cx="1622980" cy="284956"/>
          </a:xfrm>
          <a:prstGeom prst="rect">
            <a:avLst/>
          </a:prstGeom>
          <a:noFill/>
          <a:ln/>
        </p:spPr>
        <p:txBody>
          <a:bodyPr wrap="none" lIns="0" tIns="0" rIns="0" bIns="0" rtlCol="0" anchor="t"/>
          <a:lstStyle/>
          <a:p>
            <a:pPr algn="l" indent="0" marL="0">
              <a:lnSpc>
                <a:spcPct val="170000"/>
              </a:lnSpc>
              <a:buNone/>
            </a:pPr>
            <a:r>
              <a:rPr lang="en-US" sz="1100" dirty="0">
                <a:solidFill>
                  <a:srgbClr val="1B1F3B"/>
                </a:solidFill>
                <a:latin typeface="Be Vietnam Pro" pitchFamily="34" charset="0"/>
                <a:ea typeface="Be Vietnam Pro" pitchFamily="34" charset="-122"/>
                <a:cs typeface="Be Vietnam Pro" pitchFamily="34" charset="0"/>
              </a:rPr>
              <a:t>Gợi ý trước khi chọn</a:t>
            </a:r>
            <a:endParaRPr lang="en-US" sz="1100" dirty="0"/>
          </a:p>
        </p:txBody>
      </p:sp>
      <p:sp>
        <p:nvSpPr>
          <p:cNvPr id="9" name="Text 6"/>
          <p:cNvSpPr/>
          <p:nvPr/>
        </p:nvSpPr>
        <p:spPr>
          <a:xfrm>
            <a:off x="7878764" y="1104900"/>
            <a:ext cx="849986" cy="177800"/>
          </a:xfrm>
          <a:prstGeom prst="rect">
            <a:avLst/>
          </a:prstGeom>
          <a:noFill/>
          <a:ln/>
        </p:spPr>
        <p:txBody>
          <a:bodyPr wrap="none" lIns="0" tIns="0" rIns="0" bIns="0" rtlCol="0" anchor="t"/>
          <a:lstStyle/>
          <a:p>
            <a:pPr algn="l" indent="0" marL="0">
              <a:lnSpc>
                <a:spcPct val="83000"/>
              </a:lnSpc>
              <a:buNone/>
            </a:pPr>
            <a:r>
              <a:rPr lang="en-US" sz="1400" dirty="0">
                <a:solidFill>
                  <a:srgbClr val="3A4170"/>
                </a:solidFill>
                <a:latin typeface="Be Vietnam Pro SemiBold" pitchFamily="34" charset="0"/>
                <a:ea typeface="Be Vietnam Pro SemiBold" pitchFamily="34" charset="-122"/>
                <a:cs typeface="Be Vietnam Pro SemiBold" pitchFamily="34" charset="0"/>
              </a:rPr>
              <a:t>02</a:t>
            </a:r>
            <a:endParaRPr lang="en-US" sz="1400" dirty="0"/>
          </a:p>
        </p:txBody>
      </p:sp>
      <p:sp>
        <p:nvSpPr>
          <p:cNvPr id="10" name="Shape 7"/>
          <p:cNvSpPr/>
          <p:nvPr/>
        </p:nvSpPr>
        <p:spPr>
          <a:xfrm>
            <a:off x="7878764" y="1353840"/>
            <a:ext cx="1622980" cy="19050"/>
          </a:xfrm>
          <a:prstGeom prst="rect">
            <a:avLst/>
          </a:prstGeom>
          <a:solidFill>
            <a:srgbClr val="3A4170"/>
          </a:solidFill>
          <a:ln/>
        </p:spPr>
      </p:sp>
      <p:sp>
        <p:nvSpPr>
          <p:cNvPr id="11" name="Text 8"/>
          <p:cNvSpPr/>
          <p:nvPr/>
        </p:nvSpPr>
        <p:spPr>
          <a:xfrm>
            <a:off x="7878764" y="1479550"/>
            <a:ext cx="1623079" cy="362645"/>
          </a:xfrm>
          <a:prstGeom prst="rect">
            <a:avLst/>
          </a:prstGeom>
          <a:noFill/>
          <a:ln/>
        </p:spPr>
        <p:txBody>
          <a:bodyPr wrap="none" lIns="0" tIns="0" rIns="0" bIns="0" rtlCol="0" anchor="t"/>
          <a:lstStyle/>
          <a:p>
            <a:pPr algn="l" indent="0" marL="0">
              <a:lnSpc>
                <a:spcPct val="170000"/>
              </a:lnSpc>
              <a:buNone/>
            </a:pPr>
            <a:r>
              <a:rPr lang="en-US" sz="1400" b="1" dirty="0">
                <a:solidFill>
                  <a:srgbClr val="1E5BD8"/>
                </a:solidFill>
                <a:latin typeface="Be Vietnam Pro Bold" pitchFamily="34" charset="0"/>
                <a:ea typeface="Be Vietnam Pro Bold" pitchFamily="34" charset="-122"/>
                <a:cs typeface="Be Vietnam Pro Bold" pitchFamily="34" charset="0"/>
              </a:rPr>
              <a:t>Phản hồi tức thì</a:t>
            </a:r>
            <a:endParaRPr lang="en-US" sz="1400" dirty="0"/>
          </a:p>
        </p:txBody>
      </p:sp>
      <p:sp>
        <p:nvSpPr>
          <p:cNvPr id="12" name="Text 9"/>
          <p:cNvSpPr/>
          <p:nvPr/>
        </p:nvSpPr>
        <p:spPr>
          <a:xfrm>
            <a:off x="7878764" y="1952129"/>
            <a:ext cx="1623079" cy="284956"/>
          </a:xfrm>
          <a:prstGeom prst="rect">
            <a:avLst/>
          </a:prstGeom>
          <a:noFill/>
          <a:ln/>
        </p:spPr>
        <p:txBody>
          <a:bodyPr wrap="none" lIns="0" tIns="0" rIns="0" bIns="0" rtlCol="0" anchor="t"/>
          <a:lstStyle/>
          <a:p>
            <a:pPr algn="l" indent="0" marL="0">
              <a:lnSpc>
                <a:spcPct val="170000"/>
              </a:lnSpc>
              <a:buNone/>
            </a:pPr>
            <a:r>
              <a:rPr lang="en-US" sz="1100" dirty="0">
                <a:solidFill>
                  <a:srgbClr val="1B1F3B"/>
                </a:solidFill>
                <a:latin typeface="Be Vietnam Pro" pitchFamily="34" charset="0"/>
                <a:ea typeface="Be Vietnam Pro" pitchFamily="34" charset="-122"/>
                <a:cs typeface="Be Vietnam Pro" pitchFamily="34" charset="0"/>
              </a:rPr>
              <a:t>Giải thích rõ khi sai</a:t>
            </a:r>
            <a:endParaRPr lang="en-US" sz="1100" dirty="0"/>
          </a:p>
        </p:txBody>
      </p:sp>
      <p:sp>
        <p:nvSpPr>
          <p:cNvPr id="13" name="Text 10"/>
          <p:cNvSpPr/>
          <p:nvPr/>
        </p:nvSpPr>
        <p:spPr>
          <a:xfrm>
            <a:off x="9959031" y="1104900"/>
            <a:ext cx="852466" cy="177800"/>
          </a:xfrm>
          <a:prstGeom prst="rect">
            <a:avLst/>
          </a:prstGeom>
          <a:noFill/>
          <a:ln/>
        </p:spPr>
        <p:txBody>
          <a:bodyPr wrap="none" lIns="0" tIns="0" rIns="0" bIns="0" rtlCol="0" anchor="t"/>
          <a:lstStyle/>
          <a:p>
            <a:pPr algn="l" indent="0" marL="0">
              <a:lnSpc>
                <a:spcPct val="83000"/>
              </a:lnSpc>
              <a:buNone/>
            </a:pPr>
            <a:r>
              <a:rPr lang="en-US" sz="1400" dirty="0">
                <a:solidFill>
                  <a:srgbClr val="3A4170"/>
                </a:solidFill>
                <a:latin typeface="Be Vietnam Pro SemiBold" pitchFamily="34" charset="0"/>
                <a:ea typeface="Be Vietnam Pro SemiBold" pitchFamily="34" charset="-122"/>
                <a:cs typeface="Be Vietnam Pro SemiBold" pitchFamily="34" charset="0"/>
              </a:rPr>
              <a:t>03</a:t>
            </a:r>
            <a:endParaRPr lang="en-US" sz="1400" dirty="0"/>
          </a:p>
        </p:txBody>
      </p:sp>
      <p:sp>
        <p:nvSpPr>
          <p:cNvPr id="14" name="Shape 11"/>
          <p:cNvSpPr/>
          <p:nvPr/>
        </p:nvSpPr>
        <p:spPr>
          <a:xfrm>
            <a:off x="9959031" y="1353840"/>
            <a:ext cx="1622980" cy="19050"/>
          </a:xfrm>
          <a:prstGeom prst="rect">
            <a:avLst/>
          </a:prstGeom>
          <a:solidFill>
            <a:srgbClr val="3A4170"/>
          </a:solidFill>
          <a:ln/>
        </p:spPr>
      </p:sp>
      <p:sp>
        <p:nvSpPr>
          <p:cNvPr id="15" name="Text 12"/>
          <p:cNvSpPr/>
          <p:nvPr/>
        </p:nvSpPr>
        <p:spPr>
          <a:xfrm>
            <a:off x="9959031" y="1479550"/>
            <a:ext cx="1623079" cy="362645"/>
          </a:xfrm>
          <a:prstGeom prst="rect">
            <a:avLst/>
          </a:prstGeom>
          <a:noFill/>
          <a:ln/>
        </p:spPr>
        <p:txBody>
          <a:bodyPr wrap="none" lIns="0" tIns="0" rIns="0" bIns="0" rtlCol="0" anchor="t"/>
          <a:lstStyle/>
          <a:p>
            <a:pPr algn="l" indent="0" marL="0">
              <a:lnSpc>
                <a:spcPct val="170000"/>
              </a:lnSpc>
              <a:buNone/>
            </a:pPr>
            <a:r>
              <a:rPr lang="en-US" sz="1400" b="1" dirty="0">
                <a:solidFill>
                  <a:srgbClr val="1E5BD8"/>
                </a:solidFill>
                <a:latin typeface="Be Vietnam Pro Bold" pitchFamily="34" charset="0"/>
                <a:ea typeface="Be Vietnam Pro Bold" pitchFamily="34" charset="-122"/>
                <a:cs typeface="Be Vietnam Pro Bold" pitchFamily="34" charset="0"/>
              </a:rPr>
              <a:t>Tích lũy sao</a:t>
            </a:r>
            <a:endParaRPr lang="en-US" sz="1400" dirty="0"/>
          </a:p>
        </p:txBody>
      </p:sp>
      <p:sp>
        <p:nvSpPr>
          <p:cNvPr id="16" name="Text 13"/>
          <p:cNvSpPr/>
          <p:nvPr/>
        </p:nvSpPr>
        <p:spPr>
          <a:xfrm>
            <a:off x="9959031" y="1952129"/>
            <a:ext cx="1623079" cy="284956"/>
          </a:xfrm>
          <a:prstGeom prst="rect">
            <a:avLst/>
          </a:prstGeom>
          <a:noFill/>
          <a:ln/>
        </p:spPr>
        <p:txBody>
          <a:bodyPr wrap="none" lIns="0" tIns="0" rIns="0" bIns="0" rtlCol="0" anchor="t"/>
          <a:lstStyle/>
          <a:p>
            <a:pPr algn="l" indent="0" marL="0">
              <a:lnSpc>
                <a:spcPct val="170000"/>
              </a:lnSpc>
              <a:buNone/>
            </a:pPr>
            <a:r>
              <a:rPr lang="en-US" sz="1100" dirty="0">
                <a:solidFill>
                  <a:srgbClr val="1B1F3B"/>
                </a:solidFill>
                <a:latin typeface="Be Vietnam Pro" pitchFamily="34" charset="0"/>
                <a:ea typeface="Be Vietnam Pro" pitchFamily="34" charset="-122"/>
                <a:cs typeface="Be Vietnam Pro" pitchFamily="34" charset="0"/>
              </a:rPr>
              <a:t>Mở khóa chặng kế tiếp</a:t>
            </a:r>
            <a:endParaRPr lang="en-US" sz="1100" dirty="0"/>
          </a:p>
        </p:txBody>
      </p:sp>
      <p:sp>
        <p:nvSpPr>
          <p:cNvPr id="17" name="Text 14"/>
          <p:cNvSpPr/>
          <p:nvPr/>
        </p:nvSpPr>
        <p:spPr>
          <a:xfrm>
            <a:off x="5798596" y="2364085"/>
            <a:ext cx="5783515" cy="388541"/>
          </a:xfrm>
          <a:prstGeom prst="rect">
            <a:avLst/>
          </a:prstGeom>
          <a:noFill/>
          <a:ln/>
        </p:spPr>
        <p:txBody>
          <a:bodyPr wrap="none" lIns="0" tIns="0" rIns="0" bIns="0" rtlCol="0" anchor="t"/>
          <a:lstStyle/>
          <a:p>
            <a:pPr algn="l" indent="0" marL="0">
              <a:lnSpc>
                <a:spcPct val="170000"/>
              </a:lnSpc>
              <a:buNone/>
            </a:pPr>
            <a:r>
              <a:rPr lang="en-US" sz="1500" b="1" dirty="0">
                <a:solidFill>
                  <a:srgbClr val="1E5BD8"/>
                </a:solidFill>
                <a:latin typeface="Be Vietnam Pro Bold" pitchFamily="34" charset="0"/>
                <a:ea typeface="Be Vietnam Pro Bold" pitchFamily="34" charset="-122"/>
                <a:cs typeface="Be Vietnam Pro Bold" pitchFamily="34" charset="0"/>
              </a:rPr>
              <a:t>Sai đâu biết đó</a:t>
            </a:r>
            <a:endParaRPr lang="en-US" sz="1500" dirty="0"/>
          </a:p>
        </p:txBody>
      </p:sp>
      <p:sp>
        <p:nvSpPr>
          <p:cNvPr id="18" name="Text 15"/>
          <p:cNvSpPr/>
          <p:nvPr/>
        </p:nvSpPr>
        <p:spPr>
          <a:xfrm>
            <a:off x="5798596" y="2864465"/>
            <a:ext cx="5783515" cy="441920"/>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1B1F3B"/>
                </a:solidFill>
                <a:latin typeface="Be Vietnam Pro" pitchFamily="34" charset="0"/>
                <a:ea typeface="Be Vietnam Pro" pitchFamily="34" charset="-122"/>
                <a:cs typeface="Be Vietnam Pro" pitchFamily="34" charset="0"/>
              </a:rPr>
              <a:t>Mỗi câu có Gợi ý trước khi làm và lời Giải thích sau khi làm. Em được thử lại, không bị phạt.</a:t>
            </a:r>
            <a:endParaRPr lang="en-US" sz="1200" dirty="0"/>
          </a:p>
        </p:txBody>
      </p:sp>
      <p:sp>
        <p:nvSpPr>
          <p:cNvPr id="19" name="Shape 16"/>
          <p:cNvSpPr/>
          <p:nvPr/>
        </p:nvSpPr>
        <p:spPr>
          <a:xfrm>
            <a:off x="5798596" y="3431480"/>
            <a:ext cx="5783515" cy="1591766"/>
          </a:xfrm>
          <a:prstGeom prst="roundRect">
            <a:avLst>
              <a:gd name="adj" fmla="val 7659"/>
            </a:avLst>
          </a:prstGeom>
          <a:solidFill>
            <a:srgbClr val="000054"/>
          </a:solidFill>
          <a:ln/>
        </p:spPr>
      </p:sp>
      <p:sp>
        <p:nvSpPr>
          <p:cNvPr id="20" name="Text 17"/>
          <p:cNvSpPr/>
          <p:nvPr/>
        </p:nvSpPr>
        <p:spPr>
          <a:xfrm>
            <a:off x="6001790" y="3583880"/>
            <a:ext cx="5580320" cy="388541"/>
          </a:xfrm>
          <a:prstGeom prst="rect">
            <a:avLst/>
          </a:prstGeom>
          <a:noFill/>
          <a:ln/>
        </p:spPr>
        <p:txBody>
          <a:bodyPr wrap="none" lIns="0" tIns="0" rIns="0" bIns="0" rtlCol="0" anchor="t"/>
          <a:lstStyle/>
          <a:p>
            <a:pPr algn="l" indent="0" marL="0">
              <a:lnSpc>
                <a:spcPct val="170000"/>
              </a:lnSpc>
              <a:buNone/>
            </a:pPr>
            <a:r>
              <a:rPr lang="en-US" sz="1500" b="1" dirty="0">
                <a:solidFill>
                  <a:srgbClr val="FFFFFF"/>
                </a:solidFill>
                <a:latin typeface="Be Vietnam Pro Bold" pitchFamily="34" charset="0"/>
                <a:ea typeface="Be Vietnam Pro Bold" pitchFamily="34" charset="-122"/>
                <a:cs typeface="Be Vietnam Pro Bold" pitchFamily="34" charset="0"/>
              </a:rPr>
              <a:t>Thám tử AI · 32 câu</a:t>
            </a:r>
            <a:endParaRPr lang="en-US" sz="1500" dirty="0"/>
          </a:p>
        </p:txBody>
      </p:sp>
      <p:sp>
        <p:nvSpPr>
          <p:cNvPr id="21" name="Text 18"/>
          <p:cNvSpPr/>
          <p:nvPr/>
        </p:nvSpPr>
        <p:spPr>
          <a:xfrm>
            <a:off x="6001790" y="4101326"/>
            <a:ext cx="5377125" cy="441920"/>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FFFFFF"/>
                </a:solidFill>
                <a:latin typeface="Be Vietnam Pro" pitchFamily="34" charset="0"/>
                <a:ea typeface="Be Vietnam Pro" pitchFamily="34" charset="-122"/>
                <a:cs typeface="Be Vietnam Pro" pitchFamily="34" charset="0"/>
              </a:rPr>
              <a:t>Rô-bốt Bíp cố tình xếp nhầm một từ. Em tìm ra lỗi của “AI” và giải thích vì sao.</a:t>
            </a:r>
            <a:endParaRPr lang="en-US" sz="1200" dirty="0"/>
          </a:p>
        </p:txBody>
      </p:sp>
      <p:sp>
        <p:nvSpPr>
          <p:cNvPr id="22" name="Text 19"/>
          <p:cNvSpPr/>
          <p:nvPr/>
        </p:nvSpPr>
        <p:spPr>
          <a:xfrm>
            <a:off x="6001790" y="4670088"/>
            <a:ext cx="5580320" cy="202505"/>
          </a:xfrm>
          <a:prstGeom prst="rect">
            <a:avLst/>
          </a:prstGeom>
          <a:noFill/>
          <a:ln/>
        </p:spPr>
        <p:txBody>
          <a:bodyPr wrap="none" lIns="0" tIns="0" rIns="0" bIns="0" rtlCol="0" anchor="t"/>
          <a:lstStyle/>
          <a:p>
            <a:pPr algn="l" indent="0" marL="0">
              <a:lnSpc>
                <a:spcPct val="121000"/>
              </a:lnSpc>
              <a:buNone/>
            </a:pPr>
            <a:r>
              <a:rPr lang="en-US" sz="1100" i="1" dirty="0">
                <a:solidFill>
                  <a:srgbClr val="FFFFFF"/>
                </a:solidFill>
                <a:latin typeface="Be Vietnam Pro" pitchFamily="34" charset="0"/>
                <a:ea typeface="Be Vietnam Pro" pitchFamily="34" charset="-122"/>
                <a:cs typeface="Be Vietnam Pro" pitchFamily="34" charset="0"/>
              </a:rPr>
              <a:t>“Bíp đã nhầm rồi! AI cũng có lúc sai, em nhớ kiểm tra lại nhé.”</a:t>
            </a:r>
            <a:endParaRPr lang="en-US" sz="1100" dirty="0"/>
          </a:p>
        </p:txBody>
      </p:sp>
      <p:sp>
        <p:nvSpPr>
          <p:cNvPr id="23" name="Text 20"/>
          <p:cNvSpPr/>
          <p:nvPr/>
        </p:nvSpPr>
        <p:spPr>
          <a:xfrm>
            <a:off x="5798596" y="5150247"/>
            <a:ext cx="5783515" cy="388541"/>
          </a:xfrm>
          <a:prstGeom prst="rect">
            <a:avLst/>
          </a:prstGeom>
          <a:noFill/>
          <a:ln/>
        </p:spPr>
        <p:txBody>
          <a:bodyPr wrap="none" lIns="0" tIns="0" rIns="0" bIns="0" rtlCol="0" anchor="t"/>
          <a:lstStyle/>
          <a:p>
            <a:pPr algn="l" indent="0" marL="0">
              <a:lnSpc>
                <a:spcPct val="170000"/>
              </a:lnSpc>
              <a:buNone/>
            </a:pPr>
            <a:r>
              <a:rPr lang="en-US" sz="1500" b="1" dirty="0">
                <a:solidFill>
                  <a:srgbClr val="1E5BD8"/>
                </a:solidFill>
                <a:latin typeface="Be Vietnam Pro Bold" pitchFamily="34" charset="0"/>
                <a:ea typeface="Be Vietnam Pro Bold" pitchFamily="34" charset="-122"/>
                <a:cs typeface="Be Vietnam Pro Bold" pitchFamily="34" charset="0"/>
              </a:rPr>
              <a:t>Gửi kết quả cho cô</a:t>
            </a:r>
            <a:endParaRPr lang="en-US" sz="1500" dirty="0"/>
          </a:p>
        </p:txBody>
      </p:sp>
      <p:sp>
        <p:nvSpPr>
          <p:cNvPr id="24" name="Text 21"/>
          <p:cNvSpPr/>
          <p:nvPr/>
        </p:nvSpPr>
        <p:spPr>
          <a:xfrm>
            <a:off x="5798596" y="5650627"/>
            <a:ext cx="5783515" cy="220960"/>
          </a:xfrm>
          <a:prstGeom prst="rect">
            <a:avLst/>
          </a:prstGeom>
          <a:noFill/>
          <a:ln/>
        </p:spPr>
        <p:txBody>
          <a:bodyPr wrap="none" lIns="0" tIns="0" rIns="0" bIns="0" rtlCol="0" anchor="t"/>
          <a:lstStyle/>
          <a:p>
            <a:pPr algn="l" indent="0" marL="0">
              <a:lnSpc>
                <a:spcPct val="121000"/>
              </a:lnSpc>
              <a:buNone/>
            </a:pPr>
            <a:r>
              <a:rPr lang="en-US" sz="1200" dirty="0">
                <a:solidFill>
                  <a:srgbClr val="1B1F3B"/>
                </a:solidFill>
                <a:latin typeface="Be Vietnam Pro" pitchFamily="34" charset="0"/>
                <a:ea typeface="Be Vietnam Pro" pitchFamily="34" charset="-122"/>
                <a:cs typeface="Be Vietnam Pro" pitchFamily="34" charset="0"/>
              </a:rPr>
              <a:t>Kết quả lưu trên máy; em bấm một nút để gửi mã kết quả cho cô.</a:t>
            </a:r>
            <a:endParaRPr lang="en-US" sz="1200" dirty="0"/>
          </a:p>
        </p:txBody>
      </p:sp>
      <p:pic>
        <p:nvPicPr>
          <p:cNvPr id="25" name="Image 1" descr="preencoded.png">    </p:cNvPr>
          <p:cNvPicPr>
            <a:picLocks noChangeAspect="1"/>
          </p:cNvPicPr>
          <p:nvPr/>
        </p:nvPicPr>
        <p:blipFill>
          <a:blip r:embed="rId2"/>
          <a:stretch>
            <a:fillRect/>
          </a:stretch>
        </p:blipFill>
        <p:spPr>
          <a:xfrm>
            <a:off x="609585" y="6248400"/>
            <a:ext cx="10972526" cy="609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535174"/>
            <a:ext cx="10972526" cy="419100"/>
          </a:xfrm>
          <a:prstGeom prst="rect">
            <a:avLst/>
          </a:prstGeom>
          <a:noFill/>
          <a:ln/>
        </p:spPr>
        <p:txBody>
          <a:bodyPr wrap="none" lIns="0" tIns="0" rIns="0" bIns="0" rtlCol="0" anchor="t"/>
          <a:lstStyle/>
          <a:p>
            <a:pPr algn="l" indent="0" marL="0">
              <a:lnSpc>
                <a:spcPct val="92000"/>
              </a:lnSpc>
              <a:buNone/>
            </a:pPr>
            <a:r>
              <a:rPr lang="en-US" sz="3000" b="1" dirty="0">
                <a:solidFill>
                  <a:srgbClr val="000054"/>
                </a:solidFill>
                <a:latin typeface="Be Vietnam Pro Bold" pitchFamily="34" charset="0"/>
                <a:ea typeface="Be Vietnam Pro Bold" pitchFamily="34" charset="-122"/>
                <a:cs typeface="Be Vietnam Pro Bold" pitchFamily="34" charset="0"/>
              </a:rPr>
              <a:t>TRỢ LÝ AI CHO GIÁO VIÊN</a:t>
            </a:r>
            <a:endParaRPr lang="en-US" sz="3000" dirty="0"/>
          </a:p>
        </p:txBody>
      </p:sp>
      <p:sp>
        <p:nvSpPr>
          <p:cNvPr id="3" name="Shape 1"/>
          <p:cNvSpPr/>
          <p:nvPr/>
        </p:nvSpPr>
        <p:spPr>
          <a:xfrm>
            <a:off x="609585" y="1104900"/>
            <a:ext cx="4150514" cy="3581301"/>
          </a:xfrm>
          <a:prstGeom prst="rect">
            <a:avLst/>
          </a:prstGeom>
          <a:noFill/>
          <a:ln w="12700">
            <a:solidFill>
              <a:srgbClr val="D5DEF0"/>
            </a:solidFill>
            <a:prstDash val="solid"/>
          </a:ln>
        </p:spPr>
      </p:sp>
      <p:pic>
        <p:nvPicPr>
          <p:cNvPr id="4" name="Image 0" descr="preencoded.png">    </p:cNvPr>
          <p:cNvPicPr>
            <a:picLocks noChangeAspect="1"/>
          </p:cNvPicPr>
          <p:nvPr/>
        </p:nvPicPr>
        <p:blipFill>
          <a:blip r:embed="rId1"/>
          <a:stretch>
            <a:fillRect/>
          </a:stretch>
        </p:blipFill>
        <p:spPr>
          <a:xfrm>
            <a:off x="622284" y="1117600"/>
            <a:ext cx="4125115" cy="3555901"/>
          </a:xfrm>
          <a:prstGeom prst="rect">
            <a:avLst/>
          </a:prstGeom>
        </p:spPr>
      </p:pic>
      <p:sp>
        <p:nvSpPr>
          <p:cNvPr id="5" name="Shape 2"/>
          <p:cNvSpPr/>
          <p:nvPr/>
        </p:nvSpPr>
        <p:spPr>
          <a:xfrm>
            <a:off x="5272749" y="1247775"/>
            <a:ext cx="387340" cy="311150"/>
          </a:xfrm>
          <a:prstGeom prst="roundRect">
            <a:avLst>
              <a:gd name="adj" fmla="val 17142"/>
            </a:avLst>
          </a:prstGeom>
          <a:solidFill>
            <a:srgbClr val="3A4170"/>
          </a:solidFill>
          <a:ln w="6350">
            <a:solidFill>
              <a:srgbClr val="C3C6D4"/>
            </a:solidFill>
            <a:prstDash val="solid"/>
          </a:ln>
        </p:spPr>
      </p:sp>
      <p:sp>
        <p:nvSpPr>
          <p:cNvPr id="6" name="Text 3"/>
          <p:cNvSpPr/>
          <p:nvPr/>
        </p:nvSpPr>
        <p:spPr>
          <a:xfrm>
            <a:off x="5367997" y="1314450"/>
            <a:ext cx="806430"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Be Vietnam Pro SemiBold" pitchFamily="34" charset="0"/>
                <a:ea typeface="Be Vietnam Pro SemiBold" pitchFamily="34" charset="-122"/>
                <a:cs typeface="Be Vietnam Pro SemiBold" pitchFamily="34" charset="0"/>
              </a:rPr>
              <a:t>01</a:t>
            </a:r>
            <a:endParaRPr lang="en-US" sz="1400" dirty="0"/>
          </a:p>
        </p:txBody>
      </p:sp>
      <p:sp>
        <p:nvSpPr>
          <p:cNvPr id="7" name="Text 4"/>
          <p:cNvSpPr/>
          <p:nvPr/>
        </p:nvSpPr>
        <p:spPr>
          <a:xfrm>
            <a:off x="5731128" y="1206500"/>
            <a:ext cx="5850982" cy="388541"/>
          </a:xfrm>
          <a:prstGeom prst="rect">
            <a:avLst/>
          </a:prstGeom>
          <a:noFill/>
          <a:ln/>
        </p:spPr>
        <p:txBody>
          <a:bodyPr wrap="none" lIns="0" tIns="0" rIns="0" bIns="0" rtlCol="0" anchor="t"/>
          <a:lstStyle/>
          <a:p>
            <a:pPr algn="l" indent="0" marL="0">
              <a:lnSpc>
                <a:spcPct val="170000"/>
              </a:lnSpc>
              <a:buNone/>
            </a:pPr>
            <a:r>
              <a:rPr lang="en-US" sz="1500" b="1" dirty="0">
                <a:solidFill>
                  <a:srgbClr val="000054"/>
                </a:solidFill>
                <a:latin typeface="Be Vietnam Pro Bold" pitchFamily="34" charset="0"/>
                <a:ea typeface="Be Vietnam Pro Bold" pitchFamily="34" charset="-122"/>
                <a:cs typeface="Be Vietnam Pro Bold" pitchFamily="34" charset="0"/>
              </a:rPr>
              <a:t>Soạn thêm câu hỏi</a:t>
            </a:r>
            <a:endParaRPr lang="en-US" sz="1500" dirty="0"/>
          </a:p>
        </p:txBody>
      </p:sp>
      <p:sp>
        <p:nvSpPr>
          <p:cNvPr id="8" name="Text 5"/>
          <p:cNvSpPr/>
          <p:nvPr/>
        </p:nvSpPr>
        <p:spPr>
          <a:xfrm>
            <a:off x="5731128" y="1708785"/>
            <a:ext cx="5850982" cy="213320"/>
          </a:xfrm>
          <a:prstGeom prst="rect">
            <a:avLst/>
          </a:prstGeom>
          <a:noFill/>
          <a:ln/>
        </p:spPr>
        <p:txBody>
          <a:bodyPr wrap="none" lIns="0" tIns="0" rIns="0" bIns="0" rtlCol="0" anchor="t"/>
          <a:lstStyle/>
          <a:p>
            <a:pPr algn="l" indent="0" marL="0">
              <a:lnSpc>
                <a:spcPct val="117000"/>
              </a:lnSpc>
              <a:buNone/>
            </a:pPr>
            <a:r>
              <a:rPr lang="en-US" sz="1200" dirty="0">
                <a:solidFill>
                  <a:srgbClr val="1B1F3B"/>
                </a:solidFill>
                <a:latin typeface="Be Vietnam Pro" pitchFamily="34" charset="0"/>
                <a:ea typeface="Be Vietnam Pro" pitchFamily="34" charset="-122"/>
                <a:cs typeface="Be Vietnam Pro" pitchFamily="34" charset="0"/>
              </a:rPr>
              <a:t>Chọn bài, mức, số câu và dạng bài; cô duyệt từng câu rồi mới giao cho lớp.</a:t>
            </a:r>
            <a:endParaRPr lang="en-US" sz="1200" dirty="0"/>
          </a:p>
        </p:txBody>
      </p:sp>
      <p:sp>
        <p:nvSpPr>
          <p:cNvPr id="9" name="Shape 6"/>
          <p:cNvSpPr/>
          <p:nvPr/>
        </p:nvSpPr>
        <p:spPr>
          <a:xfrm>
            <a:off x="5272749" y="2162770"/>
            <a:ext cx="430896" cy="311150"/>
          </a:xfrm>
          <a:prstGeom prst="roundRect">
            <a:avLst>
              <a:gd name="adj" fmla="val 17142"/>
            </a:avLst>
          </a:prstGeom>
          <a:solidFill>
            <a:srgbClr val="3A4170"/>
          </a:solidFill>
          <a:ln w="6350">
            <a:solidFill>
              <a:srgbClr val="C3C6D4"/>
            </a:solidFill>
            <a:prstDash val="solid"/>
          </a:ln>
        </p:spPr>
      </p:sp>
      <p:sp>
        <p:nvSpPr>
          <p:cNvPr id="10" name="Text 7"/>
          <p:cNvSpPr/>
          <p:nvPr/>
        </p:nvSpPr>
        <p:spPr>
          <a:xfrm>
            <a:off x="5367997" y="2229445"/>
            <a:ext cx="849986"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Be Vietnam Pro SemiBold" pitchFamily="34" charset="0"/>
                <a:ea typeface="Be Vietnam Pro SemiBold" pitchFamily="34" charset="-122"/>
                <a:cs typeface="Be Vietnam Pro SemiBold" pitchFamily="34" charset="0"/>
              </a:rPr>
              <a:t>02</a:t>
            </a:r>
            <a:endParaRPr lang="en-US" sz="1400" dirty="0"/>
          </a:p>
        </p:txBody>
      </p:sp>
      <p:sp>
        <p:nvSpPr>
          <p:cNvPr id="11" name="Text 8"/>
          <p:cNvSpPr/>
          <p:nvPr/>
        </p:nvSpPr>
        <p:spPr>
          <a:xfrm>
            <a:off x="5774684" y="2121495"/>
            <a:ext cx="5807426" cy="388541"/>
          </a:xfrm>
          <a:prstGeom prst="rect">
            <a:avLst/>
          </a:prstGeom>
          <a:noFill/>
          <a:ln/>
        </p:spPr>
        <p:txBody>
          <a:bodyPr wrap="none" lIns="0" tIns="0" rIns="0" bIns="0" rtlCol="0" anchor="t"/>
          <a:lstStyle/>
          <a:p>
            <a:pPr algn="l" indent="0" marL="0">
              <a:lnSpc>
                <a:spcPct val="170000"/>
              </a:lnSpc>
              <a:buNone/>
            </a:pPr>
            <a:r>
              <a:rPr lang="en-US" sz="1500" b="1" dirty="0">
                <a:solidFill>
                  <a:srgbClr val="000054"/>
                </a:solidFill>
                <a:latin typeface="Be Vietnam Pro Bold" pitchFamily="34" charset="0"/>
                <a:ea typeface="Be Vietnam Pro Bold" pitchFamily="34" charset="-122"/>
                <a:cs typeface="Be Vietnam Pro Bold" pitchFamily="34" charset="0"/>
              </a:rPr>
              <a:t>Nhận xét câu học sinh tự viết</a:t>
            </a:r>
            <a:endParaRPr lang="en-US" sz="1500" dirty="0"/>
          </a:p>
        </p:txBody>
      </p:sp>
      <p:sp>
        <p:nvSpPr>
          <p:cNvPr id="12" name="Text 9"/>
          <p:cNvSpPr/>
          <p:nvPr/>
        </p:nvSpPr>
        <p:spPr>
          <a:xfrm>
            <a:off x="5774684" y="2623780"/>
            <a:ext cx="5807426" cy="213320"/>
          </a:xfrm>
          <a:prstGeom prst="rect">
            <a:avLst/>
          </a:prstGeom>
          <a:noFill/>
          <a:ln/>
        </p:spPr>
        <p:txBody>
          <a:bodyPr wrap="none" lIns="0" tIns="0" rIns="0" bIns="0" rtlCol="0" anchor="t"/>
          <a:lstStyle/>
          <a:p>
            <a:pPr algn="l" indent="0" marL="0">
              <a:lnSpc>
                <a:spcPct val="117000"/>
              </a:lnSpc>
              <a:buNone/>
            </a:pPr>
            <a:r>
              <a:rPr lang="en-US" sz="1200" dirty="0">
                <a:solidFill>
                  <a:srgbClr val="1B1F3B"/>
                </a:solidFill>
                <a:latin typeface="Be Vietnam Pro" pitchFamily="34" charset="0"/>
                <a:ea typeface="Be Vietnam Pro" pitchFamily="34" charset="-122"/>
                <a:cs typeface="Be Vietnam Pro" pitchFamily="34" charset="0"/>
              </a:rPr>
              <a:t>Khen trước, góp ý một điểm; cô sửa rồi chép vào vở hoặc gửi phụ huynh.</a:t>
            </a:r>
            <a:endParaRPr lang="en-US" sz="1200" dirty="0"/>
          </a:p>
        </p:txBody>
      </p:sp>
      <p:sp>
        <p:nvSpPr>
          <p:cNvPr id="13" name="Shape 10"/>
          <p:cNvSpPr/>
          <p:nvPr/>
        </p:nvSpPr>
        <p:spPr>
          <a:xfrm>
            <a:off x="5272749" y="3077766"/>
            <a:ext cx="433377" cy="311150"/>
          </a:xfrm>
          <a:prstGeom prst="roundRect">
            <a:avLst>
              <a:gd name="adj" fmla="val 17142"/>
            </a:avLst>
          </a:prstGeom>
          <a:solidFill>
            <a:srgbClr val="3A4170"/>
          </a:solidFill>
          <a:ln w="6350">
            <a:solidFill>
              <a:srgbClr val="C3C6D4"/>
            </a:solidFill>
            <a:prstDash val="solid"/>
          </a:ln>
        </p:spPr>
      </p:sp>
      <p:sp>
        <p:nvSpPr>
          <p:cNvPr id="14" name="Text 11"/>
          <p:cNvSpPr/>
          <p:nvPr/>
        </p:nvSpPr>
        <p:spPr>
          <a:xfrm>
            <a:off x="5367997" y="3144441"/>
            <a:ext cx="852466"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Be Vietnam Pro SemiBold" pitchFamily="34" charset="0"/>
                <a:ea typeface="Be Vietnam Pro SemiBold" pitchFamily="34" charset="-122"/>
                <a:cs typeface="Be Vietnam Pro SemiBold" pitchFamily="34" charset="0"/>
              </a:rPr>
              <a:t>03</a:t>
            </a:r>
            <a:endParaRPr lang="en-US" sz="1400" dirty="0"/>
          </a:p>
        </p:txBody>
      </p:sp>
      <p:sp>
        <p:nvSpPr>
          <p:cNvPr id="15" name="Text 12"/>
          <p:cNvSpPr/>
          <p:nvPr/>
        </p:nvSpPr>
        <p:spPr>
          <a:xfrm>
            <a:off x="5777165" y="3036491"/>
            <a:ext cx="5804945" cy="388541"/>
          </a:xfrm>
          <a:prstGeom prst="rect">
            <a:avLst/>
          </a:prstGeom>
          <a:noFill/>
          <a:ln/>
        </p:spPr>
        <p:txBody>
          <a:bodyPr wrap="none" lIns="0" tIns="0" rIns="0" bIns="0" rtlCol="0" anchor="t"/>
          <a:lstStyle/>
          <a:p>
            <a:pPr algn="l" indent="0" marL="0">
              <a:lnSpc>
                <a:spcPct val="170000"/>
              </a:lnSpc>
              <a:buNone/>
            </a:pPr>
            <a:r>
              <a:rPr lang="en-US" sz="1500" b="1" dirty="0">
                <a:solidFill>
                  <a:srgbClr val="000054"/>
                </a:solidFill>
                <a:latin typeface="Be Vietnam Pro Bold" pitchFamily="34" charset="0"/>
                <a:ea typeface="Be Vietnam Pro Bold" pitchFamily="34" charset="-122"/>
                <a:cs typeface="Be Vietnam Pro Bold" pitchFamily="34" charset="0"/>
              </a:rPr>
              <a:t>Gợi ý tổ chức tiết tiếp theo</a:t>
            </a:r>
            <a:endParaRPr lang="en-US" sz="1500" dirty="0"/>
          </a:p>
        </p:txBody>
      </p:sp>
      <p:sp>
        <p:nvSpPr>
          <p:cNvPr id="16" name="Text 13"/>
          <p:cNvSpPr/>
          <p:nvPr/>
        </p:nvSpPr>
        <p:spPr>
          <a:xfrm>
            <a:off x="5777165" y="3538776"/>
            <a:ext cx="5804945" cy="213320"/>
          </a:xfrm>
          <a:prstGeom prst="rect">
            <a:avLst/>
          </a:prstGeom>
          <a:noFill/>
          <a:ln/>
        </p:spPr>
        <p:txBody>
          <a:bodyPr wrap="none" lIns="0" tIns="0" rIns="0" bIns="0" rtlCol="0" anchor="t"/>
          <a:lstStyle/>
          <a:p>
            <a:pPr algn="l" indent="0" marL="0">
              <a:lnSpc>
                <a:spcPct val="117000"/>
              </a:lnSpc>
              <a:buNone/>
            </a:pPr>
            <a:r>
              <a:rPr lang="en-US" sz="1200" dirty="0">
                <a:solidFill>
                  <a:srgbClr val="1B1F3B"/>
                </a:solidFill>
                <a:latin typeface="Be Vietnam Pro" pitchFamily="34" charset="0"/>
                <a:ea typeface="Be Vietnam Pro" pitchFamily="34" charset="-122"/>
                <a:cs typeface="Be Vietnam Pro" pitchFamily="34" charset="0"/>
              </a:rPr>
              <a:t>Đọc lỗi hay gặp, đề xuất hoạt động cho Trạm Cô, Trạm Máy, Trạm Bạn.</a:t>
            </a:r>
            <a:endParaRPr lang="en-US" sz="1200" dirty="0"/>
          </a:p>
        </p:txBody>
      </p:sp>
      <p:sp>
        <p:nvSpPr>
          <p:cNvPr id="17" name="Shape 14"/>
          <p:cNvSpPr/>
          <p:nvPr/>
        </p:nvSpPr>
        <p:spPr>
          <a:xfrm>
            <a:off x="5272749" y="3992761"/>
            <a:ext cx="440917" cy="311150"/>
          </a:xfrm>
          <a:prstGeom prst="roundRect">
            <a:avLst>
              <a:gd name="adj" fmla="val 17142"/>
            </a:avLst>
          </a:prstGeom>
          <a:solidFill>
            <a:srgbClr val="3A4170"/>
          </a:solidFill>
          <a:ln w="6350">
            <a:solidFill>
              <a:srgbClr val="C3C6D4"/>
            </a:solidFill>
            <a:prstDash val="solid"/>
          </a:ln>
        </p:spPr>
      </p:sp>
      <p:sp>
        <p:nvSpPr>
          <p:cNvPr id="18" name="Text 15"/>
          <p:cNvSpPr/>
          <p:nvPr/>
        </p:nvSpPr>
        <p:spPr>
          <a:xfrm>
            <a:off x="5367997" y="4059436"/>
            <a:ext cx="860007" cy="177800"/>
          </a:xfrm>
          <a:prstGeom prst="rect">
            <a:avLst/>
          </a:prstGeom>
          <a:noFill/>
          <a:ln/>
        </p:spPr>
        <p:txBody>
          <a:bodyPr wrap="none" lIns="0" tIns="0" rIns="0" bIns="0" rtlCol="0" anchor="t"/>
          <a:lstStyle/>
          <a:p>
            <a:pPr algn="l" indent="0" marL="0">
              <a:lnSpc>
                <a:spcPct val="83000"/>
              </a:lnSpc>
              <a:buNone/>
            </a:pPr>
            <a:r>
              <a:rPr lang="en-US" sz="1400" dirty="0">
                <a:solidFill>
                  <a:srgbClr val="FFFFFF"/>
                </a:solidFill>
                <a:latin typeface="Be Vietnam Pro SemiBold" pitchFamily="34" charset="0"/>
                <a:ea typeface="Be Vietnam Pro SemiBold" pitchFamily="34" charset="-122"/>
                <a:cs typeface="Be Vietnam Pro SemiBold" pitchFamily="34" charset="0"/>
              </a:rPr>
              <a:t>04</a:t>
            </a:r>
            <a:endParaRPr lang="en-US" sz="1400" dirty="0"/>
          </a:p>
        </p:txBody>
      </p:sp>
      <p:sp>
        <p:nvSpPr>
          <p:cNvPr id="19" name="Text 16"/>
          <p:cNvSpPr/>
          <p:nvPr/>
        </p:nvSpPr>
        <p:spPr>
          <a:xfrm>
            <a:off x="5784705" y="3951486"/>
            <a:ext cx="5797405" cy="388541"/>
          </a:xfrm>
          <a:prstGeom prst="rect">
            <a:avLst/>
          </a:prstGeom>
          <a:noFill/>
          <a:ln/>
        </p:spPr>
        <p:txBody>
          <a:bodyPr wrap="none" lIns="0" tIns="0" rIns="0" bIns="0" rtlCol="0" anchor="t"/>
          <a:lstStyle/>
          <a:p>
            <a:pPr algn="l" indent="0" marL="0">
              <a:lnSpc>
                <a:spcPct val="170000"/>
              </a:lnSpc>
              <a:buNone/>
            </a:pPr>
            <a:r>
              <a:rPr lang="en-US" sz="1500" b="1" dirty="0">
                <a:solidFill>
                  <a:srgbClr val="000054"/>
                </a:solidFill>
                <a:latin typeface="Be Vietnam Pro Bold" pitchFamily="34" charset="0"/>
                <a:ea typeface="Be Vietnam Pro Bold" pitchFamily="34" charset="-122"/>
                <a:cs typeface="Be Vietnam Pro Bold" pitchFamily="34" charset="0"/>
              </a:rPr>
              <a:t>Nháp nhận xét định kì</a:t>
            </a:r>
            <a:endParaRPr lang="en-US" sz="1500" dirty="0"/>
          </a:p>
        </p:txBody>
      </p:sp>
      <p:sp>
        <p:nvSpPr>
          <p:cNvPr id="20" name="Text 17"/>
          <p:cNvSpPr/>
          <p:nvPr/>
        </p:nvSpPr>
        <p:spPr>
          <a:xfrm>
            <a:off x="5784705" y="4453771"/>
            <a:ext cx="5797405" cy="213320"/>
          </a:xfrm>
          <a:prstGeom prst="rect">
            <a:avLst/>
          </a:prstGeom>
          <a:noFill/>
          <a:ln/>
        </p:spPr>
        <p:txBody>
          <a:bodyPr wrap="none" lIns="0" tIns="0" rIns="0" bIns="0" rtlCol="0" anchor="t"/>
          <a:lstStyle/>
          <a:p>
            <a:pPr algn="l" indent="0" marL="0">
              <a:lnSpc>
                <a:spcPct val="117000"/>
              </a:lnSpc>
              <a:buNone/>
            </a:pPr>
            <a:r>
              <a:rPr lang="en-US" sz="1200" dirty="0">
                <a:solidFill>
                  <a:srgbClr val="1B1F3B"/>
                </a:solidFill>
                <a:latin typeface="Be Vietnam Pro" pitchFamily="34" charset="0"/>
                <a:ea typeface="Be Vietnam Pro" pitchFamily="34" charset="-122"/>
                <a:cs typeface="Be Vietnam Pro" pitchFamily="34" charset="0"/>
              </a:rPr>
              <a:t>2–3 câu cho mỗi em: điều làm tốt, điều cần cố gắng, lời động viên.</a:t>
            </a:r>
            <a:endParaRPr lang="en-US" sz="1200" dirty="0"/>
          </a:p>
        </p:txBody>
      </p:sp>
      <p:pic>
        <p:nvPicPr>
          <p:cNvPr id="21" name="Image 1" descr="preencoded.png">    </p:cNvPr>
          <p:cNvPicPr>
            <a:picLocks noChangeAspect="1"/>
          </p:cNvPicPr>
          <p:nvPr/>
        </p:nvPicPr>
        <p:blipFill>
          <a:blip r:embed="rId2"/>
          <a:stretch>
            <a:fillRect/>
          </a:stretch>
        </p:blipFill>
        <p:spPr>
          <a:xfrm>
            <a:off x="609585" y="5811441"/>
            <a:ext cx="10972526" cy="1046559"/>
          </a:xfrm>
          <a:prstGeom prst="rect">
            <a:avLst/>
          </a:prstGeom>
        </p:spPr>
      </p:pic>
      <p:sp>
        <p:nvSpPr>
          <p:cNvPr id="22" name="Shape 18"/>
          <p:cNvSpPr/>
          <p:nvPr/>
        </p:nvSpPr>
        <p:spPr>
          <a:xfrm>
            <a:off x="5272749" y="2013545"/>
            <a:ext cx="6309361" cy="12700"/>
          </a:xfrm>
          <a:prstGeom prst="rect">
            <a:avLst/>
          </a:prstGeom>
          <a:solidFill>
            <a:srgbClr val="E3E8F4"/>
          </a:solidFill>
          <a:ln/>
        </p:spPr>
      </p:sp>
      <p:sp>
        <p:nvSpPr>
          <p:cNvPr id="23" name="Shape 19"/>
          <p:cNvSpPr/>
          <p:nvPr/>
        </p:nvSpPr>
        <p:spPr>
          <a:xfrm>
            <a:off x="5272749" y="2928541"/>
            <a:ext cx="6309361" cy="12700"/>
          </a:xfrm>
          <a:prstGeom prst="rect">
            <a:avLst/>
          </a:prstGeom>
          <a:solidFill>
            <a:srgbClr val="E3E8F4"/>
          </a:solidFill>
          <a:ln/>
        </p:spPr>
      </p:sp>
      <p:sp>
        <p:nvSpPr>
          <p:cNvPr id="24" name="Shape 20"/>
          <p:cNvSpPr/>
          <p:nvPr/>
        </p:nvSpPr>
        <p:spPr>
          <a:xfrm>
            <a:off x="5272749" y="3843536"/>
            <a:ext cx="6309361" cy="12700"/>
          </a:xfrm>
          <a:prstGeom prst="rect">
            <a:avLst/>
          </a:prstGeom>
          <a:solidFill>
            <a:srgbClr val="E3E8F4"/>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535174"/>
            <a:ext cx="10972526" cy="419100"/>
          </a:xfrm>
          <a:prstGeom prst="rect">
            <a:avLst/>
          </a:prstGeom>
          <a:noFill/>
          <a:ln/>
        </p:spPr>
        <p:txBody>
          <a:bodyPr wrap="none" lIns="0" tIns="0" rIns="0" bIns="0" rtlCol="0" anchor="t"/>
          <a:lstStyle/>
          <a:p>
            <a:pPr algn="l" indent="0" marL="0">
              <a:lnSpc>
                <a:spcPct val="92000"/>
              </a:lnSpc>
              <a:buNone/>
            </a:pPr>
            <a:r>
              <a:rPr lang="en-US" sz="3000" b="1" dirty="0">
                <a:solidFill>
                  <a:srgbClr val="FFFFFF"/>
                </a:solidFill>
                <a:latin typeface="Be Vietnam Pro Bold" pitchFamily="34" charset="0"/>
                <a:ea typeface="Be Vietnam Pro Bold" pitchFamily="34" charset="-122"/>
                <a:cs typeface="Be Vietnam Pro Bold" pitchFamily="34" charset="0"/>
              </a:rPr>
              <a:t>ĐẠO ĐỨC VÀ TRÁCH NHIỆM KHI DÙNG AI</a:t>
            </a:r>
            <a:endParaRPr lang="en-US" sz="3000" dirty="0"/>
          </a:p>
        </p:txBody>
      </p:sp>
      <p:sp>
        <p:nvSpPr>
          <p:cNvPr id="3" name="Shape 1"/>
          <p:cNvSpPr/>
          <p:nvPr/>
        </p:nvSpPr>
        <p:spPr>
          <a:xfrm>
            <a:off x="609585" y="1155700"/>
            <a:ext cx="3505112" cy="1313061"/>
          </a:xfrm>
          <a:prstGeom prst="roundRect">
            <a:avLst>
              <a:gd name="adj" fmla="val 9285"/>
            </a:avLst>
          </a:prstGeom>
          <a:solidFill>
            <a:srgbClr val="12207A"/>
          </a:solidFill>
          <a:ln/>
        </p:spPr>
      </p:sp>
      <p:sp>
        <p:nvSpPr>
          <p:cNvPr id="4" name="Text 2"/>
          <p:cNvSpPr/>
          <p:nvPr/>
        </p:nvSpPr>
        <p:spPr>
          <a:xfrm>
            <a:off x="812780" y="1333500"/>
            <a:ext cx="3301917" cy="388541"/>
          </a:xfrm>
          <a:prstGeom prst="rect">
            <a:avLst/>
          </a:prstGeom>
          <a:noFill/>
          <a:ln/>
        </p:spPr>
        <p:txBody>
          <a:bodyPr wrap="none" lIns="0" tIns="0" rIns="0" bIns="0" rtlCol="0" anchor="t"/>
          <a:lstStyle/>
          <a:p>
            <a:pPr algn="l" indent="0" marL="0">
              <a:lnSpc>
                <a:spcPct val="170000"/>
              </a:lnSpc>
              <a:buNone/>
            </a:pPr>
            <a:r>
              <a:rPr lang="en-US" sz="1500" b="1" dirty="0">
                <a:solidFill>
                  <a:srgbClr val="FFEA00"/>
                </a:solidFill>
                <a:latin typeface="Be Vietnam Pro Bold" pitchFamily="34" charset="0"/>
                <a:ea typeface="Be Vietnam Pro Bold" pitchFamily="34" charset="-122"/>
                <a:cs typeface="Be Vietnam Pro Bold" pitchFamily="34" charset="0"/>
              </a:rPr>
              <a:t>Học sinh không chat với AI</a:t>
            </a:r>
            <a:endParaRPr lang="en-US" sz="1500" dirty="0"/>
          </a:p>
        </p:txBody>
      </p:sp>
      <p:sp>
        <p:nvSpPr>
          <p:cNvPr id="5" name="Text 3"/>
          <p:cNvSpPr/>
          <p:nvPr/>
        </p:nvSpPr>
        <p:spPr>
          <a:xfrm>
            <a:off x="812780" y="1850946"/>
            <a:ext cx="3098722" cy="441920"/>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FFFFFF"/>
                </a:solidFill>
                <a:latin typeface="Be Vietnam Pro" pitchFamily="34" charset="0"/>
                <a:ea typeface="Be Vietnam Pro" pitchFamily="34" charset="-122"/>
                <a:cs typeface="Be Vietnam Pro" pitchFamily="34" charset="0"/>
              </a:rPr>
              <a:t>Em không đăng nhập, không cần tài khoản; mọi câu hỏi đã được cô duyệt sẵn.</a:t>
            </a:r>
            <a:endParaRPr lang="en-US" sz="1200" dirty="0"/>
          </a:p>
        </p:txBody>
      </p:sp>
      <p:sp>
        <p:nvSpPr>
          <p:cNvPr id="6" name="Shape 4"/>
          <p:cNvSpPr/>
          <p:nvPr/>
        </p:nvSpPr>
        <p:spPr>
          <a:xfrm>
            <a:off x="4419489" y="1155700"/>
            <a:ext cx="3352716" cy="1313061"/>
          </a:xfrm>
          <a:prstGeom prst="roundRect">
            <a:avLst>
              <a:gd name="adj" fmla="val 9285"/>
            </a:avLst>
          </a:prstGeom>
          <a:solidFill>
            <a:srgbClr val="12207A"/>
          </a:solidFill>
          <a:ln/>
        </p:spPr>
      </p:sp>
      <p:sp>
        <p:nvSpPr>
          <p:cNvPr id="7" name="Text 5"/>
          <p:cNvSpPr/>
          <p:nvPr/>
        </p:nvSpPr>
        <p:spPr>
          <a:xfrm>
            <a:off x="4622684" y="1333500"/>
            <a:ext cx="3149521" cy="388541"/>
          </a:xfrm>
          <a:prstGeom prst="rect">
            <a:avLst/>
          </a:prstGeom>
          <a:noFill/>
          <a:ln/>
        </p:spPr>
        <p:txBody>
          <a:bodyPr wrap="none" lIns="0" tIns="0" rIns="0" bIns="0" rtlCol="0" anchor="t"/>
          <a:lstStyle/>
          <a:p>
            <a:pPr algn="l" indent="0" marL="0">
              <a:lnSpc>
                <a:spcPct val="170000"/>
              </a:lnSpc>
              <a:buNone/>
            </a:pPr>
            <a:r>
              <a:rPr lang="en-US" sz="1500" b="1" dirty="0">
                <a:solidFill>
                  <a:srgbClr val="FFEA00"/>
                </a:solidFill>
                <a:latin typeface="Be Vietnam Pro Bold" pitchFamily="34" charset="0"/>
                <a:ea typeface="Be Vietnam Pro Bold" pitchFamily="34" charset="-122"/>
                <a:cs typeface="Be Vietnam Pro Bold" pitchFamily="34" charset="0"/>
              </a:rPr>
              <a:t>Không gửi họ tên cho AI</a:t>
            </a:r>
            <a:endParaRPr lang="en-US" sz="1500" dirty="0"/>
          </a:p>
        </p:txBody>
      </p:sp>
      <p:sp>
        <p:nvSpPr>
          <p:cNvPr id="8" name="Text 6"/>
          <p:cNvSpPr/>
          <p:nvPr/>
        </p:nvSpPr>
        <p:spPr>
          <a:xfrm>
            <a:off x="4622684" y="1850946"/>
            <a:ext cx="2946326" cy="441920"/>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FFFFFF"/>
                </a:solidFill>
                <a:latin typeface="Be Vietnam Pro" pitchFamily="34" charset="0"/>
                <a:ea typeface="Be Vietnam Pro" pitchFamily="34" charset="-122"/>
                <a:cs typeface="Be Vietnam Pro" pitchFamily="34" charset="0"/>
              </a:rPr>
              <a:t>Chỉ gửi nội dung bài, câu học sinh viết và số liệu theo số thứ tự.</a:t>
            </a:r>
            <a:endParaRPr lang="en-US" sz="1200" dirty="0"/>
          </a:p>
        </p:txBody>
      </p:sp>
      <p:sp>
        <p:nvSpPr>
          <p:cNvPr id="9" name="Shape 7"/>
          <p:cNvSpPr/>
          <p:nvPr/>
        </p:nvSpPr>
        <p:spPr>
          <a:xfrm>
            <a:off x="8076998" y="1155700"/>
            <a:ext cx="3505112" cy="1313061"/>
          </a:xfrm>
          <a:prstGeom prst="roundRect">
            <a:avLst>
              <a:gd name="adj" fmla="val 9285"/>
            </a:avLst>
          </a:prstGeom>
          <a:solidFill>
            <a:srgbClr val="12207A"/>
          </a:solidFill>
          <a:ln/>
        </p:spPr>
      </p:sp>
      <p:sp>
        <p:nvSpPr>
          <p:cNvPr id="10" name="Text 8"/>
          <p:cNvSpPr/>
          <p:nvPr/>
        </p:nvSpPr>
        <p:spPr>
          <a:xfrm>
            <a:off x="8280193" y="1333500"/>
            <a:ext cx="3301917" cy="388541"/>
          </a:xfrm>
          <a:prstGeom prst="rect">
            <a:avLst/>
          </a:prstGeom>
          <a:noFill/>
          <a:ln/>
        </p:spPr>
        <p:txBody>
          <a:bodyPr wrap="none" lIns="0" tIns="0" rIns="0" bIns="0" rtlCol="0" anchor="t"/>
          <a:lstStyle/>
          <a:p>
            <a:pPr algn="l" indent="0" marL="0">
              <a:lnSpc>
                <a:spcPct val="170000"/>
              </a:lnSpc>
              <a:buNone/>
            </a:pPr>
            <a:r>
              <a:rPr lang="en-US" sz="1500" b="1" dirty="0">
                <a:solidFill>
                  <a:srgbClr val="FFEA00"/>
                </a:solidFill>
                <a:latin typeface="Be Vietnam Pro Bold" pitchFamily="34" charset="0"/>
                <a:ea typeface="Be Vietnam Pro Bold" pitchFamily="34" charset="-122"/>
                <a:cs typeface="Be Vietnam Pro Bold" pitchFamily="34" charset="0"/>
              </a:rPr>
              <a:t>AI chỉ viết bản nháp</a:t>
            </a:r>
            <a:endParaRPr lang="en-US" sz="1500" dirty="0"/>
          </a:p>
        </p:txBody>
      </p:sp>
      <p:sp>
        <p:nvSpPr>
          <p:cNvPr id="11" name="Text 9"/>
          <p:cNvSpPr/>
          <p:nvPr/>
        </p:nvSpPr>
        <p:spPr>
          <a:xfrm>
            <a:off x="8280193" y="1850946"/>
            <a:ext cx="3098722" cy="441920"/>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FFFFFF"/>
                </a:solidFill>
                <a:latin typeface="Be Vietnam Pro" pitchFamily="34" charset="0"/>
                <a:ea typeface="Be Vietnam Pro" pitchFamily="34" charset="-122"/>
                <a:cs typeface="Be Vietnam Pro" pitchFamily="34" charset="0"/>
              </a:rPr>
              <a:t>Cô đọc, sửa, bỏ câu chưa ổn rồi mới giao cho lớp hoặc gửi phụ huynh.</a:t>
            </a:r>
            <a:endParaRPr lang="en-US" sz="1200" dirty="0"/>
          </a:p>
        </p:txBody>
      </p:sp>
      <p:sp>
        <p:nvSpPr>
          <p:cNvPr id="12" name="Shape 10"/>
          <p:cNvSpPr/>
          <p:nvPr/>
        </p:nvSpPr>
        <p:spPr>
          <a:xfrm>
            <a:off x="609585" y="2773561"/>
            <a:ext cx="3505112" cy="1534021"/>
          </a:xfrm>
          <a:prstGeom prst="roundRect">
            <a:avLst>
              <a:gd name="adj" fmla="val 7948"/>
            </a:avLst>
          </a:prstGeom>
          <a:solidFill>
            <a:srgbClr val="12207A"/>
          </a:solidFill>
          <a:ln/>
        </p:spPr>
      </p:sp>
      <p:sp>
        <p:nvSpPr>
          <p:cNvPr id="13" name="Text 11"/>
          <p:cNvSpPr/>
          <p:nvPr/>
        </p:nvSpPr>
        <p:spPr>
          <a:xfrm>
            <a:off x="812780" y="2951361"/>
            <a:ext cx="3301917" cy="388541"/>
          </a:xfrm>
          <a:prstGeom prst="rect">
            <a:avLst/>
          </a:prstGeom>
          <a:noFill/>
          <a:ln/>
        </p:spPr>
        <p:txBody>
          <a:bodyPr wrap="none" lIns="0" tIns="0" rIns="0" bIns="0" rtlCol="0" anchor="t"/>
          <a:lstStyle/>
          <a:p>
            <a:pPr algn="l" indent="0" marL="0">
              <a:lnSpc>
                <a:spcPct val="170000"/>
              </a:lnSpc>
              <a:buNone/>
            </a:pPr>
            <a:r>
              <a:rPr lang="en-US" sz="1500" b="1" dirty="0">
                <a:solidFill>
                  <a:srgbClr val="FFEA00"/>
                </a:solidFill>
                <a:latin typeface="Be Vietnam Pro Bold" pitchFamily="34" charset="0"/>
                <a:ea typeface="Be Vietnam Pro Bold" pitchFamily="34" charset="-122"/>
                <a:cs typeface="Be Vietnam Pro Bold" pitchFamily="34" charset="0"/>
              </a:rPr>
              <a:t>Nội dung chính xác</a:t>
            </a:r>
            <a:endParaRPr lang="en-US" sz="1500" dirty="0"/>
          </a:p>
        </p:txBody>
      </p:sp>
      <p:sp>
        <p:nvSpPr>
          <p:cNvPr id="14" name="Text 12"/>
          <p:cNvSpPr/>
          <p:nvPr/>
        </p:nvSpPr>
        <p:spPr>
          <a:xfrm>
            <a:off x="812780" y="3468807"/>
            <a:ext cx="3098722" cy="662880"/>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FFFFFF"/>
                </a:solidFill>
                <a:latin typeface="Be Vietnam Pro" pitchFamily="34" charset="0"/>
                <a:ea typeface="Be Vietnam Pro" pitchFamily="34" charset="-122"/>
                <a:cs typeface="Be Vietnam Pro" pitchFamily="34" charset="0"/>
              </a:rPr>
              <a:t>Bám sát SGK Tiếng Việt 4 – Kết nối tri thức; cô ẩn hoặc giữ từng câu trong ngân hàng.</a:t>
            </a:r>
            <a:endParaRPr lang="en-US" sz="1200" dirty="0"/>
          </a:p>
        </p:txBody>
      </p:sp>
      <p:sp>
        <p:nvSpPr>
          <p:cNvPr id="15" name="Shape 13"/>
          <p:cNvSpPr/>
          <p:nvPr/>
        </p:nvSpPr>
        <p:spPr>
          <a:xfrm>
            <a:off x="4419489" y="2773561"/>
            <a:ext cx="3352716" cy="1534021"/>
          </a:xfrm>
          <a:prstGeom prst="roundRect">
            <a:avLst>
              <a:gd name="adj" fmla="val 7948"/>
            </a:avLst>
          </a:prstGeom>
          <a:solidFill>
            <a:srgbClr val="12207A"/>
          </a:solidFill>
          <a:ln/>
        </p:spPr>
      </p:sp>
      <p:sp>
        <p:nvSpPr>
          <p:cNvPr id="16" name="Text 14"/>
          <p:cNvSpPr/>
          <p:nvPr/>
        </p:nvSpPr>
        <p:spPr>
          <a:xfrm>
            <a:off x="4622684" y="2951361"/>
            <a:ext cx="3149521" cy="388541"/>
          </a:xfrm>
          <a:prstGeom prst="rect">
            <a:avLst/>
          </a:prstGeom>
          <a:noFill/>
          <a:ln/>
        </p:spPr>
        <p:txBody>
          <a:bodyPr wrap="none" lIns="0" tIns="0" rIns="0" bIns="0" rtlCol="0" anchor="t"/>
          <a:lstStyle/>
          <a:p>
            <a:pPr algn="l" indent="0" marL="0">
              <a:lnSpc>
                <a:spcPct val="170000"/>
              </a:lnSpc>
              <a:buNone/>
            </a:pPr>
            <a:r>
              <a:rPr lang="en-US" sz="1500" b="1" dirty="0">
                <a:solidFill>
                  <a:srgbClr val="FFEA00"/>
                </a:solidFill>
                <a:latin typeface="Be Vietnam Pro Bold" pitchFamily="34" charset="0"/>
                <a:ea typeface="Be Vietnam Pro Bold" pitchFamily="34" charset="-122"/>
                <a:cs typeface="Be Vietnam Pro Bold" pitchFamily="34" charset="0"/>
              </a:rPr>
              <a:t>Dữ liệu ở lại trên máy</a:t>
            </a:r>
            <a:endParaRPr lang="en-US" sz="1500" dirty="0"/>
          </a:p>
        </p:txBody>
      </p:sp>
      <p:sp>
        <p:nvSpPr>
          <p:cNvPr id="17" name="Text 15"/>
          <p:cNvSpPr/>
          <p:nvPr/>
        </p:nvSpPr>
        <p:spPr>
          <a:xfrm>
            <a:off x="4622684" y="3468807"/>
            <a:ext cx="2946326" cy="441920"/>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FFFFFF"/>
                </a:solidFill>
                <a:latin typeface="Be Vietnam Pro" pitchFamily="34" charset="0"/>
                <a:ea typeface="Be Vietnam Pro" pitchFamily="34" charset="-122"/>
                <a:cs typeface="Be Vietnam Pro" pitchFamily="34" charset="0"/>
              </a:rPr>
              <a:t>Kết quả lưu trên trình duyệt; em gửi cho cô bằng mã, không cần máy chủ.</a:t>
            </a:r>
            <a:endParaRPr lang="en-US" sz="1200" dirty="0"/>
          </a:p>
        </p:txBody>
      </p:sp>
      <p:sp>
        <p:nvSpPr>
          <p:cNvPr id="18" name="Shape 16"/>
          <p:cNvSpPr/>
          <p:nvPr/>
        </p:nvSpPr>
        <p:spPr>
          <a:xfrm>
            <a:off x="8076998" y="2773561"/>
            <a:ext cx="3505112" cy="1534021"/>
          </a:xfrm>
          <a:prstGeom prst="roundRect">
            <a:avLst>
              <a:gd name="adj" fmla="val 7948"/>
            </a:avLst>
          </a:prstGeom>
          <a:solidFill>
            <a:srgbClr val="12207A"/>
          </a:solidFill>
          <a:ln/>
        </p:spPr>
      </p:sp>
      <p:sp>
        <p:nvSpPr>
          <p:cNvPr id="19" name="Text 17"/>
          <p:cNvSpPr/>
          <p:nvPr/>
        </p:nvSpPr>
        <p:spPr>
          <a:xfrm>
            <a:off x="8280193" y="2951361"/>
            <a:ext cx="3301917" cy="388541"/>
          </a:xfrm>
          <a:prstGeom prst="rect">
            <a:avLst/>
          </a:prstGeom>
          <a:noFill/>
          <a:ln/>
        </p:spPr>
        <p:txBody>
          <a:bodyPr wrap="none" lIns="0" tIns="0" rIns="0" bIns="0" rtlCol="0" anchor="t"/>
          <a:lstStyle/>
          <a:p>
            <a:pPr algn="l" indent="0" marL="0">
              <a:lnSpc>
                <a:spcPct val="170000"/>
              </a:lnSpc>
              <a:buNone/>
            </a:pPr>
            <a:r>
              <a:rPr lang="en-US" sz="1500" b="1" dirty="0">
                <a:solidFill>
                  <a:srgbClr val="FFEA00"/>
                </a:solidFill>
                <a:latin typeface="Be Vietnam Pro Bold" pitchFamily="34" charset="0"/>
                <a:ea typeface="Be Vietnam Pro Bold" pitchFamily="34" charset="-122"/>
                <a:cs typeface="Be Vietnam Pro Bold" pitchFamily="34" charset="0"/>
              </a:rPr>
              <a:t>Dạy em kiểm tra AI</a:t>
            </a:r>
            <a:endParaRPr lang="en-US" sz="1500" dirty="0"/>
          </a:p>
        </p:txBody>
      </p:sp>
      <p:sp>
        <p:nvSpPr>
          <p:cNvPr id="20" name="Text 18"/>
          <p:cNvSpPr/>
          <p:nvPr/>
        </p:nvSpPr>
        <p:spPr>
          <a:xfrm>
            <a:off x="8280193" y="3468807"/>
            <a:ext cx="3098722" cy="441920"/>
          </a:xfrm>
          <a:prstGeom prst="rect">
            <a:avLst/>
          </a:prstGeom>
          <a:noFill/>
          <a:ln/>
        </p:spPr>
        <p:txBody>
          <a:bodyPr wrap="square" lIns="0" tIns="0" rIns="0" bIns="0" rtlCol="0" anchor="t">
            <a:normAutofit/>
          </a:bodyPr>
          <a:lstStyle/>
          <a:p>
            <a:pPr algn="l" indent="0" marL="0">
              <a:lnSpc>
                <a:spcPct val="121000"/>
              </a:lnSpc>
              <a:buNone/>
            </a:pPr>
            <a:r>
              <a:rPr lang="en-US" sz="1200" dirty="0">
                <a:solidFill>
                  <a:srgbClr val="FFFFFF"/>
                </a:solidFill>
                <a:latin typeface="Be Vietnam Pro" pitchFamily="34" charset="0"/>
                <a:ea typeface="Be Vietnam Pro" pitchFamily="34" charset="-122"/>
                <a:cs typeface="Be Vietnam Pro" pitchFamily="34" charset="0"/>
              </a:rPr>
              <a:t>Dạng bài Thám tử AI rèn thói quen không tin tuyệt đối vào câu trả lời của máy.</a:t>
            </a:r>
            <a:endParaRPr lang="en-US" sz="1200" dirty="0"/>
          </a:p>
        </p:txBody>
      </p:sp>
      <p:pic>
        <p:nvPicPr>
          <p:cNvPr id="21" name="Image 0" descr="preencoded.png">    </p:cNvPr>
          <p:cNvPicPr>
            <a:picLocks noChangeAspect="1"/>
          </p:cNvPicPr>
          <p:nvPr/>
        </p:nvPicPr>
        <p:blipFill>
          <a:blip r:embed="rId1"/>
          <a:stretch>
            <a:fillRect/>
          </a:stretch>
        </p:blipFill>
        <p:spPr>
          <a:xfrm>
            <a:off x="609585" y="5582841"/>
            <a:ext cx="10972526" cy="12752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516124"/>
            <a:ext cx="10972526" cy="457200"/>
          </a:xfrm>
          <a:prstGeom prst="rect">
            <a:avLst/>
          </a:prstGeom>
          <a:noFill/>
          <a:ln/>
        </p:spPr>
        <p:txBody>
          <a:bodyPr wrap="none" lIns="0" tIns="0" rIns="0" bIns="0" rtlCol="0" anchor="t"/>
          <a:lstStyle/>
          <a:p>
            <a:pPr algn="l" indent="0" marL="0">
              <a:lnSpc>
                <a:spcPct val="100000"/>
              </a:lnSpc>
              <a:buNone/>
            </a:pPr>
            <a:r>
              <a:rPr lang="en-US" sz="3000" b="1" dirty="0">
                <a:solidFill>
                  <a:srgbClr val="000054"/>
                </a:solidFill>
                <a:latin typeface="Be Vietnam Pro Bold" pitchFamily="34" charset="0"/>
                <a:ea typeface="Be Vietnam Pro Bold" pitchFamily="34" charset="-122"/>
                <a:cs typeface="Be Vietnam Pro Bold" pitchFamily="34" charset="0"/>
              </a:rPr>
              <a:t>TRIỂN KHAI THỰC TẾ</a:t>
            </a:r>
            <a:endParaRPr lang="en-US" sz="3000" dirty="0"/>
          </a:p>
        </p:txBody>
      </p:sp>
      <p:sp>
        <p:nvSpPr>
          <p:cNvPr id="3" name="Text 1"/>
          <p:cNvSpPr/>
          <p:nvPr/>
        </p:nvSpPr>
        <p:spPr>
          <a:xfrm>
            <a:off x="609585" y="1092200"/>
            <a:ext cx="11582110" cy="414437"/>
          </a:xfrm>
          <a:prstGeom prst="rect">
            <a:avLst/>
          </a:prstGeom>
          <a:noFill/>
          <a:ln/>
        </p:spPr>
        <p:txBody>
          <a:bodyPr wrap="none" lIns="0" tIns="0" rIns="0" bIns="0" rtlCol="0" anchor="t"/>
          <a:lstStyle/>
          <a:p>
            <a:pPr algn="l" indent="0" marL="0">
              <a:lnSpc>
                <a:spcPct val="170000"/>
              </a:lnSpc>
              <a:buNone/>
            </a:pPr>
            <a:r>
              <a:rPr lang="en-US" sz="1600" b="1" dirty="0">
                <a:solidFill>
                  <a:srgbClr val="1E5BD8"/>
                </a:solidFill>
                <a:latin typeface="Be Vietnam Pro Bold" pitchFamily="34" charset="0"/>
                <a:ea typeface="Be Vietnam Pro Bold" pitchFamily="34" charset="-122"/>
                <a:cs typeface="Be Vietnam Pro Bold" pitchFamily="34" charset="0"/>
              </a:rPr>
              <a:t>Một vòng luyện tập mỗi tuần</a:t>
            </a:r>
            <a:endParaRPr lang="en-US" sz="1600" dirty="0"/>
          </a:p>
        </p:txBody>
      </p:sp>
      <p:sp>
        <p:nvSpPr>
          <p:cNvPr id="4" name="Shape 2"/>
          <p:cNvSpPr/>
          <p:nvPr/>
        </p:nvSpPr>
        <p:spPr>
          <a:xfrm>
            <a:off x="609585" y="1684437"/>
            <a:ext cx="2628834" cy="1623020"/>
          </a:xfrm>
          <a:prstGeom prst="roundRect">
            <a:avLst>
              <a:gd name="adj" fmla="val 7512"/>
            </a:avLst>
          </a:prstGeom>
          <a:solidFill>
            <a:srgbClr val="EEF3FC"/>
          </a:solidFill>
          <a:ln/>
        </p:spPr>
      </p:sp>
      <p:sp>
        <p:nvSpPr>
          <p:cNvPr id="5" name="Text 3"/>
          <p:cNvSpPr/>
          <p:nvPr/>
        </p:nvSpPr>
        <p:spPr>
          <a:xfrm>
            <a:off x="812780" y="1878429"/>
            <a:ext cx="2222444" cy="335260"/>
          </a:xfrm>
          <a:prstGeom prst="rect">
            <a:avLst/>
          </a:prstGeom>
          <a:noFill/>
          <a:ln/>
        </p:spPr>
        <p:txBody>
          <a:bodyPr wrap="none" lIns="0" tIns="0" rIns="0" bIns="0" rtlCol="0" anchor="t"/>
          <a:lstStyle/>
          <a:p>
            <a:pPr algn="l" indent="0" marL="0">
              <a:lnSpc>
                <a:spcPct val="100000"/>
              </a:lnSpc>
              <a:buNone/>
            </a:pPr>
            <a:r>
              <a:rPr lang="en-US" sz="2200" b="1" dirty="0">
                <a:solidFill>
                  <a:srgbClr val="E61E2A"/>
                </a:solidFill>
                <a:latin typeface="Be Vietnam Pro Bold" pitchFamily="34" charset="0"/>
                <a:ea typeface="Be Vietnam Pro Bold" pitchFamily="34" charset="-122"/>
                <a:cs typeface="Be Vietnam Pro Bold" pitchFamily="34" charset="0"/>
              </a:rPr>
              <a:t>1</a:t>
            </a:r>
            <a:endParaRPr lang="en-US" sz="2200" dirty="0"/>
          </a:p>
        </p:txBody>
      </p:sp>
      <p:sp>
        <p:nvSpPr>
          <p:cNvPr id="6" name="Text 4"/>
          <p:cNvSpPr/>
          <p:nvPr/>
        </p:nvSpPr>
        <p:spPr>
          <a:xfrm>
            <a:off x="812780" y="2307431"/>
            <a:ext cx="2425639" cy="362645"/>
          </a:xfrm>
          <a:prstGeom prst="rect">
            <a:avLst/>
          </a:prstGeom>
          <a:noFill/>
          <a:ln/>
        </p:spPr>
        <p:txBody>
          <a:bodyPr wrap="none" lIns="0" tIns="0" rIns="0" bIns="0" rtlCol="0" anchor="t"/>
          <a:lstStyle/>
          <a:p>
            <a:pPr algn="l" indent="0" marL="0">
              <a:lnSpc>
                <a:spcPct val="170000"/>
              </a:lnSpc>
              <a:buNone/>
            </a:pPr>
            <a:r>
              <a:rPr lang="en-US" sz="1400" b="1" dirty="0">
                <a:solidFill>
                  <a:srgbClr val="000054"/>
                </a:solidFill>
                <a:latin typeface="Be Vietnam Pro Bold" pitchFamily="34" charset="0"/>
                <a:ea typeface="Be Vietnam Pro Bold" pitchFamily="34" charset="-122"/>
                <a:cs typeface="Be Vietnam Pro Bold" pitchFamily="34" charset="0"/>
              </a:rPr>
              <a:t>Học bài trên lớp</a:t>
            </a:r>
            <a:endParaRPr lang="en-US" sz="1400" dirty="0"/>
          </a:p>
        </p:txBody>
      </p:sp>
      <p:sp>
        <p:nvSpPr>
          <p:cNvPr id="7" name="Text 5"/>
          <p:cNvSpPr/>
          <p:nvPr/>
        </p:nvSpPr>
        <p:spPr>
          <a:xfrm>
            <a:off x="812780" y="2706826"/>
            <a:ext cx="2222444" cy="42664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B1F3B"/>
                </a:solidFill>
                <a:latin typeface="Be Vietnam Pro" pitchFamily="34" charset="0"/>
                <a:ea typeface="Be Vietnam Pro" pitchFamily="34" charset="-122"/>
                <a:cs typeface="Be Vietnam Pro" pitchFamily="34" charset="0"/>
              </a:rPr>
              <a:t>Tiết Luyện từ và câu theo SGK</a:t>
            </a:r>
            <a:endParaRPr lang="en-US" sz="1200" dirty="0"/>
          </a:p>
        </p:txBody>
      </p:sp>
      <p:sp>
        <p:nvSpPr>
          <p:cNvPr id="8" name="Shape 6"/>
          <p:cNvSpPr/>
          <p:nvPr/>
        </p:nvSpPr>
        <p:spPr>
          <a:xfrm>
            <a:off x="3390815" y="1684437"/>
            <a:ext cx="2628834" cy="1623020"/>
          </a:xfrm>
          <a:prstGeom prst="roundRect">
            <a:avLst>
              <a:gd name="adj" fmla="val 7512"/>
            </a:avLst>
          </a:prstGeom>
          <a:solidFill>
            <a:srgbClr val="EEF3FC"/>
          </a:solidFill>
          <a:ln/>
        </p:spPr>
      </p:sp>
      <p:sp>
        <p:nvSpPr>
          <p:cNvPr id="9" name="Text 7"/>
          <p:cNvSpPr/>
          <p:nvPr/>
        </p:nvSpPr>
        <p:spPr>
          <a:xfrm>
            <a:off x="3594010" y="1878429"/>
            <a:ext cx="2222444" cy="335260"/>
          </a:xfrm>
          <a:prstGeom prst="rect">
            <a:avLst/>
          </a:prstGeom>
          <a:noFill/>
          <a:ln/>
        </p:spPr>
        <p:txBody>
          <a:bodyPr wrap="none" lIns="0" tIns="0" rIns="0" bIns="0" rtlCol="0" anchor="t"/>
          <a:lstStyle/>
          <a:p>
            <a:pPr algn="l" indent="0" marL="0">
              <a:lnSpc>
                <a:spcPct val="100000"/>
              </a:lnSpc>
              <a:buNone/>
            </a:pPr>
            <a:r>
              <a:rPr lang="en-US" sz="2200" b="1" dirty="0">
                <a:solidFill>
                  <a:srgbClr val="E61E2A"/>
                </a:solidFill>
                <a:latin typeface="Be Vietnam Pro Bold" pitchFamily="34" charset="0"/>
                <a:ea typeface="Be Vietnam Pro Bold" pitchFamily="34" charset="-122"/>
                <a:cs typeface="Be Vietnam Pro Bold" pitchFamily="34" charset="0"/>
              </a:rPr>
              <a:t>2</a:t>
            </a:r>
            <a:endParaRPr lang="en-US" sz="2200" dirty="0"/>
          </a:p>
        </p:txBody>
      </p:sp>
      <p:sp>
        <p:nvSpPr>
          <p:cNvPr id="10" name="Text 8"/>
          <p:cNvSpPr/>
          <p:nvPr/>
        </p:nvSpPr>
        <p:spPr>
          <a:xfrm>
            <a:off x="3594010" y="2307431"/>
            <a:ext cx="2425639" cy="362645"/>
          </a:xfrm>
          <a:prstGeom prst="rect">
            <a:avLst/>
          </a:prstGeom>
          <a:noFill/>
          <a:ln/>
        </p:spPr>
        <p:txBody>
          <a:bodyPr wrap="none" lIns="0" tIns="0" rIns="0" bIns="0" rtlCol="0" anchor="t"/>
          <a:lstStyle/>
          <a:p>
            <a:pPr algn="l" indent="0" marL="0">
              <a:lnSpc>
                <a:spcPct val="170000"/>
              </a:lnSpc>
              <a:buNone/>
            </a:pPr>
            <a:r>
              <a:rPr lang="en-US" sz="1400" b="1" dirty="0">
                <a:solidFill>
                  <a:srgbClr val="000054"/>
                </a:solidFill>
                <a:latin typeface="Be Vietnam Pro Bold" pitchFamily="34" charset="0"/>
                <a:ea typeface="Be Vietnam Pro Bold" pitchFamily="34" charset="-122"/>
                <a:cs typeface="Be Vietnam Pro Bold" pitchFamily="34" charset="0"/>
              </a:rPr>
              <a:t>Luyện trên ứng dụng</a:t>
            </a:r>
            <a:endParaRPr lang="en-US" sz="1400" dirty="0"/>
          </a:p>
        </p:txBody>
      </p:sp>
      <p:sp>
        <p:nvSpPr>
          <p:cNvPr id="11" name="Text 9"/>
          <p:cNvSpPr/>
          <p:nvPr/>
        </p:nvSpPr>
        <p:spPr>
          <a:xfrm>
            <a:off x="3594010" y="2706826"/>
            <a:ext cx="2222444" cy="42664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B1F3B"/>
                </a:solidFill>
                <a:latin typeface="Be Vietnam Pro" pitchFamily="34" charset="0"/>
                <a:ea typeface="Be Vietnam Pro" pitchFamily="34" charset="-122"/>
                <a:cs typeface="Be Vietnam Pro" pitchFamily="34" charset="0"/>
              </a:rPr>
              <a:t>Ở lớp hoặc ở nhà, từ mức Khởi động đến Chinh phục</a:t>
            </a:r>
            <a:endParaRPr lang="en-US" sz="1200" dirty="0"/>
          </a:p>
        </p:txBody>
      </p:sp>
      <p:sp>
        <p:nvSpPr>
          <p:cNvPr id="12" name="Shape 10"/>
          <p:cNvSpPr/>
          <p:nvPr/>
        </p:nvSpPr>
        <p:spPr>
          <a:xfrm>
            <a:off x="6172046" y="1684437"/>
            <a:ext cx="2628834" cy="1623020"/>
          </a:xfrm>
          <a:prstGeom prst="roundRect">
            <a:avLst>
              <a:gd name="adj" fmla="val 7512"/>
            </a:avLst>
          </a:prstGeom>
          <a:solidFill>
            <a:srgbClr val="EEF3FC"/>
          </a:solidFill>
          <a:ln/>
        </p:spPr>
      </p:sp>
      <p:sp>
        <p:nvSpPr>
          <p:cNvPr id="13" name="Text 11"/>
          <p:cNvSpPr/>
          <p:nvPr/>
        </p:nvSpPr>
        <p:spPr>
          <a:xfrm>
            <a:off x="6375241" y="1878429"/>
            <a:ext cx="2222444" cy="335260"/>
          </a:xfrm>
          <a:prstGeom prst="rect">
            <a:avLst/>
          </a:prstGeom>
          <a:noFill/>
          <a:ln/>
        </p:spPr>
        <p:txBody>
          <a:bodyPr wrap="none" lIns="0" tIns="0" rIns="0" bIns="0" rtlCol="0" anchor="t"/>
          <a:lstStyle/>
          <a:p>
            <a:pPr algn="l" indent="0" marL="0">
              <a:lnSpc>
                <a:spcPct val="100000"/>
              </a:lnSpc>
              <a:buNone/>
            </a:pPr>
            <a:r>
              <a:rPr lang="en-US" sz="2200" b="1" dirty="0">
                <a:solidFill>
                  <a:srgbClr val="E61E2A"/>
                </a:solidFill>
                <a:latin typeface="Be Vietnam Pro Bold" pitchFamily="34" charset="0"/>
                <a:ea typeface="Be Vietnam Pro Bold" pitchFamily="34" charset="-122"/>
                <a:cs typeface="Be Vietnam Pro Bold" pitchFamily="34" charset="0"/>
              </a:rPr>
              <a:t>3</a:t>
            </a:r>
            <a:endParaRPr lang="en-US" sz="2200" dirty="0"/>
          </a:p>
        </p:txBody>
      </p:sp>
      <p:sp>
        <p:nvSpPr>
          <p:cNvPr id="14" name="Text 12"/>
          <p:cNvSpPr/>
          <p:nvPr/>
        </p:nvSpPr>
        <p:spPr>
          <a:xfrm>
            <a:off x="6375241" y="2307431"/>
            <a:ext cx="2425639" cy="362645"/>
          </a:xfrm>
          <a:prstGeom prst="rect">
            <a:avLst/>
          </a:prstGeom>
          <a:noFill/>
          <a:ln/>
        </p:spPr>
        <p:txBody>
          <a:bodyPr wrap="none" lIns="0" tIns="0" rIns="0" bIns="0" rtlCol="0" anchor="t"/>
          <a:lstStyle/>
          <a:p>
            <a:pPr algn="l" indent="0" marL="0">
              <a:lnSpc>
                <a:spcPct val="170000"/>
              </a:lnSpc>
              <a:buNone/>
            </a:pPr>
            <a:r>
              <a:rPr lang="en-US" sz="1400" b="1" dirty="0">
                <a:solidFill>
                  <a:srgbClr val="000054"/>
                </a:solidFill>
                <a:latin typeface="Be Vietnam Pro Bold" pitchFamily="34" charset="0"/>
                <a:ea typeface="Be Vietnam Pro Bold" pitchFamily="34" charset="-122"/>
                <a:cs typeface="Be Vietnam Pro Bold" pitchFamily="34" charset="0"/>
              </a:rPr>
              <a:t>Gửi mã kết quả</a:t>
            </a:r>
            <a:endParaRPr lang="en-US" sz="1400" dirty="0"/>
          </a:p>
        </p:txBody>
      </p:sp>
      <p:sp>
        <p:nvSpPr>
          <p:cNvPr id="15" name="Text 13"/>
          <p:cNvSpPr/>
          <p:nvPr/>
        </p:nvSpPr>
        <p:spPr>
          <a:xfrm>
            <a:off x="6375241" y="2706826"/>
            <a:ext cx="2222444" cy="42664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1B1F3B"/>
                </a:solidFill>
                <a:latin typeface="Be Vietnam Pro" pitchFamily="34" charset="0"/>
                <a:ea typeface="Be Vietnam Pro" pitchFamily="34" charset="-122"/>
                <a:cs typeface="Be Vietnam Pro" pitchFamily="34" charset="0"/>
              </a:rPr>
              <a:t>Cô nhập mã, bảng kết quả lớp tự cập nhật</a:t>
            </a:r>
            <a:endParaRPr lang="en-US" sz="1200" dirty="0"/>
          </a:p>
        </p:txBody>
      </p:sp>
      <p:sp>
        <p:nvSpPr>
          <p:cNvPr id="16" name="Shape 14"/>
          <p:cNvSpPr/>
          <p:nvPr/>
        </p:nvSpPr>
        <p:spPr>
          <a:xfrm>
            <a:off x="8953276" y="1684437"/>
            <a:ext cx="2628834" cy="1623020"/>
          </a:xfrm>
          <a:prstGeom prst="roundRect">
            <a:avLst>
              <a:gd name="adj" fmla="val 7512"/>
            </a:avLst>
          </a:prstGeom>
          <a:solidFill>
            <a:srgbClr val="000054"/>
          </a:solidFill>
          <a:ln/>
        </p:spPr>
      </p:sp>
      <p:sp>
        <p:nvSpPr>
          <p:cNvPr id="17" name="Text 15"/>
          <p:cNvSpPr/>
          <p:nvPr/>
        </p:nvSpPr>
        <p:spPr>
          <a:xfrm>
            <a:off x="9156471" y="1878429"/>
            <a:ext cx="2222444" cy="335260"/>
          </a:xfrm>
          <a:prstGeom prst="rect">
            <a:avLst/>
          </a:prstGeom>
          <a:noFill/>
          <a:ln/>
        </p:spPr>
        <p:txBody>
          <a:bodyPr wrap="none" lIns="0" tIns="0" rIns="0" bIns="0" rtlCol="0" anchor="t"/>
          <a:lstStyle/>
          <a:p>
            <a:pPr algn="l" indent="0" marL="0">
              <a:lnSpc>
                <a:spcPct val="100000"/>
              </a:lnSpc>
              <a:buNone/>
            </a:pPr>
            <a:r>
              <a:rPr lang="en-US" sz="2200" b="1" dirty="0">
                <a:solidFill>
                  <a:srgbClr val="FFEA00"/>
                </a:solidFill>
                <a:latin typeface="Be Vietnam Pro Bold" pitchFamily="34" charset="0"/>
                <a:ea typeface="Be Vietnam Pro Bold" pitchFamily="34" charset="-122"/>
                <a:cs typeface="Be Vietnam Pro Bold" pitchFamily="34" charset="0"/>
              </a:rPr>
              <a:t>4</a:t>
            </a:r>
            <a:endParaRPr lang="en-US" sz="2200" dirty="0"/>
          </a:p>
        </p:txBody>
      </p:sp>
      <p:sp>
        <p:nvSpPr>
          <p:cNvPr id="18" name="Text 16"/>
          <p:cNvSpPr/>
          <p:nvPr/>
        </p:nvSpPr>
        <p:spPr>
          <a:xfrm>
            <a:off x="9156471" y="2307431"/>
            <a:ext cx="2425639" cy="362645"/>
          </a:xfrm>
          <a:prstGeom prst="rect">
            <a:avLst/>
          </a:prstGeom>
          <a:noFill/>
          <a:ln/>
        </p:spPr>
        <p:txBody>
          <a:bodyPr wrap="none" lIns="0" tIns="0" rIns="0" bIns="0" rtlCol="0" anchor="t"/>
          <a:lstStyle/>
          <a:p>
            <a:pPr algn="l" indent="0" marL="0">
              <a:lnSpc>
                <a:spcPct val="170000"/>
              </a:lnSpc>
              <a:buNone/>
            </a:pPr>
            <a:r>
              <a:rPr lang="en-US" sz="1400" b="1" dirty="0">
                <a:solidFill>
                  <a:srgbClr val="FFFFFF"/>
                </a:solidFill>
                <a:latin typeface="Be Vietnam Pro Bold" pitchFamily="34" charset="0"/>
                <a:ea typeface="Be Vietnam Pro Bold" pitchFamily="34" charset="-122"/>
                <a:cs typeface="Be Vietnam Pro Bold" pitchFamily="34" charset="0"/>
              </a:rPr>
              <a:t>Chia nhóm tiết sau</a:t>
            </a:r>
            <a:endParaRPr lang="en-US" sz="1400" dirty="0"/>
          </a:p>
        </p:txBody>
      </p:sp>
      <p:sp>
        <p:nvSpPr>
          <p:cNvPr id="19" name="Text 17"/>
          <p:cNvSpPr/>
          <p:nvPr/>
        </p:nvSpPr>
        <p:spPr>
          <a:xfrm>
            <a:off x="9156471" y="2706826"/>
            <a:ext cx="2222444" cy="426641"/>
          </a:xfrm>
          <a:prstGeom prst="rect">
            <a:avLst/>
          </a:prstGeom>
          <a:noFill/>
          <a:ln/>
        </p:spPr>
        <p:txBody>
          <a:bodyPr wrap="square" lIns="0" tIns="0" rIns="0" bIns="0" rtlCol="0" anchor="t">
            <a:normAutofit/>
          </a:bodyPr>
          <a:lstStyle/>
          <a:p>
            <a:pPr algn="l" indent="0" marL="0">
              <a:lnSpc>
                <a:spcPct val="117000"/>
              </a:lnSpc>
              <a:buNone/>
            </a:pPr>
            <a:r>
              <a:rPr lang="en-US" sz="1200" dirty="0">
                <a:solidFill>
                  <a:srgbClr val="FFFFFF"/>
                </a:solidFill>
                <a:latin typeface="Be Vietnam Pro" pitchFamily="34" charset="0"/>
                <a:ea typeface="Be Vietnam Pro" pitchFamily="34" charset="-122"/>
                <a:cs typeface="Be Vietnam Pro" pitchFamily="34" charset="0"/>
              </a:rPr>
              <a:t>Trạm Cô · Trạm Máy · Trạm Bạn theo gợi ý của AI</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09585" y="3485257"/>
          <a:ext cx="10972526" cy="914400"/>
        </p:xfrm>
        <a:graphic>
          <a:graphicData uri="http://schemas.openxmlformats.org/drawingml/2006/table">
            <a:tbl>
              <a:tblPr/>
              <a:tblGrid>
                <a:gridCol w="3840344"/>
                <a:gridCol w="7132181"/>
              </a:tblGrid>
              <a:tr h="485168">
                <a:tc>
                  <a:txBody>
                    <a:bodyPr/>
                    <a:lstStyle/>
                    <a:p>
                      <a:pPr algn="l" indent="0" marL="0">
                        <a:buNone/>
                      </a:pPr>
                      <a:r>
                        <a:rPr lang="en-US" sz="1300" b="1" dirty="0">
                          <a:solidFill>
                            <a:srgbClr val="000054"/>
                          </a:solidFill>
                          <a:latin typeface="Be Vietnam Pro" pitchFamily="34" charset="0"/>
                          <a:ea typeface="Be Vietnam Pro" pitchFamily="34" charset="-122"/>
                          <a:cs typeface="Be Vietnam Pro" pitchFamily="34" charset="0"/>
                        </a:rPr>
                        <a:t>Thông tin</a:t>
                      </a:r>
                      <a:endParaRPr lang="en-US" sz="1300" dirty="0">
                        <a:latin typeface="Be Vietnam Pro" charset="0"/>
                        <a:ea typeface="Be Vietnam Pro" charset="0"/>
                        <a:cs typeface="Be Vietnam Pro" charset="0"/>
                      </a:endParaRPr>
                    </a:p>
                  </a:txBody>
                  <a:tcPr marL="133347" marR="133347" marT="71118" marB="71118" anchor="ctr">
                    <a:lnL w="12700" cap="flat" cmpd="sng" algn="ctr">
                      <a:solidFill>
                        <a:srgbClr val="C3C6D4"/>
                      </a:solidFill>
                      <a:prstDash val="solid"/>
                      <a:round/>
                      <a:headEnd type="none" w="med" len="med"/>
                      <a:tailEnd type="none" w="med" len="med"/>
                    </a:lnL>
                    <a:lnR w="12700" cap="flat" cmpd="sng" algn="ctr">
                      <a:solidFill>
                        <a:srgbClr val="C3C6D4"/>
                      </a:solidFill>
                      <a:prstDash val="solid"/>
                      <a:round/>
                      <a:headEnd type="none" w="med" len="med"/>
                      <a:tailEnd type="none" w="med" len="med"/>
                    </a:lnR>
                    <a:lnT w="12700" cap="flat" cmpd="sng" algn="ctr">
                      <a:solidFill>
                        <a:srgbClr val="C3C6D4"/>
                      </a:solidFill>
                      <a:prstDash val="solid"/>
                      <a:round/>
                      <a:headEnd type="none" w="med" len="med"/>
                      <a:tailEnd type="none" w="med" len="med"/>
                    </a:lnT>
                    <a:lnB w="12700" cap="flat" cmpd="sng" algn="ctr">
                      <a:solidFill>
                        <a:srgbClr val="C3C6D4"/>
                      </a:solidFill>
                      <a:prstDash val="solid"/>
                      <a:round/>
                      <a:headEnd type="none" w="med" len="med"/>
                      <a:tailEnd type="none" w="med" len="med"/>
                    </a:lnB>
                    <a:solidFill>
                      <a:srgbClr val="E3E8F4"/>
                    </a:solidFill>
                  </a:tcPr>
                </a:tc>
                <a:tc>
                  <a:txBody>
                    <a:bodyPr/>
                    <a:lstStyle/>
                    <a:p>
                      <a:pPr algn="l" indent="0" marL="0">
                        <a:buNone/>
                      </a:pPr>
                      <a:r>
                        <a:rPr lang="en-US" sz="1300" b="1" dirty="0">
                          <a:solidFill>
                            <a:srgbClr val="000054"/>
                          </a:solidFill>
                          <a:latin typeface="Be Vietnam Pro" pitchFamily="34" charset="0"/>
                          <a:ea typeface="Be Vietnam Pro" pitchFamily="34" charset="-122"/>
                          <a:cs typeface="Be Vietnam Pro" pitchFamily="34" charset="0"/>
                        </a:rPr>
                        <a:t>Chi tiết</a:t>
                      </a:r>
                      <a:endParaRPr lang="en-US" sz="1300" dirty="0">
                        <a:latin typeface="Be Vietnam Pro" charset="0"/>
                        <a:ea typeface="Be Vietnam Pro" charset="0"/>
                        <a:cs typeface="Be Vietnam Pro" charset="0"/>
                      </a:endParaRPr>
                    </a:p>
                  </a:txBody>
                  <a:tcPr marL="133347" marR="133347" marT="71118" marB="71118" anchor="ctr">
                    <a:lnL w="12700" cap="flat" cmpd="sng" algn="ctr">
                      <a:solidFill>
                        <a:srgbClr val="C3C6D4"/>
                      </a:solidFill>
                      <a:prstDash val="solid"/>
                      <a:round/>
                      <a:headEnd type="none" w="med" len="med"/>
                      <a:tailEnd type="none" w="med" len="med"/>
                    </a:lnL>
                    <a:lnR w="12700" cap="flat" cmpd="sng" algn="ctr">
                      <a:solidFill>
                        <a:srgbClr val="C3C6D4"/>
                      </a:solidFill>
                      <a:prstDash val="solid"/>
                      <a:round/>
                      <a:headEnd type="none" w="med" len="med"/>
                      <a:tailEnd type="none" w="med" len="med"/>
                    </a:lnR>
                    <a:lnT w="12700" cap="flat" cmpd="sng" algn="ctr">
                      <a:solidFill>
                        <a:srgbClr val="C3C6D4"/>
                      </a:solidFill>
                      <a:prstDash val="solid"/>
                      <a:round/>
                      <a:headEnd type="none" w="med" len="med"/>
                      <a:tailEnd type="none" w="med" len="med"/>
                    </a:lnT>
                    <a:lnB w="12700" cap="flat" cmpd="sng" algn="ctr">
                      <a:solidFill>
                        <a:srgbClr val="C3C6D4"/>
                      </a:solidFill>
                      <a:prstDash val="solid"/>
                      <a:round/>
                      <a:headEnd type="none" w="med" len="med"/>
                      <a:tailEnd type="none" w="med" len="med"/>
                    </a:lnB>
                    <a:solidFill>
                      <a:srgbClr val="E3E8F4"/>
                    </a:solidFill>
                  </a:tcPr>
                </a:tc>
              </a:tr>
              <a:tr h="485168">
                <a:tc>
                  <a:txBody>
                    <a:bodyPr/>
                    <a:lstStyle/>
                    <a:p>
                      <a:pPr algn="l" indent="0" marL="0">
                        <a:buNone/>
                      </a:pPr>
                      <a:r>
                        <a:rPr lang="en-US" sz="1300" dirty="0">
                          <a:solidFill>
                            <a:srgbClr val="1B1F3B"/>
                          </a:solidFill>
                          <a:latin typeface="Be Vietnam Pro" pitchFamily="34" charset="0"/>
                          <a:ea typeface="Be Vietnam Pro" pitchFamily="34" charset="-122"/>
                          <a:cs typeface="Be Vietnam Pro" pitchFamily="34" charset="0"/>
                        </a:rPr>
                        <a:t>Thời gian triển khai</a:t>
                      </a:r>
                      <a:endParaRPr lang="en-US" sz="1300" dirty="0">
                        <a:latin typeface="Be Vietnam Pro" charset="0"/>
                        <a:ea typeface="Be Vietnam Pro" charset="0"/>
                        <a:cs typeface="Be Vietnam Pro" charset="0"/>
                      </a:endParaRPr>
                    </a:p>
                  </a:txBody>
                  <a:tcPr marL="133347" marR="133347" marT="71118" marB="71118" anchor="ctr">
                    <a:lnL w="12700" cap="flat" cmpd="sng" algn="ctr">
                      <a:solidFill>
                        <a:srgbClr val="C3C6D4"/>
                      </a:solidFill>
                      <a:prstDash val="solid"/>
                      <a:round/>
                      <a:headEnd type="none" w="med" len="med"/>
                      <a:tailEnd type="none" w="med" len="med"/>
                    </a:lnL>
                    <a:lnR w="12700" cap="flat" cmpd="sng" algn="ctr">
                      <a:solidFill>
                        <a:srgbClr val="C3C6D4"/>
                      </a:solidFill>
                      <a:prstDash val="solid"/>
                      <a:round/>
                      <a:headEnd type="none" w="med" len="med"/>
                      <a:tailEnd type="none" w="med" len="med"/>
                    </a:lnR>
                    <a:lnT w="12700" cap="flat" cmpd="sng" algn="ctr">
                      <a:solidFill>
                        <a:srgbClr val="C3C6D4"/>
                      </a:solidFill>
                      <a:prstDash val="solid"/>
                      <a:round/>
                      <a:headEnd type="none" w="med" len="med"/>
                      <a:tailEnd type="none" w="med" len="med"/>
                    </a:lnT>
                    <a:lnB w="12700" cap="flat" cmpd="sng" algn="ctr">
                      <a:solidFill>
                        <a:srgbClr val="C3C6D4"/>
                      </a:solidFill>
                      <a:prstDash val="solid"/>
                      <a:round/>
                      <a:headEnd type="none" w="med" len="med"/>
                      <a:tailEnd type="none" w="med" len="med"/>
                    </a:lnB>
                  </a:tcPr>
                </a:tc>
                <a:tc>
                  <a:txBody>
                    <a:bodyPr/>
                    <a:lstStyle/>
                    <a:p>
                      <a:pPr algn="l" indent="0" marL="0">
                        <a:buNone/>
                      </a:pPr>
                      <a:r>
                        <a:rPr lang="en-US" sz="1300" dirty="0">
                          <a:solidFill>
                            <a:srgbClr val="1B1F3B"/>
                          </a:solidFill>
                          <a:latin typeface="Be Vietnam Pro" pitchFamily="34" charset="0"/>
                          <a:ea typeface="Be Vietnam Pro" pitchFamily="34" charset="-122"/>
                          <a:cs typeface="Be Vietnam Pro" pitchFamily="34" charset="0"/>
                        </a:rPr>
                        <a:t>Từ tháng 10/2026 đến nay ( 3 tuần)</a:t>
                      </a:r>
                      <a:endParaRPr lang="en-US" sz="1300" dirty="0">
                        <a:latin typeface="Be Vietnam Pro" charset="0"/>
                        <a:ea typeface="Be Vietnam Pro" charset="0"/>
                        <a:cs typeface="Be Vietnam Pro" charset="0"/>
                      </a:endParaRPr>
                    </a:p>
                  </a:txBody>
                  <a:tcPr marL="133347" marR="133347" marT="71118" marB="71118" anchor="ctr">
                    <a:lnL w="12700" cap="flat" cmpd="sng" algn="ctr">
                      <a:solidFill>
                        <a:srgbClr val="C3C6D4"/>
                      </a:solidFill>
                      <a:prstDash val="solid"/>
                      <a:round/>
                      <a:headEnd type="none" w="med" len="med"/>
                      <a:tailEnd type="none" w="med" len="med"/>
                    </a:lnL>
                    <a:lnR w="12700" cap="flat" cmpd="sng" algn="ctr">
                      <a:solidFill>
                        <a:srgbClr val="C3C6D4"/>
                      </a:solidFill>
                      <a:prstDash val="solid"/>
                      <a:round/>
                      <a:headEnd type="none" w="med" len="med"/>
                      <a:tailEnd type="none" w="med" len="med"/>
                    </a:lnR>
                    <a:lnT w="12700" cap="flat" cmpd="sng" algn="ctr">
                      <a:solidFill>
                        <a:srgbClr val="C3C6D4"/>
                      </a:solidFill>
                      <a:prstDash val="solid"/>
                      <a:round/>
                      <a:headEnd type="none" w="med" len="med"/>
                      <a:tailEnd type="none" w="med" len="med"/>
                    </a:lnT>
                    <a:lnB w="12700" cap="flat" cmpd="sng" algn="ctr">
                      <a:solidFill>
                        <a:srgbClr val="C3C6D4"/>
                      </a:solidFill>
                      <a:prstDash val="solid"/>
                      <a:round/>
                      <a:headEnd type="none" w="med" len="med"/>
                      <a:tailEnd type="none" w="med" len="med"/>
                    </a:lnB>
                  </a:tcPr>
                </a:tc>
              </a:tr>
              <a:tr h="485168">
                <a:tc>
                  <a:txBody>
                    <a:bodyPr/>
                    <a:lstStyle/>
                    <a:p>
                      <a:pPr algn="l" indent="0" marL="0">
                        <a:buNone/>
                      </a:pPr>
                      <a:r>
                        <a:rPr lang="en-US" sz="1300" dirty="0">
                          <a:solidFill>
                            <a:srgbClr val="1B1F3B"/>
                          </a:solidFill>
                          <a:latin typeface="Be Vietnam Pro" pitchFamily="34" charset="0"/>
                          <a:ea typeface="Be Vietnam Pro" pitchFamily="34" charset="-122"/>
                          <a:cs typeface="Be Vietnam Pro" pitchFamily="34" charset="0"/>
                        </a:rPr>
                        <a:t>Đối tượng sử dụng</a:t>
                      </a:r>
                      <a:endParaRPr lang="en-US" sz="1300" dirty="0">
                        <a:latin typeface="Be Vietnam Pro" charset="0"/>
                        <a:ea typeface="Be Vietnam Pro" charset="0"/>
                        <a:cs typeface="Be Vietnam Pro" charset="0"/>
                      </a:endParaRPr>
                    </a:p>
                  </a:txBody>
                  <a:tcPr marL="133347" marR="133347" marT="71118" marB="71118" anchor="ctr">
                    <a:lnL w="12700" cap="flat" cmpd="sng" algn="ctr">
                      <a:solidFill>
                        <a:srgbClr val="C3C6D4"/>
                      </a:solidFill>
                      <a:prstDash val="solid"/>
                      <a:round/>
                      <a:headEnd type="none" w="med" len="med"/>
                      <a:tailEnd type="none" w="med" len="med"/>
                    </a:lnL>
                    <a:lnR w="12700" cap="flat" cmpd="sng" algn="ctr">
                      <a:solidFill>
                        <a:srgbClr val="C3C6D4"/>
                      </a:solidFill>
                      <a:prstDash val="solid"/>
                      <a:round/>
                      <a:headEnd type="none" w="med" len="med"/>
                      <a:tailEnd type="none" w="med" len="med"/>
                    </a:lnR>
                    <a:lnT w="12700" cap="flat" cmpd="sng" algn="ctr">
                      <a:solidFill>
                        <a:srgbClr val="C3C6D4"/>
                      </a:solidFill>
                      <a:prstDash val="solid"/>
                      <a:round/>
                      <a:headEnd type="none" w="med" len="med"/>
                      <a:tailEnd type="none" w="med" len="med"/>
                    </a:lnT>
                    <a:lnB w="12700" cap="flat" cmpd="sng" algn="ctr">
                      <a:solidFill>
                        <a:srgbClr val="C3C6D4"/>
                      </a:solidFill>
                      <a:prstDash val="solid"/>
                      <a:round/>
                      <a:headEnd type="none" w="med" len="med"/>
                      <a:tailEnd type="none" w="med" len="med"/>
                    </a:lnB>
                  </a:tcPr>
                </a:tc>
                <a:tc>
                  <a:txBody>
                    <a:bodyPr/>
                    <a:lstStyle/>
                    <a:p>
                      <a:pPr algn="l" indent="0" marL="0">
                        <a:buNone/>
                      </a:pPr>
                      <a:r>
                        <a:rPr lang="en-US" sz="1300" dirty="0">
                          <a:solidFill>
                            <a:srgbClr val="1B1F3B"/>
                          </a:solidFill>
                          <a:latin typeface="Be Vietnam Pro" pitchFamily="34" charset="0"/>
                          <a:ea typeface="Be Vietnam Pro" pitchFamily="34" charset="-122"/>
                          <a:cs typeface="Be Vietnam Pro" pitchFamily="34" charset="0"/>
                        </a:rPr>
                        <a:t>30 học sinh lớp 4/11 và giáo viên chủ nhiệm</a:t>
                      </a:r>
                      <a:endParaRPr lang="en-US" sz="1300" dirty="0">
                        <a:latin typeface="Be Vietnam Pro" charset="0"/>
                        <a:ea typeface="Be Vietnam Pro" charset="0"/>
                        <a:cs typeface="Be Vietnam Pro" charset="0"/>
                      </a:endParaRPr>
                    </a:p>
                  </a:txBody>
                  <a:tcPr marL="133347" marR="133347" marT="71118" marB="71118" anchor="ctr">
                    <a:lnL w="12700" cap="flat" cmpd="sng" algn="ctr">
                      <a:solidFill>
                        <a:srgbClr val="C3C6D4"/>
                      </a:solidFill>
                      <a:prstDash val="solid"/>
                      <a:round/>
                      <a:headEnd type="none" w="med" len="med"/>
                      <a:tailEnd type="none" w="med" len="med"/>
                    </a:lnL>
                    <a:lnR w="12700" cap="flat" cmpd="sng" algn="ctr">
                      <a:solidFill>
                        <a:srgbClr val="C3C6D4"/>
                      </a:solidFill>
                      <a:prstDash val="solid"/>
                      <a:round/>
                      <a:headEnd type="none" w="med" len="med"/>
                      <a:tailEnd type="none" w="med" len="med"/>
                    </a:lnR>
                    <a:lnT w="12700" cap="flat" cmpd="sng" algn="ctr">
                      <a:solidFill>
                        <a:srgbClr val="C3C6D4"/>
                      </a:solidFill>
                      <a:prstDash val="solid"/>
                      <a:round/>
                      <a:headEnd type="none" w="med" len="med"/>
                      <a:tailEnd type="none" w="med" len="med"/>
                    </a:lnT>
                    <a:lnB w="12700" cap="flat" cmpd="sng" algn="ctr">
                      <a:solidFill>
                        <a:srgbClr val="C3C6D4"/>
                      </a:solidFill>
                      <a:prstDash val="solid"/>
                      <a:round/>
                      <a:headEnd type="none" w="med" len="med"/>
                      <a:tailEnd type="none" w="med" len="med"/>
                    </a:lnB>
                  </a:tcPr>
                </a:tc>
              </a:tr>
              <a:tr h="478818">
                <a:tc>
                  <a:txBody>
                    <a:bodyPr/>
                    <a:lstStyle/>
                    <a:p>
                      <a:pPr algn="l" indent="0" marL="0">
                        <a:buNone/>
                      </a:pPr>
                      <a:r>
                        <a:rPr lang="en-US" sz="1300" dirty="0">
                          <a:solidFill>
                            <a:srgbClr val="1B1F3B"/>
                          </a:solidFill>
                          <a:latin typeface="Be Vietnam Pro" pitchFamily="34" charset="0"/>
                          <a:ea typeface="Be Vietnam Pro" pitchFamily="34" charset="-122"/>
                          <a:cs typeface="Be Vietnam Pro" pitchFamily="34" charset="0"/>
                        </a:rPr>
                        <a:t>Thiết bị</a:t>
                      </a:r>
                      <a:endParaRPr lang="en-US" sz="1300" dirty="0">
                        <a:latin typeface="Be Vietnam Pro" charset="0"/>
                        <a:ea typeface="Be Vietnam Pro" charset="0"/>
                        <a:cs typeface="Be Vietnam Pro" charset="0"/>
                      </a:endParaRPr>
                    </a:p>
                  </a:txBody>
                  <a:tcPr marL="133347" marR="133347" marT="71118" marB="71118" anchor="ctr">
                    <a:lnL w="12700" cap="flat" cmpd="sng" algn="ctr">
                      <a:solidFill>
                        <a:srgbClr val="C3C6D4"/>
                      </a:solidFill>
                      <a:prstDash val="solid"/>
                      <a:round/>
                      <a:headEnd type="none" w="med" len="med"/>
                      <a:tailEnd type="none" w="med" len="med"/>
                    </a:lnL>
                    <a:lnR w="12700" cap="flat" cmpd="sng" algn="ctr">
                      <a:solidFill>
                        <a:srgbClr val="C3C6D4"/>
                      </a:solidFill>
                      <a:prstDash val="solid"/>
                      <a:round/>
                      <a:headEnd type="none" w="med" len="med"/>
                      <a:tailEnd type="none" w="med" len="med"/>
                    </a:lnR>
                    <a:lnT w="12700" cap="flat" cmpd="sng" algn="ctr">
                      <a:solidFill>
                        <a:srgbClr val="C3C6D4"/>
                      </a:solidFill>
                      <a:prstDash val="solid"/>
                      <a:round/>
                      <a:headEnd type="none" w="med" len="med"/>
                      <a:tailEnd type="none" w="med" len="med"/>
                    </a:lnT>
                    <a:lnB w="12700" cap="flat" cmpd="sng" algn="ctr">
                      <a:solidFill>
                        <a:srgbClr val="C3C6D4"/>
                      </a:solidFill>
                      <a:prstDash val="solid"/>
                      <a:round/>
                      <a:headEnd type="none" w="med" len="med"/>
                      <a:tailEnd type="none" w="med" len="med"/>
                    </a:lnB>
                  </a:tcPr>
                </a:tc>
                <a:tc>
                  <a:txBody>
                    <a:bodyPr/>
                    <a:lstStyle/>
                    <a:p>
                      <a:pPr algn="l" indent="0" marL="0">
                        <a:buNone/>
                      </a:pPr>
                      <a:r>
                        <a:rPr lang="en-US" sz="1300" dirty="0">
                          <a:solidFill>
                            <a:srgbClr val="1B1F3B"/>
                          </a:solidFill>
                          <a:latin typeface="Be Vietnam Pro" pitchFamily="34" charset="0"/>
                          <a:ea typeface="Be Vietnam Pro" pitchFamily="34" charset="-122"/>
                          <a:cs typeface="Be Vietnam Pro" pitchFamily="34" charset="0"/>
                        </a:rPr>
                        <a:t>Trình duyệt trên máy tính, máy tính bảng hoặc điện thoại; không cần cài đặt</a:t>
                      </a:r>
                      <a:endParaRPr lang="en-US" sz="1300" dirty="0">
                        <a:latin typeface="Be Vietnam Pro" charset="0"/>
                        <a:ea typeface="Be Vietnam Pro" charset="0"/>
                        <a:cs typeface="Be Vietnam Pro" charset="0"/>
                      </a:endParaRPr>
                    </a:p>
                  </a:txBody>
                  <a:tcPr marL="133347" marR="133347" marT="71118" marB="71118" anchor="ctr">
                    <a:lnL w="12700" cap="flat" cmpd="sng" algn="ctr">
                      <a:solidFill>
                        <a:srgbClr val="C3C6D4"/>
                      </a:solidFill>
                      <a:prstDash val="solid"/>
                      <a:round/>
                      <a:headEnd type="none" w="med" len="med"/>
                      <a:tailEnd type="none" w="med" len="med"/>
                    </a:lnL>
                    <a:lnR w="12700" cap="flat" cmpd="sng" algn="ctr">
                      <a:solidFill>
                        <a:srgbClr val="C3C6D4"/>
                      </a:solidFill>
                      <a:prstDash val="solid"/>
                      <a:round/>
                      <a:headEnd type="none" w="med" len="med"/>
                      <a:tailEnd type="none" w="med" len="med"/>
                    </a:lnR>
                    <a:lnT w="12700" cap="flat" cmpd="sng" algn="ctr">
                      <a:solidFill>
                        <a:srgbClr val="C3C6D4"/>
                      </a:solidFill>
                      <a:prstDash val="solid"/>
                      <a:round/>
                      <a:headEnd type="none" w="med" len="med"/>
                      <a:tailEnd type="none" w="med" len="med"/>
                    </a:lnT>
                    <a:lnB w="12700" cap="flat" cmpd="sng" algn="ctr">
                      <a:solidFill>
                        <a:srgbClr val="C3C6D4"/>
                      </a:solidFill>
                      <a:prstDash val="solid"/>
                      <a:round/>
                      <a:headEnd type="none" w="med" len="med"/>
                      <a:tailEnd type="none" w="med" len="med"/>
                    </a:lnB>
                  </a:tcPr>
                </a:tc>
              </a:tr>
            </a:tbl>
          </a:graphicData>
        </a:graphic>
      </p:graphicFrame>
      <p:pic>
        <p:nvPicPr>
          <p:cNvPr id="21" name="Image 0" descr="preencoded.png">    </p:cNvPr>
          <p:cNvPicPr>
            <a:picLocks noChangeAspect="1"/>
          </p:cNvPicPr>
          <p:nvPr/>
        </p:nvPicPr>
        <p:blipFill>
          <a:blip r:embed="rId1"/>
          <a:stretch>
            <a:fillRect/>
          </a:stretch>
        </p:blipFill>
        <p:spPr>
          <a:xfrm>
            <a:off x="609585" y="6145213"/>
            <a:ext cx="10972526" cy="71288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535174"/>
            <a:ext cx="10972526" cy="419100"/>
          </a:xfrm>
          <a:prstGeom prst="rect">
            <a:avLst/>
          </a:prstGeom>
          <a:noFill/>
          <a:ln/>
        </p:spPr>
        <p:txBody>
          <a:bodyPr wrap="none" lIns="0" tIns="0" rIns="0" bIns="0" rtlCol="0" anchor="t"/>
          <a:lstStyle/>
          <a:p>
            <a:pPr algn="l" indent="0" marL="0">
              <a:lnSpc>
                <a:spcPct val="92000"/>
              </a:lnSpc>
              <a:buNone/>
            </a:pPr>
            <a:r>
              <a:rPr lang="en-US" sz="3000" b="1" dirty="0">
                <a:solidFill>
                  <a:srgbClr val="000054"/>
                </a:solidFill>
                <a:latin typeface="Be Vietnam Pro Bold" pitchFamily="34" charset="0"/>
                <a:ea typeface="Be Vietnam Pro Bold" pitchFamily="34" charset="-122"/>
                <a:cs typeface="Be Vietnam Pro Bold" pitchFamily="34" charset="0"/>
              </a:rPr>
              <a:t>KẾT QUẢ VÀ TÁC ĐỘNG</a:t>
            </a:r>
            <a:endParaRPr lang="en-US" sz="3000" dirty="0"/>
          </a:p>
        </p:txBody>
      </p:sp>
      <p:sp>
        <p:nvSpPr>
          <p:cNvPr id="3" name="Shape 1"/>
          <p:cNvSpPr/>
          <p:nvPr/>
        </p:nvSpPr>
        <p:spPr>
          <a:xfrm>
            <a:off x="609585" y="1104900"/>
            <a:ext cx="3855643" cy="4517827"/>
          </a:xfrm>
          <a:prstGeom prst="roundRect">
            <a:avLst>
              <a:gd name="adj" fmla="val 3162"/>
            </a:avLst>
          </a:prstGeom>
          <a:solidFill>
            <a:srgbClr val="000054"/>
          </a:solidFill>
          <a:ln/>
        </p:spPr>
      </p:sp>
      <p:sp>
        <p:nvSpPr>
          <p:cNvPr id="4" name="Text 2"/>
          <p:cNvSpPr/>
          <p:nvPr/>
        </p:nvSpPr>
        <p:spPr>
          <a:xfrm>
            <a:off x="888978" y="1346060"/>
            <a:ext cx="3296857" cy="670520"/>
          </a:xfrm>
          <a:prstGeom prst="rect">
            <a:avLst/>
          </a:prstGeom>
          <a:noFill/>
          <a:ln/>
        </p:spPr>
        <p:txBody>
          <a:bodyPr wrap="none" lIns="0" tIns="0" rIns="0" bIns="0" rtlCol="0" anchor="t"/>
          <a:lstStyle/>
          <a:p>
            <a:pPr algn="l" indent="0" marL="0">
              <a:lnSpc>
                <a:spcPct val="100000"/>
              </a:lnSpc>
              <a:buNone/>
            </a:pPr>
            <a:r>
              <a:rPr lang="en-US" sz="4400" b="1" dirty="0">
                <a:solidFill>
                  <a:srgbClr val="FFEA00"/>
                </a:solidFill>
                <a:latin typeface="Be Vietnam Pro Bold" pitchFamily="34" charset="0"/>
                <a:ea typeface="Be Vietnam Pro Bold" pitchFamily="34" charset="-122"/>
                <a:cs typeface="Be Vietnam Pro Bold" pitchFamily="34" charset="0"/>
              </a:rPr>
              <a:t>85%</a:t>
            </a:r>
            <a:endParaRPr lang="en-US" sz="4400" dirty="0"/>
          </a:p>
        </p:txBody>
      </p:sp>
      <p:sp>
        <p:nvSpPr>
          <p:cNvPr id="5" name="Text 3"/>
          <p:cNvSpPr/>
          <p:nvPr/>
        </p:nvSpPr>
        <p:spPr>
          <a:xfrm>
            <a:off x="888978" y="2131020"/>
            <a:ext cx="3296857" cy="462161"/>
          </a:xfrm>
          <a:prstGeom prst="rect">
            <a:avLst/>
          </a:prstGeom>
          <a:noFill/>
          <a:ln/>
        </p:spPr>
        <p:txBody>
          <a:bodyPr wrap="square" lIns="0" tIns="0" rIns="0" bIns="0" rtlCol="0" anchor="t">
            <a:normAutofit/>
          </a:bodyPr>
          <a:lstStyle/>
          <a:p>
            <a:pPr algn="l" indent="0" marL="0">
              <a:lnSpc>
                <a:spcPct val="117000"/>
              </a:lnSpc>
              <a:buNone/>
            </a:pPr>
            <a:r>
              <a:rPr lang="en-US" sz="1300" dirty="0">
                <a:solidFill>
                  <a:srgbClr val="FFFFFF"/>
                </a:solidFill>
                <a:latin typeface="Be Vietnam Pro" pitchFamily="34" charset="0"/>
                <a:ea typeface="Be Vietnam Pro" pitchFamily="34" charset="-122"/>
                <a:cs typeface="Be Vietnam Pro" pitchFamily="34" charset="0"/>
              </a:rPr>
              <a:t>học sinh đạt Hoàn thành tốt (≥80%) ở chủ điểm Mỗi người một vẻ</a:t>
            </a:r>
            <a:endParaRPr lang="en-US" sz="1300" dirty="0"/>
          </a:p>
        </p:txBody>
      </p:sp>
      <p:sp>
        <p:nvSpPr>
          <p:cNvPr id="6" name="Shape 4"/>
          <p:cNvSpPr/>
          <p:nvPr/>
        </p:nvSpPr>
        <p:spPr>
          <a:xfrm>
            <a:off x="4922317" y="1333500"/>
            <a:ext cx="3177500" cy="2381647"/>
          </a:xfrm>
          <a:prstGeom prst="roundRect">
            <a:avLst>
              <a:gd name="adj" fmla="val 5119"/>
            </a:avLst>
          </a:prstGeom>
          <a:solidFill>
            <a:srgbClr val="EEF3FC"/>
          </a:solidFill>
          <a:ln/>
        </p:spPr>
      </p:sp>
      <p:sp>
        <p:nvSpPr>
          <p:cNvPr id="7" name="Text 5"/>
          <p:cNvSpPr/>
          <p:nvPr/>
        </p:nvSpPr>
        <p:spPr>
          <a:xfrm>
            <a:off x="5125512" y="1511300"/>
            <a:ext cx="2974305" cy="388541"/>
          </a:xfrm>
          <a:prstGeom prst="rect">
            <a:avLst/>
          </a:prstGeom>
          <a:noFill/>
          <a:ln/>
        </p:spPr>
        <p:txBody>
          <a:bodyPr wrap="none" lIns="0" tIns="0" rIns="0" bIns="0" rtlCol="0" anchor="t"/>
          <a:lstStyle/>
          <a:p>
            <a:pPr algn="l" indent="0" marL="0">
              <a:lnSpc>
                <a:spcPct val="170000"/>
              </a:lnSpc>
              <a:buNone/>
            </a:pPr>
            <a:r>
              <a:rPr lang="en-US" sz="1500" b="1" dirty="0">
                <a:solidFill>
                  <a:srgbClr val="1E5BD8"/>
                </a:solidFill>
                <a:latin typeface="Be Vietnam Pro Bold" pitchFamily="34" charset="0"/>
                <a:ea typeface="Be Vietnam Pro Bold" pitchFamily="34" charset="-122"/>
                <a:cs typeface="Be Vietnam Pro Bold" pitchFamily="34" charset="0"/>
              </a:rPr>
              <a:t>Học sinh</a:t>
            </a:r>
            <a:endParaRPr lang="en-US" sz="1500" dirty="0"/>
          </a:p>
        </p:txBody>
      </p:sp>
      <p:sp>
        <p:nvSpPr>
          <p:cNvPr id="8" name="Text 6"/>
          <p:cNvSpPr/>
          <p:nvPr/>
        </p:nvSpPr>
        <p:spPr>
          <a:xfrm>
            <a:off x="5125512" y="2026841"/>
            <a:ext cx="2771110" cy="1147862"/>
          </a:xfrm>
          <a:prstGeom prst="rect">
            <a:avLst/>
          </a:prstGeom>
          <a:noFill/>
          <a:ln/>
        </p:spPr>
        <p:txBody>
          <a:bodyPr wrap="square" lIns="0" tIns="0" rIns="0" bIns="0" rtlCol="0" anchor="t">
            <a:normAutofit/>
          </a:bodyPr>
          <a:lstStyle/>
          <a:p>
            <a:pPr algn="l" marL="174244" indent="-174244">
              <a:lnSpc>
                <a:spcPct val="170000"/>
              </a:lnSpc>
              <a:buSzPct val="100000"/>
              <a:buChar char="•"/>
            </a:pPr>
            <a:r>
              <a:rPr lang="en-US" sz="1400" dirty="0">
                <a:solidFill>
                  <a:srgbClr val="000000"/>
                </a:solidFill>
                <a:latin typeface="Be Vietnam Pro" pitchFamily="34" charset="0"/>
                <a:ea typeface="Be Vietnam Pro" pitchFamily="34" charset="-122"/>
                <a:cs typeface="Be Vietnam Pro" pitchFamily="34" charset="0"/>
              </a:rPr>
              <a:t>[Thay đổi về hứng thú, tự giác luyện tập]</a:t>
            </a:r>
            <a:endParaRPr lang="en-US" sz="1400" dirty="0"/>
          </a:p>
          <a:p>
            <a:pPr algn="l" marL="174244" indent="-174244">
              <a:lnSpc>
                <a:spcPct val="170000"/>
              </a:lnSpc>
              <a:buSzPct val="100000"/>
              <a:buChar char="•"/>
            </a:pPr>
            <a:r>
              <a:rPr lang="en-US" sz="1400" dirty="0">
                <a:solidFill>
                  <a:srgbClr val="000000"/>
                </a:solidFill>
                <a:latin typeface="Be Vietnam Pro" pitchFamily="34" charset="0"/>
                <a:ea typeface="Be Vietnam Pro" pitchFamily="34" charset="-122"/>
                <a:cs typeface="Be Vietnam Pro" pitchFamily="34" charset="0"/>
              </a:rPr>
              <a:t>[Tiến bộ ở bài kiểm tra.</a:t>
            </a:r>
            <a:endParaRPr lang="en-US" sz="1400" dirty="0"/>
          </a:p>
        </p:txBody>
      </p:sp>
      <p:sp>
        <p:nvSpPr>
          <p:cNvPr id="9" name="Shape 7"/>
          <p:cNvSpPr/>
          <p:nvPr/>
        </p:nvSpPr>
        <p:spPr>
          <a:xfrm>
            <a:off x="8404610" y="1333500"/>
            <a:ext cx="3177500" cy="2381647"/>
          </a:xfrm>
          <a:prstGeom prst="roundRect">
            <a:avLst>
              <a:gd name="adj" fmla="val 5119"/>
            </a:avLst>
          </a:prstGeom>
          <a:solidFill>
            <a:srgbClr val="EEF3FC"/>
          </a:solidFill>
          <a:ln/>
        </p:spPr>
      </p:sp>
      <p:sp>
        <p:nvSpPr>
          <p:cNvPr id="10" name="Text 8"/>
          <p:cNvSpPr/>
          <p:nvPr/>
        </p:nvSpPr>
        <p:spPr>
          <a:xfrm>
            <a:off x="8607805" y="1511300"/>
            <a:ext cx="2974305" cy="388541"/>
          </a:xfrm>
          <a:prstGeom prst="rect">
            <a:avLst/>
          </a:prstGeom>
          <a:noFill/>
          <a:ln/>
        </p:spPr>
        <p:txBody>
          <a:bodyPr wrap="none" lIns="0" tIns="0" rIns="0" bIns="0" rtlCol="0" anchor="t"/>
          <a:lstStyle/>
          <a:p>
            <a:pPr algn="l" indent="0" marL="0">
              <a:lnSpc>
                <a:spcPct val="170000"/>
              </a:lnSpc>
              <a:buNone/>
            </a:pPr>
            <a:r>
              <a:rPr lang="en-US" sz="1500" b="1" dirty="0">
                <a:solidFill>
                  <a:srgbClr val="1E5BD8"/>
                </a:solidFill>
                <a:latin typeface="Be Vietnam Pro Bold" pitchFamily="34" charset="0"/>
                <a:ea typeface="Be Vietnam Pro Bold" pitchFamily="34" charset="-122"/>
                <a:cs typeface="Be Vietnam Pro Bold" pitchFamily="34" charset="0"/>
              </a:rPr>
              <a:t>Giáo viên</a:t>
            </a:r>
            <a:endParaRPr lang="en-US" sz="1500" dirty="0"/>
          </a:p>
        </p:txBody>
      </p:sp>
      <p:sp>
        <p:nvSpPr>
          <p:cNvPr id="11" name="Text 9"/>
          <p:cNvSpPr/>
          <p:nvPr/>
        </p:nvSpPr>
        <p:spPr>
          <a:xfrm>
            <a:off x="8607805" y="2026841"/>
            <a:ext cx="2771110" cy="1510506"/>
          </a:xfrm>
          <a:prstGeom prst="rect">
            <a:avLst/>
          </a:prstGeom>
          <a:noFill/>
          <a:ln/>
        </p:spPr>
        <p:txBody>
          <a:bodyPr wrap="square" lIns="0" tIns="0" rIns="0" bIns="0" rtlCol="0" anchor="t">
            <a:normAutofit/>
          </a:bodyPr>
          <a:lstStyle/>
          <a:p>
            <a:pPr algn="l" marL="174244" indent="-174244">
              <a:lnSpc>
                <a:spcPct val="170000"/>
              </a:lnSpc>
              <a:buSzPct val="100000"/>
              <a:buChar char="•"/>
            </a:pPr>
            <a:r>
              <a:rPr lang="en-US" sz="1400" dirty="0">
                <a:solidFill>
                  <a:srgbClr val="000000"/>
                </a:solidFill>
                <a:latin typeface="Be Vietnam Pro" pitchFamily="34" charset="0"/>
                <a:ea typeface="Be Vietnam Pro" pitchFamily="34" charset="-122"/>
                <a:cs typeface="Be Vietnam Pro" pitchFamily="34" charset="0"/>
              </a:rPr>
              <a:t>Thời gian soạn đề, nhận xét giảm.</a:t>
            </a:r>
            <a:endParaRPr lang="en-US" sz="1400" dirty="0"/>
          </a:p>
          <a:p>
            <a:pPr algn="l" marL="174244" indent="-174244">
              <a:lnSpc>
                <a:spcPct val="170000"/>
              </a:lnSpc>
              <a:buSzPct val="100000"/>
              <a:buChar char="•"/>
            </a:pPr>
            <a:r>
              <a:rPr lang="en-US" sz="1400" dirty="0">
                <a:solidFill>
                  <a:srgbClr val="000000"/>
                </a:solidFill>
                <a:latin typeface="Be Vietnam Pro" pitchFamily="34" charset="0"/>
                <a:ea typeface="Be Vietnam Pro" pitchFamily="34" charset="-122"/>
                <a:cs typeface="Be Vietnam Pro" pitchFamily="34" charset="0"/>
              </a:rPr>
              <a:t>Nắm lỗi chung của lớp nhanh hơn.</a:t>
            </a:r>
            <a:endParaRPr lang="en-US" sz="1400" dirty="0"/>
          </a:p>
        </p:txBody>
      </p:sp>
      <p:sp>
        <p:nvSpPr>
          <p:cNvPr id="12" name="Text 10"/>
          <p:cNvSpPr/>
          <p:nvPr/>
        </p:nvSpPr>
        <p:spPr>
          <a:xfrm>
            <a:off x="5125512" y="3994547"/>
            <a:ext cx="6456598" cy="388541"/>
          </a:xfrm>
          <a:prstGeom prst="rect">
            <a:avLst/>
          </a:prstGeom>
          <a:noFill/>
          <a:ln/>
        </p:spPr>
        <p:txBody>
          <a:bodyPr wrap="none" lIns="0" tIns="0" rIns="0" bIns="0" rtlCol="0" anchor="t"/>
          <a:lstStyle/>
          <a:p>
            <a:pPr algn="l" indent="0" marL="0">
              <a:lnSpc>
                <a:spcPct val="170000"/>
              </a:lnSpc>
              <a:buNone/>
            </a:pPr>
            <a:r>
              <a:rPr lang="en-US" sz="1500" b="1" dirty="0">
                <a:solidFill>
                  <a:srgbClr val="1E5BD8"/>
                </a:solidFill>
                <a:latin typeface="Be Vietnam Pro Bold" pitchFamily="34" charset="0"/>
                <a:ea typeface="Be Vietnam Pro Bold" pitchFamily="34" charset="-122"/>
                <a:cs typeface="Be Vietnam Pro Bold" pitchFamily="34" charset="0"/>
              </a:rPr>
              <a:t>Phản hồi</a:t>
            </a:r>
            <a:endParaRPr lang="en-US" sz="1500" dirty="0"/>
          </a:p>
        </p:txBody>
      </p:sp>
      <p:sp>
        <p:nvSpPr>
          <p:cNvPr id="13" name="Text 11"/>
          <p:cNvSpPr/>
          <p:nvPr/>
        </p:nvSpPr>
        <p:spPr>
          <a:xfrm>
            <a:off x="5125512" y="4510088"/>
            <a:ext cx="6253403" cy="731639"/>
          </a:xfrm>
          <a:prstGeom prst="rect">
            <a:avLst/>
          </a:prstGeom>
          <a:noFill/>
          <a:ln/>
        </p:spPr>
        <p:txBody>
          <a:bodyPr wrap="square" lIns="0" tIns="0" rIns="0" bIns="0" rtlCol="0" anchor="t"/>
          <a:lstStyle/>
          <a:p>
            <a:pPr algn="l" indent="0" marL="0">
              <a:lnSpc>
                <a:spcPct val="170000"/>
              </a:lnSpc>
              <a:spcAft>
                <a:spcPts val="850"/>
              </a:spcAft>
              <a:buNone/>
            </a:pPr>
            <a:r>
              <a:rPr lang="en-US" sz="1200" dirty="0">
                <a:solidFill>
                  <a:srgbClr val="3A4170"/>
                </a:solidFill>
                <a:latin typeface="Be Vietnam Pro" pitchFamily="34" charset="0"/>
                <a:ea typeface="Be Vietnam Pro" pitchFamily="34" charset="-122"/>
                <a:cs typeface="Be Vietnam Pro" pitchFamily="34" charset="0"/>
              </a:rPr>
              <a:t>-       </a:t>
            </a:r>
            <a:pPr algn="l" indent="0" marL="0">
              <a:lnSpc>
                <a:spcPct val="170000"/>
              </a:lnSpc>
              <a:spcAft>
                <a:spcPts val="850"/>
              </a:spcAft>
              <a:buNone/>
            </a:pPr>
            <a:r>
              <a:rPr lang="en-US" sz="1200" i="1" dirty="0">
                <a:solidFill>
                  <a:srgbClr val="3A4170"/>
                </a:solidFill>
                <a:latin typeface="Be Vietnam Pro" pitchFamily="34" charset="0"/>
                <a:ea typeface="Be Vietnam Pro" pitchFamily="34" charset="-122"/>
                <a:cs typeface="Be Vietnam Pro" pitchFamily="34" charset="0"/>
              </a:rPr>
              <a:t>Học sinh thích thú</a:t>
            </a:r>
            <a:endParaRPr lang="en-US" sz="1200" dirty="0"/>
          </a:p>
          <a:p>
            <a:pPr algn="l" indent="0" marL="0">
              <a:lnSpc>
                <a:spcPct val="170000"/>
              </a:lnSpc>
              <a:buNone/>
            </a:pPr>
            <a:r>
              <a:rPr lang="en-US" sz="1200" dirty="0">
                <a:solidFill>
                  <a:srgbClr val="3A4170"/>
                </a:solidFill>
                <a:latin typeface="Be Vietnam Pro" pitchFamily="34" charset="0"/>
                <a:ea typeface="Be Vietnam Pro" pitchFamily="34" charset="-122"/>
                <a:cs typeface="Be Vietnam Pro" pitchFamily="34" charset="0"/>
              </a:rPr>
              <a:t>-       </a:t>
            </a:r>
            <a:pPr algn="l" indent="0" marL="0">
              <a:lnSpc>
                <a:spcPct val="170000"/>
              </a:lnSpc>
              <a:buNone/>
            </a:pPr>
            <a:r>
              <a:rPr lang="en-US" sz="1200" i="1" dirty="0">
                <a:solidFill>
                  <a:srgbClr val="3A4170"/>
                </a:solidFill>
                <a:latin typeface="Be Vietnam Pro" pitchFamily="34" charset="0"/>
                <a:ea typeface="Be Vietnam Pro" pitchFamily="34" charset="-122"/>
                <a:cs typeface="Be Vietnam Pro" pitchFamily="34" charset="0"/>
              </a:rPr>
              <a:t>Phụ huynh hài long vì các con được luyện tập.</a:t>
            </a:r>
            <a:endParaRPr lang="en-US" sz="1200" dirty="0"/>
          </a:p>
        </p:txBody>
      </p:sp>
      <p:pic>
        <p:nvPicPr>
          <p:cNvPr id="14" name="Image 0" descr="preencoded.png">    </p:cNvPr>
          <p:cNvPicPr>
            <a:picLocks noChangeAspect="1"/>
          </p:cNvPicPr>
          <p:nvPr/>
        </p:nvPicPr>
        <p:blipFill>
          <a:blip r:embed="rId1"/>
          <a:stretch>
            <a:fillRect/>
          </a:stretch>
        </p:blipFill>
        <p:spPr>
          <a:xfrm>
            <a:off x="609585" y="6240363"/>
            <a:ext cx="10972526" cy="61763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2026-10-24T06:58:41Z</dcterms:created>
  <dcterms:modified xsi:type="dcterms:W3CDTF">2026-10-24T06:58:41Z</dcterms:modified>
</cp:coreProperties>
</file>