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12192000"/>
  <p:embeddedFontLst>
    <p:embeddedFont>
      <p:font typeface="Barlow Condensed Black" panose="00000A06000000000000" pitchFamily="2" charset="0"/>
      <p:bold r:id="rId17"/>
      <p:boldItalic r:id="rId18"/>
    </p:embeddedFont>
    <p:embeddedFont>
      <p:font typeface="Be Vietnam Pro" panose="020B0604020202020204" charset="0"/>
      <p:regular r:id="rId19"/>
      <p:bold r:id="rId20"/>
      <p:italic r:id="rId21"/>
      <p:boldItalic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0316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Ban giám khảo. Em/tôi là Phạm Thị Thùy Dung, giáo viên chủ nhiệm lớp 4, Trường Tiểu học Huỳnh Ngọc Huệ, Đà Nẵng. Sản phẩm dự thi: Vương quốc Từ hay – Câu đẹp Lớp 4, ứng dụng ôn luyện phân môn Luyện từ và câu, chủ đề "Lớp học số tích hợp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10 phần, đi từ vấn đề thực tế của lớp, ý tưởng dùng AI, sản phẩm, cách triển khai đến kết quả và hướng phát triển.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vấn đề thực tế của lớp. Cô thay các ô [__] bằng số liệu thật của lớp (sĩ số, tỉ lệ học sinh nhầm từ loại) và một câu chuyện cụ thể.</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tưởng cốt lõi: học sinh luyện tập không qua AI, AI chỉ đứng sau hỗ trợ giáo viên, mọi nội dung AI tạo ra đều được cô duyệt trước.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học sinh: 35 trạm theo 35 tuần, mỗi trạm có phần Ghi nhớ, Mẹo nhỏ và ba mức luyện tập. Học sinh chỉ nhập họ tên, lớp; không cần tài khoản.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Dạng bài Thám tử AI giúp học sinh hiểu AI có thể sai và hình thành thói quen kiểm tra lại, một kĩ năng sử dụng AI có trách nhiệm ngay từ tiểu học.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Trợ lý AI chạy bằng tài khoản Claude của cô, chỉ khi cô mở ứng dụng trong Claude. Kèm theo là bảng Kết quả lớp theo từng chủ điểm và nút tải bảng kết quả CSV.</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nguyên tắc giúp sử dụng AI an toàn, chính xác và có trách nhiệm trong lớp tiểu học.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tả vòng luyện tập hằng tuần. Cô điền thời gian triển khai và số học sinh thực tế vào các ô [__].</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 điền số liệu thật từ bảng Kết quả lớp (tải CSV trong Góc giáo viên), bảng khảo sát và phản hồi của học sinh, phụ huynh.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với cách làm trước, nêu tính bền vững và hướng phát triển. Cô chỉnh phần Định hướng theo kế hoạch thật.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 thay các ô [ ] bằng đường dẫn thật, nhớ để chế độ công khai.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Ban giám khảo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0"/>
            <a:ext cx="10972800" cy="419100"/>
          </a:xfrm>
          <a:prstGeom prst="rect">
            <a:avLst/>
          </a:prstGeom>
          <a:noFill/>
          <a:ln/>
        </p:spPr>
        <p:txBody>
          <a:bodyPr wrap="square" lIns="0" tIns="0" rIns="0" bIns="0" rtlCol="0" anchor="t"/>
          <a:lstStyle>
            <a:lvl1pPr marL="0" indent="0" algn="l">
              <a:lnSpc>
                <a:spcPct val="115000"/>
              </a:lnSpc>
              <a:buNone/>
              <a:defRPr lang="en-US" sz="3000" dirty="0">
                <a:solidFill>
                  <a:srgbClr val="000054"/>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609600" y="1333500"/>
            <a:ext cx="10769600" cy="4711700"/>
          </a:xfrm>
          <a:prstGeom prst="rect">
            <a:avLst/>
          </a:prstGeom>
          <a:noFill/>
          <a:ln/>
        </p:spPr>
        <p:txBody>
          <a:bodyPr wrap="square" lIns="0" tIns="0" rIns="0" bIns="0" rtlCol="0" anchor="t"/>
          <a:lstStyle>
            <a:lvl1pPr marL="0" indent="0" algn="l">
              <a:lnSpc>
                <a:spcPct val="140000"/>
              </a:lnSpc>
              <a:buNone/>
              <a:defRPr lang="en-US" sz="1600" dirty="0">
                <a:solidFill>
                  <a:srgbClr val="000054"/>
                </a:solidFill>
                <a:latin typeface="Be Vietnam Pro" pitchFamily="34" charset="0"/>
                <a:ea typeface="Be Vietnam Pro" pitchFamily="34" charset="-122"/>
                <a:cs typeface="Be Vietnam Pro"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052219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0"/>
            <a:ext cx="10972800" cy="419100"/>
          </a:xfrm>
          <a:prstGeom prst="rect">
            <a:avLst/>
          </a:prstGeom>
          <a:noFill/>
          <a:ln/>
        </p:spPr>
        <p:txBody>
          <a:bodyPr wrap="square" lIns="0" tIns="0" rIns="0" bIns="0" rtlCol="0" anchor="t"/>
          <a:lstStyle>
            <a:lvl1pPr marL="0" indent="0" algn="l">
              <a:lnSpc>
                <a:spcPct val="115000"/>
              </a:lnSpc>
              <a:buNone/>
              <a:defRPr lang="en-US" sz="3000" dirty="0">
                <a:solidFill>
                  <a:srgbClr val="000054"/>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609600" y="1333500"/>
            <a:ext cx="10769600" cy="4711700"/>
          </a:xfrm>
          <a:prstGeom prst="rect">
            <a:avLst/>
          </a:prstGeom>
          <a:noFill/>
          <a:ln/>
        </p:spPr>
        <p:txBody>
          <a:bodyPr wrap="square" lIns="0" tIns="0" rIns="0" bIns="0" rtlCol="0" anchor="t"/>
          <a:lstStyle>
            <a:lvl1pPr marL="0" indent="0" algn="l">
              <a:lnSpc>
                <a:spcPct val="140000"/>
              </a:lnSpc>
              <a:buNone/>
              <a:defRPr lang="en-US" sz="1600" dirty="0">
                <a:solidFill>
                  <a:srgbClr val="000054"/>
                </a:solidFill>
                <a:latin typeface="Be Vietnam Pro" pitchFamily="34" charset="0"/>
                <a:ea typeface="Be Vietnam Pro" pitchFamily="34" charset="-122"/>
                <a:cs typeface="Be Vietnam Pr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jpe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 Hồ sơ sản phẩm tham gia"/>
          <p:cNvPicPr>
            <a:picLocks noChangeAspect="1"/>
          </p:cNvPicPr>
          <p:nvPr/>
        </p:nvPicPr>
        <p:blipFill>
          <a:blip r:embed="rId3"/>
          <a:srcRect t="4" b="4"/>
          <a:stretch/>
        </p:blipFill>
        <p:spPr>
          <a:xfrm>
            <a:off x="0" y="0"/>
            <a:ext cx="12192000" cy="1917700"/>
          </a:xfrm>
          <a:prstGeom prst="rect">
            <a:avLst/>
          </a:prstGeom>
        </p:spPr>
      </p:pic>
      <p:sp>
        <p:nvSpPr>
          <p:cNvPr id="3" name="Text 0"/>
          <p:cNvSpPr>
            <a:spLocks noGrp="1"/>
          </p:cNvSpPr>
          <p:nvPr>
            <p:ph type="title"/>
          </p:nvPr>
        </p:nvSpPr>
        <p:spPr>
          <a:xfrm>
            <a:off x="445008" y="2489200"/>
            <a:ext cx="11301984" cy="556260"/>
          </a:xfrm>
          <a:prstGeom prst="rect">
            <a:avLst/>
          </a:prstGeom>
          <a:noFill/>
          <a:ln/>
        </p:spPr>
        <p:txBody>
          <a:bodyPr wrap="square" lIns="0" tIns="0" rIns="0" bIns="0" rtlCol="0" anchor="t">
            <a:normAutofit/>
          </a:bodyPr>
          <a:lstStyle/>
          <a:p>
            <a:pPr marL="0" indent="0" algn="ctr">
              <a:lnSpc>
                <a:spcPts val="4180"/>
              </a:lnSpc>
              <a:buNone/>
            </a:pPr>
            <a:r>
              <a:rPr lang="en-US" sz="5400" b="1" i="0" dirty="0">
                <a:solidFill>
                  <a:srgbClr val="000054"/>
                </a:solidFill>
                <a:latin typeface="Barlow Condensed Black" panose="00000A06000000000000" pitchFamily="2" charset="0"/>
              </a:rPr>
              <a:t>VƯƠNG QUỐC TỪ HAY – CÂU ĐẸP LỚP 4</a:t>
            </a:r>
            <a:endParaRPr lang="en-US" sz="5400" dirty="0">
              <a:latin typeface="Barlow Condensed Black" panose="00000A06000000000000" pitchFamily="2" charset="0"/>
            </a:endParaRPr>
          </a:p>
        </p:txBody>
      </p:sp>
      <p:sp>
        <p:nvSpPr>
          <p:cNvPr id="4" name="Text 1"/>
          <p:cNvSpPr/>
          <p:nvPr/>
        </p:nvSpPr>
        <p:spPr>
          <a:xfrm>
            <a:off x="445008" y="3175000"/>
            <a:ext cx="11301984" cy="29972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3A4170"/>
                </a:solidFill>
                <a:latin typeface="Be Vietnam Pro" pitchFamily="34" charset="0"/>
                <a:ea typeface="Be Vietnam Pro" pitchFamily="34" charset="-122"/>
                <a:cs typeface="Be Vietnam Pro" pitchFamily="34" charset="-120"/>
              </a:rPr>
              <a:t>Ứng dụng ôn luyện </a:t>
            </a:r>
            <a:r>
              <a:rPr lang="en-US" sz="1600" b="1" dirty="0">
                <a:solidFill>
                  <a:srgbClr val="1E5BD8"/>
                </a:solidFill>
                <a:latin typeface="Be Vietnam Pro" pitchFamily="34" charset="0"/>
                <a:ea typeface="Be Vietnam Pro" pitchFamily="34" charset="-122"/>
                <a:cs typeface="Be Vietnam Pro" pitchFamily="34" charset="-120"/>
              </a:rPr>
              <a:t>Luyện từ và câu – Tiếng Việt 4</a:t>
            </a:r>
            <a:r>
              <a:rPr lang="en-US" sz="1600" dirty="0">
                <a:solidFill>
                  <a:srgbClr val="3A4170"/>
                </a:solidFill>
                <a:latin typeface="Be Vietnam Pro" pitchFamily="34" charset="0"/>
                <a:ea typeface="Be Vietnam Pro" pitchFamily="34" charset="-122"/>
                <a:cs typeface="Be Vietnam Pro" pitchFamily="34" charset="-120"/>
              </a:rPr>
              <a:t> (Kết nối tri thức) có trợ lý AI cho giáo viên</a:t>
            </a:r>
            <a:endParaRPr lang="en-US" sz="1600" dirty="0"/>
          </a:p>
        </p:txBody>
      </p:sp>
      <p:pic>
        <p:nvPicPr>
          <p:cNvPr id="5" name="Image 1"/>
          <p:cNvPicPr>
            <a:picLocks noChangeAspect="1"/>
          </p:cNvPicPr>
          <p:nvPr/>
        </p:nvPicPr>
        <p:blipFill>
          <a:blip r:embed="rId4"/>
          <a:srcRect t="126" b="126"/>
          <a:stretch/>
        </p:blipFill>
        <p:spPr>
          <a:xfrm>
            <a:off x="685800" y="4165600"/>
            <a:ext cx="10820400" cy="2006600"/>
          </a:xfrm>
          <a:prstGeom prst="rect">
            <a:avLst/>
          </a:prstGeom>
        </p:spPr>
      </p:pic>
      <p:pic>
        <p:nvPicPr>
          <p:cNvPr id="6" name="Image 2" descr="Biểu tượng giáo viên"/>
          <p:cNvPicPr>
            <a:picLocks noChangeAspect="1"/>
          </p:cNvPicPr>
          <p:nvPr/>
        </p:nvPicPr>
        <p:blipFill>
          <a:blip r:embed="rId5"/>
          <a:srcRect l="-54" r="-54"/>
          <a:stretch/>
        </p:blipFill>
        <p:spPr>
          <a:xfrm>
            <a:off x="355600" y="3784600"/>
            <a:ext cx="1117600" cy="1250950"/>
          </a:xfrm>
          <a:prstGeom prst="rect">
            <a:avLst/>
          </a:prstGeom>
        </p:spPr>
      </p:pic>
      <p:sp>
        <p:nvSpPr>
          <p:cNvPr id="7" name="Text 2"/>
          <p:cNvSpPr/>
          <p:nvPr/>
        </p:nvSpPr>
        <p:spPr>
          <a:xfrm>
            <a:off x="2444115" y="4343400"/>
            <a:ext cx="222377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Giáo viên thực hiện</a:t>
            </a:r>
            <a:endParaRPr lang="en-US" sz="1200" dirty="0"/>
          </a:p>
        </p:txBody>
      </p:sp>
      <p:pic>
        <p:nvPicPr>
          <p:cNvPr id="8" name="Image 3" descr="Ảnh cô Phạm Thị Thùy Dung"/>
          <p:cNvPicPr>
            <a:picLocks noChangeAspect="1"/>
          </p:cNvPicPr>
          <p:nvPr/>
        </p:nvPicPr>
        <p:blipFill>
          <a:blip r:embed="rId6"/>
          <a:srcRect/>
          <a:stretch/>
        </p:blipFill>
        <p:spPr>
          <a:xfrm>
            <a:off x="3073400" y="4648200"/>
            <a:ext cx="965200" cy="965200"/>
          </a:xfrm>
          <a:prstGeom prst="ellipse">
            <a:avLst/>
          </a:prstGeom>
        </p:spPr>
      </p:pic>
      <p:sp>
        <p:nvSpPr>
          <p:cNvPr id="9" name="Shape 3"/>
          <p:cNvSpPr/>
          <p:nvPr/>
        </p:nvSpPr>
        <p:spPr>
          <a:xfrm>
            <a:off x="3060700" y="4635500"/>
            <a:ext cx="990600" cy="990600"/>
          </a:xfrm>
          <a:prstGeom prst="ellipse">
            <a:avLst/>
          </a:prstGeom>
          <a:noFill/>
          <a:ln w="25400">
            <a:solidFill>
              <a:srgbClr val="FFEA00"/>
            </a:solidFill>
            <a:prstDash val="solid"/>
          </a:ln>
        </p:spPr>
      </p:sp>
      <p:sp>
        <p:nvSpPr>
          <p:cNvPr id="10" name="Text 4"/>
          <p:cNvSpPr/>
          <p:nvPr/>
        </p:nvSpPr>
        <p:spPr>
          <a:xfrm>
            <a:off x="2444115" y="5727700"/>
            <a:ext cx="2223770" cy="25654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FEA00"/>
                </a:solidFill>
                <a:latin typeface="Be Vietnam Pro" pitchFamily="34" charset="0"/>
                <a:ea typeface="Be Vietnam Pro" pitchFamily="34" charset="-122"/>
                <a:cs typeface="Be Vietnam Pro" pitchFamily="34" charset="-120"/>
              </a:rPr>
              <a:t>Phạm Thị Thùy Dung</a:t>
            </a:r>
            <a:endParaRPr lang="en-US" sz="1300" dirty="0"/>
          </a:p>
        </p:txBody>
      </p:sp>
      <p:sp>
        <p:nvSpPr>
          <p:cNvPr id="11" name="Text 5"/>
          <p:cNvSpPr/>
          <p:nvPr/>
        </p:nvSpPr>
        <p:spPr>
          <a:xfrm>
            <a:off x="5588000" y="4445000"/>
            <a:ext cx="57556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Be Vietnam Pro" pitchFamily="34" charset="0"/>
                <a:ea typeface="Be Vietnam Pro" pitchFamily="34" charset="-122"/>
                <a:cs typeface="Be Vietnam Pro" pitchFamily="34" charset="-120"/>
              </a:rPr>
              <a:t>Đơn vị công tác:</a:t>
            </a:r>
            <a:endParaRPr lang="en-US" sz="1400" dirty="0"/>
          </a:p>
        </p:txBody>
      </p:sp>
      <p:sp>
        <p:nvSpPr>
          <p:cNvPr id="12" name="Text 6"/>
          <p:cNvSpPr/>
          <p:nvPr/>
        </p:nvSpPr>
        <p:spPr>
          <a:xfrm>
            <a:off x="5588000" y="4732020"/>
            <a:ext cx="575564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FFFFF"/>
                </a:solidFill>
                <a:latin typeface="+mj-lt"/>
                <a:ea typeface="Be Vietnam Pro" pitchFamily="34" charset="-122"/>
                <a:cs typeface="Be Vietnam Pro" pitchFamily="34" charset="-120"/>
              </a:rPr>
              <a:t>Trường Tiểu học Huỳnh Ngọc Huệ</a:t>
            </a:r>
            <a:endParaRPr lang="en-US" sz="1300" dirty="0">
              <a:latin typeface="+mj-lt"/>
            </a:endParaRPr>
          </a:p>
          <a:p>
            <a:pPr marL="0" indent="0" algn="l">
              <a:lnSpc>
                <a:spcPts val="1755"/>
              </a:lnSpc>
              <a:buNone/>
            </a:pPr>
            <a:r>
              <a:rPr lang="en-US" sz="1300" dirty="0">
                <a:solidFill>
                  <a:srgbClr val="FFFFFF"/>
                </a:solidFill>
                <a:latin typeface="+mj-lt"/>
                <a:ea typeface="Be Vietnam Pro" pitchFamily="34" charset="-122"/>
                <a:cs typeface="Be Vietnam Pro" pitchFamily="34" charset="-120"/>
              </a:rPr>
              <a:t>158 Hà Huy Tập, phường Thanh Khê, thành phố Đà Nẵng</a:t>
            </a:r>
            <a:endParaRPr lang="en-US" sz="1300" dirty="0">
              <a:latin typeface="+mj-lt"/>
            </a:endParaRPr>
          </a:p>
        </p:txBody>
      </p:sp>
      <p:sp>
        <p:nvSpPr>
          <p:cNvPr id="13" name="Text 7"/>
          <p:cNvSpPr/>
          <p:nvPr/>
        </p:nvSpPr>
        <p:spPr>
          <a:xfrm>
            <a:off x="5588000" y="5304790"/>
            <a:ext cx="57556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Be Vietnam Pro" pitchFamily="34" charset="0"/>
                <a:ea typeface="Be Vietnam Pro" pitchFamily="34" charset="-122"/>
                <a:cs typeface="Be Vietnam Pro" pitchFamily="34" charset="-120"/>
              </a:rPr>
              <a:t>Email:</a:t>
            </a:r>
            <a:endParaRPr lang="en-US" sz="1400" dirty="0"/>
          </a:p>
        </p:txBody>
      </p:sp>
      <p:sp>
        <p:nvSpPr>
          <p:cNvPr id="14" name="Text 8"/>
          <p:cNvSpPr/>
          <p:nvPr/>
        </p:nvSpPr>
        <p:spPr>
          <a:xfrm>
            <a:off x="5588000" y="5591810"/>
            <a:ext cx="57556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Be Vietnam Pro" pitchFamily="34" charset="0"/>
                <a:ea typeface="Be Vietnam Pro" pitchFamily="34" charset="-122"/>
                <a:cs typeface="Be Vietnam Pro" pitchFamily="34" charset="-120"/>
              </a:rPr>
              <a:t>phamthithuydungdn@gmail.com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37" b="37"/>
          <a:stretch/>
        </p:blipFill>
        <p:spPr>
          <a:xfrm>
            <a:off x="0" y="0"/>
            <a:ext cx="6096000" cy="6858000"/>
          </a:xfrm>
          <a:prstGeom prst="rect">
            <a:avLst/>
          </a:prstGeom>
        </p:spPr>
      </p:pic>
      <p:sp>
        <p:nvSpPr>
          <p:cNvPr id="3" name="Shape 0"/>
          <p:cNvSpPr/>
          <p:nvPr/>
        </p:nvSpPr>
        <p:spPr>
          <a:xfrm>
            <a:off x="609600" y="952499"/>
            <a:ext cx="4876800" cy="4403271"/>
          </a:xfrm>
          <a:prstGeom prst="roundRect">
            <a:avLst>
              <a:gd name="adj" fmla="val 3435"/>
            </a:avLst>
          </a:prstGeom>
          <a:solidFill>
            <a:srgbClr val="FFFFFF"/>
          </a:solidFill>
          <a:ln/>
        </p:spPr>
      </p:sp>
      <p:pic>
        <p:nvPicPr>
          <p:cNvPr id="4" name="Image 1" descr="Màn hình khởi động ứng dụng Vương quốc Từ hay – Câu đẹp Lớp 4"/>
          <p:cNvPicPr>
            <a:picLocks noChangeAspect="1"/>
          </p:cNvPicPr>
          <p:nvPr/>
        </p:nvPicPr>
        <p:blipFill>
          <a:blip r:embed="rId4"/>
          <a:srcRect/>
          <a:stretch/>
        </p:blipFill>
        <p:spPr>
          <a:xfrm>
            <a:off x="736600" y="1079500"/>
            <a:ext cx="4622800" cy="2889250"/>
          </a:xfrm>
          <a:prstGeom prst="roundRect">
            <a:avLst>
              <a:gd name="adj" fmla="val 2637"/>
            </a:avLst>
          </a:prstGeom>
        </p:spPr>
      </p:pic>
      <p:sp>
        <p:nvSpPr>
          <p:cNvPr id="5" name="Text 1"/>
          <p:cNvSpPr/>
          <p:nvPr/>
        </p:nvSpPr>
        <p:spPr>
          <a:xfrm>
            <a:off x="736600" y="4095749"/>
            <a:ext cx="4761484" cy="825499"/>
          </a:xfrm>
          <a:prstGeom prst="rect">
            <a:avLst/>
          </a:prstGeom>
          <a:noFill/>
          <a:ln/>
        </p:spPr>
        <p:txBody>
          <a:bodyPr wrap="square" lIns="0" tIns="0" rIns="0" bIns="0" rtlCol="0" anchor="t">
            <a:noAutofit/>
          </a:bodyPr>
          <a:lstStyle/>
          <a:p>
            <a:pPr marL="0" indent="0" algn="just">
              <a:lnSpc>
                <a:spcPts val="1680"/>
              </a:lnSpc>
              <a:buNone/>
            </a:pPr>
            <a:r>
              <a:rPr lang="en-US" sz="1400" b="1" i="1" dirty="0">
                <a:solidFill>
                  <a:srgbClr val="3A4170"/>
                </a:solidFill>
                <a:latin typeface="Be Vietnam Pro" pitchFamily="34" charset="0"/>
                <a:ea typeface="Be Vietnam Pro" pitchFamily="34" charset="-122"/>
                <a:cs typeface="Be Vietnam Pro" pitchFamily="34" charset="-120"/>
              </a:rPr>
              <a:t>Màn hình khởi động: học sinh nhập họ tên, lớp và bước vào hành trình qua </a:t>
            </a:r>
            <a:r>
              <a:rPr lang="en-US" sz="1400" b="1" i="1" dirty="0" err="1">
                <a:solidFill>
                  <a:srgbClr val="3A4170"/>
                </a:solidFill>
                <a:latin typeface="Be Vietnam Pro" pitchFamily="34" charset="0"/>
                <a:ea typeface="Be Vietnam Pro" pitchFamily="34" charset="-122"/>
                <a:cs typeface="Be Vietnam Pro" pitchFamily="34" charset="-120"/>
              </a:rPr>
              <a:t>ba</a:t>
            </a:r>
            <a:r>
              <a:rPr lang="en-US" sz="1400" b="1" i="1" dirty="0">
                <a:solidFill>
                  <a:srgbClr val="3A4170"/>
                </a:solidFill>
                <a:latin typeface="Be Vietnam Pro" pitchFamily="34" charset="0"/>
                <a:ea typeface="Be Vietnam Pro" pitchFamily="34" charset="-122"/>
                <a:cs typeface="Be Vietnam Pro" pitchFamily="34" charset="-120"/>
              </a:rPr>
              <a:t> </a:t>
            </a:r>
            <a:r>
              <a:rPr lang="en-US" sz="1400" b="1" i="1" dirty="0" err="1">
                <a:solidFill>
                  <a:srgbClr val="3A4170"/>
                </a:solidFill>
                <a:latin typeface="Be Vietnam Pro" pitchFamily="34" charset="0"/>
                <a:ea typeface="Be Vietnam Pro" pitchFamily="34" charset="-122"/>
                <a:cs typeface="Be Vietnam Pro" pitchFamily="34" charset="-120"/>
              </a:rPr>
              <a:t>chặng</a:t>
            </a:r>
            <a:r>
              <a:rPr lang="en-US" sz="1400" b="1" i="1" dirty="0">
                <a:solidFill>
                  <a:srgbClr val="3A4170"/>
                </a:solidFill>
                <a:latin typeface="Be Vietnam Pro" pitchFamily="34" charset="0"/>
                <a:ea typeface="Be Vietnam Pro" pitchFamily="34" charset="-122"/>
                <a:cs typeface="Be Vietnam Pro" pitchFamily="34" charset="-120"/>
              </a:rPr>
              <a:t>:</a:t>
            </a:r>
          </a:p>
          <a:p>
            <a:pPr marL="0" indent="0" algn="ctr">
              <a:lnSpc>
                <a:spcPts val="1680"/>
              </a:lnSpc>
              <a:buNone/>
            </a:pPr>
            <a:r>
              <a:rPr lang="en-US" sz="1400" b="1" i="1" dirty="0" err="1">
                <a:solidFill>
                  <a:srgbClr val="3A4170"/>
                </a:solidFill>
                <a:latin typeface="Be Vietnam Pro" pitchFamily="34" charset="0"/>
                <a:ea typeface="Be Vietnam Pro" pitchFamily="34" charset="-122"/>
                <a:cs typeface="Be Vietnam Pro" pitchFamily="34" charset="-120"/>
              </a:rPr>
              <a:t>Khởi</a:t>
            </a:r>
            <a:r>
              <a:rPr lang="en-US" sz="1400" b="1" i="1" dirty="0">
                <a:solidFill>
                  <a:srgbClr val="3A4170"/>
                </a:solidFill>
                <a:latin typeface="Be Vietnam Pro" pitchFamily="34" charset="0"/>
                <a:ea typeface="Be Vietnam Pro" pitchFamily="34" charset="-122"/>
                <a:cs typeface="Be Vietnam Pro" pitchFamily="34" charset="-120"/>
              </a:rPr>
              <a:t> động – Tăng tốc – Chinh phục.</a:t>
            </a:r>
            <a:endParaRPr lang="en-US" sz="1400" b="1" dirty="0"/>
          </a:p>
        </p:txBody>
      </p:sp>
      <p:sp>
        <p:nvSpPr>
          <p:cNvPr id="6" name="Text 2"/>
          <p:cNvSpPr>
            <a:spLocks noGrp="1"/>
          </p:cNvSpPr>
          <p:nvPr>
            <p:ph type="title"/>
          </p:nvPr>
        </p:nvSpPr>
        <p:spPr>
          <a:xfrm>
            <a:off x="6654800" y="609600"/>
            <a:ext cx="510159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DÀN Ý SLIDE</a:t>
            </a:r>
            <a:endParaRPr lang="en-US" sz="3000" dirty="0"/>
          </a:p>
        </p:txBody>
      </p:sp>
      <p:sp>
        <p:nvSpPr>
          <p:cNvPr id="7" name="Text 3"/>
          <p:cNvSpPr/>
          <p:nvPr/>
        </p:nvSpPr>
        <p:spPr>
          <a:xfrm>
            <a:off x="6588284" y="1333500"/>
            <a:ext cx="5160486" cy="4299702"/>
          </a:xfrm>
          <a:prstGeom prst="rect">
            <a:avLst/>
          </a:prstGeom>
          <a:noFill/>
          <a:ln/>
        </p:spPr>
        <p:txBody>
          <a:bodyPr wrap="square" lIns="0" tIns="0" rIns="0" bIns="0" rtlCol="0" anchor="t">
            <a:noAutofit/>
          </a:bodyPr>
          <a:lstStyle/>
          <a:p>
            <a:pPr marL="320516" indent="-320516" algn="l">
              <a:lnSpc>
                <a:spcPct val="170000"/>
              </a:lnSpc>
              <a:buSzPct val="100000"/>
              <a:buFontTx/>
              <a:buAutoNum type="arabicPeriod"/>
            </a:pPr>
            <a:r>
              <a:rPr lang="en-US" sz="1600" dirty="0">
                <a:solidFill>
                  <a:srgbClr val="1B1F3B"/>
                </a:solidFill>
                <a:latin typeface="Arial" panose="020B0604020202020204" pitchFamily="34" charset="0"/>
                <a:ea typeface="Be Vietnam Pro" pitchFamily="34" charset="-122"/>
                <a:cs typeface="Arial" panose="020B0604020202020204" pitchFamily="34" charset="0"/>
              </a:rPr>
              <a:t>Bối cảnh và vấn đề</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a:solidFill>
                  <a:srgbClr val="1B1F3B"/>
                </a:solidFill>
                <a:latin typeface="Arial" panose="020B0604020202020204" pitchFamily="34" charset="0"/>
                <a:ea typeface="Be Vietnam Pro" pitchFamily="34" charset="-122"/>
                <a:cs typeface="Arial" panose="020B0604020202020204" pitchFamily="34" charset="0"/>
              </a:rPr>
              <a:t>Ý tưởng và giải pháp AI</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err="1">
                <a:solidFill>
                  <a:srgbClr val="1B1F3B"/>
                </a:solidFill>
                <a:latin typeface="Arial" panose="020B0604020202020204" pitchFamily="34" charset="0"/>
                <a:ea typeface="Be Vietnam Pro" pitchFamily="34" charset="-122"/>
                <a:cs typeface="Arial" panose="020B0604020202020204" pitchFamily="34" charset="0"/>
              </a:rPr>
              <a:t>Góc</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học</a:t>
            </a:r>
            <a:r>
              <a:rPr lang="en-US" sz="1600" dirty="0">
                <a:solidFill>
                  <a:srgbClr val="1B1F3B"/>
                </a:solidFill>
                <a:latin typeface="Arial" panose="020B0604020202020204" pitchFamily="34" charset="0"/>
                <a:ea typeface="Be Vietnam Pro" pitchFamily="34" charset="-122"/>
                <a:cs typeface="Arial" panose="020B0604020202020204" pitchFamily="34" charset="0"/>
              </a:rPr>
              <a:t> sinh</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err="1">
                <a:solidFill>
                  <a:srgbClr val="1B1F3B"/>
                </a:solidFill>
                <a:latin typeface="Arial" panose="020B0604020202020204" pitchFamily="34" charset="0"/>
                <a:ea typeface="Be Vietnam Pro" pitchFamily="34" charset="-122"/>
                <a:cs typeface="Arial" panose="020B0604020202020204" pitchFamily="34" charset="0"/>
              </a:rPr>
              <a:t>Phản</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hồi</a:t>
            </a:r>
            <a:r>
              <a:rPr lang="en-US" sz="1600" dirty="0">
                <a:solidFill>
                  <a:srgbClr val="1B1F3B"/>
                </a:solidFill>
                <a:latin typeface="Arial" panose="020B0604020202020204" pitchFamily="34" charset="0"/>
                <a:ea typeface="Be Vietnam Pro" pitchFamily="34" charset="-122"/>
                <a:cs typeface="Arial" panose="020B0604020202020204" pitchFamily="34" charset="0"/>
              </a:rPr>
              <a:t> và Thám tử AI</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a:solidFill>
                  <a:srgbClr val="1B1F3B"/>
                </a:solidFill>
                <a:latin typeface="Arial" panose="020B0604020202020204" pitchFamily="34" charset="0"/>
                <a:ea typeface="Be Vietnam Pro" pitchFamily="34" charset="-122"/>
                <a:cs typeface="Arial" panose="020B0604020202020204" pitchFamily="34" charset="0"/>
              </a:rPr>
              <a:t>Trợ lý AI cho giáo viên</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err="1">
                <a:solidFill>
                  <a:srgbClr val="1B1F3B"/>
                </a:solidFill>
                <a:latin typeface="Arial" panose="020B0604020202020204" pitchFamily="34" charset="0"/>
                <a:ea typeface="Be Vietnam Pro" pitchFamily="34" charset="-122"/>
                <a:cs typeface="Arial" panose="020B0604020202020204" pitchFamily="34" charset="0"/>
              </a:rPr>
              <a:t>Đạo</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đức</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khi</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dùng</a:t>
            </a:r>
            <a:r>
              <a:rPr lang="en-US" sz="1600" dirty="0">
                <a:solidFill>
                  <a:srgbClr val="1B1F3B"/>
                </a:solidFill>
                <a:latin typeface="Arial" panose="020B0604020202020204" pitchFamily="34" charset="0"/>
                <a:ea typeface="Be Vietnam Pro" pitchFamily="34" charset="-122"/>
                <a:cs typeface="Arial" panose="020B0604020202020204" pitchFamily="34" charset="0"/>
              </a:rPr>
              <a:t> AI</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a:solidFill>
                  <a:srgbClr val="1B1F3B"/>
                </a:solidFill>
                <a:latin typeface="Arial" panose="020B0604020202020204" pitchFamily="34" charset="0"/>
                <a:ea typeface="Be Vietnam Pro" pitchFamily="34" charset="-122"/>
                <a:cs typeface="Arial" panose="020B0604020202020204" pitchFamily="34" charset="0"/>
              </a:rPr>
              <a:t>Triển khai thực tế</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a:solidFill>
                  <a:srgbClr val="1B1F3B"/>
                </a:solidFill>
                <a:latin typeface="Arial" panose="020B0604020202020204" pitchFamily="34" charset="0"/>
                <a:ea typeface="Be Vietnam Pro" pitchFamily="34" charset="-122"/>
                <a:cs typeface="Arial" panose="020B0604020202020204" pitchFamily="34" charset="0"/>
              </a:rPr>
              <a:t>Kết quả và tác động</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err="1">
                <a:solidFill>
                  <a:srgbClr val="1B1F3B"/>
                </a:solidFill>
                <a:latin typeface="Arial" panose="020B0604020202020204" pitchFamily="34" charset="0"/>
                <a:ea typeface="Be Vietnam Pro" pitchFamily="34" charset="-122"/>
                <a:cs typeface="Arial" panose="020B0604020202020204" pitchFamily="34" charset="0"/>
              </a:rPr>
              <a:t>Tổng</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kết</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và</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phát</a:t>
            </a:r>
            <a:r>
              <a:rPr lang="en-US" sz="1600" dirty="0">
                <a:solidFill>
                  <a:srgbClr val="1B1F3B"/>
                </a:solidFill>
                <a:latin typeface="Arial" panose="020B0604020202020204" pitchFamily="34" charset="0"/>
                <a:ea typeface="Be Vietnam Pro" pitchFamily="34" charset="-122"/>
                <a:cs typeface="Arial" panose="020B0604020202020204" pitchFamily="34" charset="0"/>
              </a:rPr>
              <a:t> </a:t>
            </a:r>
            <a:r>
              <a:rPr lang="en-US" sz="1600" dirty="0" err="1">
                <a:solidFill>
                  <a:srgbClr val="1B1F3B"/>
                </a:solidFill>
                <a:latin typeface="Arial" panose="020B0604020202020204" pitchFamily="34" charset="0"/>
                <a:ea typeface="Be Vietnam Pro" pitchFamily="34" charset="-122"/>
                <a:cs typeface="Arial" panose="020B0604020202020204" pitchFamily="34" charset="0"/>
              </a:rPr>
              <a:t>triển</a:t>
            </a:r>
            <a:endParaRPr lang="en-US" sz="1600" dirty="0">
              <a:latin typeface="Arial" panose="020B0604020202020204" pitchFamily="34" charset="0"/>
              <a:cs typeface="Arial" panose="020B0604020202020204" pitchFamily="34" charset="0"/>
            </a:endParaRPr>
          </a:p>
          <a:p>
            <a:pPr marL="320516" indent="-320516" algn="l">
              <a:lnSpc>
                <a:spcPct val="170000"/>
              </a:lnSpc>
              <a:buSzPct val="100000"/>
              <a:buFontTx/>
              <a:buAutoNum type="arabicPeriod"/>
            </a:pPr>
            <a:r>
              <a:rPr lang="en-US" sz="1600" dirty="0">
                <a:solidFill>
                  <a:srgbClr val="1B1F3B"/>
                </a:solidFill>
                <a:latin typeface="Arial" panose="020B0604020202020204" pitchFamily="34" charset="0"/>
                <a:ea typeface="Be Vietnam Pro" pitchFamily="34" charset="-122"/>
                <a:cs typeface="Arial" panose="020B0604020202020204" pitchFamily="34" charset="0"/>
              </a:rPr>
              <a:t>Tài liệu đính kèm</a:t>
            </a:r>
            <a:endParaRPr lang="en-US" sz="1600" dirty="0">
              <a:latin typeface="Arial" panose="020B0604020202020204" pitchFamily="34" charset="0"/>
              <a:cs typeface="Arial" panose="020B0604020202020204" pitchFamily="34" charset="0"/>
            </a:endParaRPr>
          </a:p>
        </p:txBody>
      </p:sp>
      <p:pic>
        <p:nvPicPr>
          <p:cNvPr id="8" name="Image 2" descr="line"/>
          <p:cNvPicPr>
            <a:picLocks noChangeAspect="1"/>
          </p:cNvPicPr>
          <p:nvPr/>
        </p:nvPicPr>
        <p:blipFill>
          <a:blip r:embed="rId5"/>
          <a:srcRect l="-2083" r="-2083"/>
          <a:stretch/>
        </p:blipFill>
        <p:spPr>
          <a:xfrm>
            <a:off x="6350000" y="6121400"/>
            <a:ext cx="5372100" cy="30480"/>
          </a:xfrm>
          <a:prstGeom prst="rect">
            <a:avLst/>
          </a:prstGeom>
        </p:spPr>
      </p:pic>
      <p:sp>
        <p:nvSpPr>
          <p:cNvPr id="9" name="Text 4"/>
          <p:cNvSpPr/>
          <p:nvPr/>
        </p:nvSpPr>
        <p:spPr>
          <a:xfrm>
            <a:off x="6654800" y="6261100"/>
            <a:ext cx="5232400" cy="39116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000054"/>
                </a:solidFill>
                <a:latin typeface="Be Vietnam Pro" pitchFamily="34" charset="0"/>
                <a:ea typeface="Be Vietnam Pro" pitchFamily="34" charset="-122"/>
                <a:cs typeface="Be Vietnam Pro" pitchFamily="34" charset="-120"/>
              </a:rPr>
              <a:t>Giải Thưởng Tiên Phong Ứng Dụng AI Trong Giáo Dục Việt Nam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946500"/>
            <a:ext cx="12192000" cy="91150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sz="1200"/>
          </a:p>
        </p:txBody>
      </p:sp>
      <p:sp>
        <p:nvSpPr>
          <p:cNvPr id="7" name="Rounded Rectangle 5">
            <a:extLst>
              <a:ext uri="{FF2B5EF4-FFF2-40B4-BE49-F238E27FC236}">
                <a16:creationId xmlns:a16="http://schemas.microsoft.com/office/drawing/2014/main" id="{EDFDA144-7775-3A33-F255-E1B2EEC156F9}"/>
              </a:ext>
            </a:extLst>
          </p:cNvPr>
          <p:cNvSpPr/>
          <p:nvPr/>
        </p:nvSpPr>
        <p:spPr>
          <a:xfrm>
            <a:off x="291703" y="847344"/>
            <a:ext cx="2133600" cy="2362200"/>
          </a:xfrm>
          <a:prstGeom prst="roundRect">
            <a:avLst>
              <a:gd name="adj" fmla="val 4464"/>
            </a:avLst>
          </a:prstGeom>
          <a:solidFill>
            <a:srgbClr val="FFFFFF"/>
          </a:solidFill>
          <a:ln w="38100">
            <a:solidFill>
              <a:srgbClr val="002B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45A87E4D-21CD-EC3D-435E-7961FDBD5C29}"/>
              </a:ext>
            </a:extLst>
          </p:cNvPr>
          <p:cNvSpPr/>
          <p:nvPr/>
        </p:nvSpPr>
        <p:spPr>
          <a:xfrm>
            <a:off x="291703" y="32000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F6EF4D7D-62A8-09B8-B3B9-3E7FF06145EF}"/>
              </a:ext>
            </a:extLst>
          </p:cNvPr>
          <p:cNvSpPr/>
          <p:nvPr/>
        </p:nvSpPr>
        <p:spPr>
          <a:xfrm>
            <a:off x="291703" y="847344"/>
            <a:ext cx="2133600" cy="38100"/>
          </a:xfrm>
          <a:prstGeom prst="rect">
            <a:avLst/>
          </a:prstGeom>
          <a:solidFill>
            <a:srgbClr val="002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CF89BED1-AB26-B370-8EF9-0BB32D7B5952}"/>
              </a:ext>
            </a:extLst>
          </p:cNvPr>
          <p:cNvSpPr/>
          <p:nvPr/>
        </p:nvSpPr>
        <p:spPr>
          <a:xfrm>
            <a:off x="291703"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4F7263FC-A6C2-85F5-B9EA-8F9388176E5B}"/>
              </a:ext>
            </a:extLst>
          </p:cNvPr>
          <p:cNvSpPr/>
          <p:nvPr/>
        </p:nvSpPr>
        <p:spPr>
          <a:xfrm>
            <a:off x="2415778"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0">
            <a:extLst>
              <a:ext uri="{FF2B5EF4-FFF2-40B4-BE49-F238E27FC236}">
                <a16:creationId xmlns:a16="http://schemas.microsoft.com/office/drawing/2014/main" id="{3A200753-D281-83FA-A5A6-BFD3E80CED7B}"/>
              </a:ext>
            </a:extLst>
          </p:cNvPr>
          <p:cNvSpPr/>
          <p:nvPr/>
        </p:nvSpPr>
        <p:spPr>
          <a:xfrm>
            <a:off x="2577703" y="847344"/>
            <a:ext cx="2133600" cy="2362200"/>
          </a:xfrm>
          <a:prstGeom prst="roundRect">
            <a:avLst>
              <a:gd name="adj" fmla="val 4464"/>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DA8EC2AA-8059-A3C8-C5BC-7D98E2AD2489}"/>
              </a:ext>
            </a:extLst>
          </p:cNvPr>
          <p:cNvSpPr/>
          <p:nvPr/>
        </p:nvSpPr>
        <p:spPr>
          <a:xfrm>
            <a:off x="2577703" y="32000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2086DE62-9D6E-4DF1-397C-77528577AE9C}"/>
              </a:ext>
            </a:extLst>
          </p:cNvPr>
          <p:cNvSpPr/>
          <p:nvPr/>
        </p:nvSpPr>
        <p:spPr>
          <a:xfrm>
            <a:off x="2577703" y="847344"/>
            <a:ext cx="2133600" cy="381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11252725-571C-E49F-E01A-9BF94606569B}"/>
              </a:ext>
            </a:extLst>
          </p:cNvPr>
          <p:cNvSpPr/>
          <p:nvPr/>
        </p:nvSpPr>
        <p:spPr>
          <a:xfrm>
            <a:off x="2577703"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F46AD4DD-752A-68F2-0C03-DAA58699DFB3}"/>
              </a:ext>
            </a:extLst>
          </p:cNvPr>
          <p:cNvSpPr/>
          <p:nvPr/>
        </p:nvSpPr>
        <p:spPr>
          <a:xfrm>
            <a:off x="4701778"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15">
            <a:extLst>
              <a:ext uri="{FF2B5EF4-FFF2-40B4-BE49-F238E27FC236}">
                <a16:creationId xmlns:a16="http://schemas.microsoft.com/office/drawing/2014/main" id="{6CC430A5-FD73-711E-E7C0-087A9278F705}"/>
              </a:ext>
            </a:extLst>
          </p:cNvPr>
          <p:cNvSpPr/>
          <p:nvPr/>
        </p:nvSpPr>
        <p:spPr>
          <a:xfrm>
            <a:off x="4863703" y="847344"/>
            <a:ext cx="2133600" cy="2362200"/>
          </a:xfrm>
          <a:prstGeom prst="roundRect">
            <a:avLst>
              <a:gd name="adj" fmla="val 4464"/>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F5143BE5-3CBD-D61D-7B0D-2E9AA2FF3518}"/>
              </a:ext>
            </a:extLst>
          </p:cNvPr>
          <p:cNvSpPr/>
          <p:nvPr/>
        </p:nvSpPr>
        <p:spPr>
          <a:xfrm>
            <a:off x="4863703" y="32000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158CC6B6-8C90-8559-3468-644AA0EBFDBF}"/>
              </a:ext>
            </a:extLst>
          </p:cNvPr>
          <p:cNvSpPr/>
          <p:nvPr/>
        </p:nvSpPr>
        <p:spPr>
          <a:xfrm>
            <a:off x="4863703" y="847344"/>
            <a:ext cx="2133600" cy="381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a:extLst>
              <a:ext uri="{FF2B5EF4-FFF2-40B4-BE49-F238E27FC236}">
                <a16:creationId xmlns:a16="http://schemas.microsoft.com/office/drawing/2014/main" id="{BB1190F7-094C-D430-86A0-869F2E89F1E1}"/>
              </a:ext>
            </a:extLst>
          </p:cNvPr>
          <p:cNvSpPr/>
          <p:nvPr/>
        </p:nvSpPr>
        <p:spPr>
          <a:xfrm>
            <a:off x="4863703"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DE41040C-6170-254E-DFD8-9C088A69E97C}"/>
              </a:ext>
            </a:extLst>
          </p:cNvPr>
          <p:cNvSpPr/>
          <p:nvPr/>
        </p:nvSpPr>
        <p:spPr>
          <a:xfrm>
            <a:off x="6987778"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20">
            <a:extLst>
              <a:ext uri="{FF2B5EF4-FFF2-40B4-BE49-F238E27FC236}">
                <a16:creationId xmlns:a16="http://schemas.microsoft.com/office/drawing/2014/main" id="{F89512BE-815A-F354-0F45-50DD1C26856F}"/>
              </a:ext>
            </a:extLst>
          </p:cNvPr>
          <p:cNvSpPr/>
          <p:nvPr/>
        </p:nvSpPr>
        <p:spPr>
          <a:xfrm>
            <a:off x="7149703" y="847344"/>
            <a:ext cx="2133600" cy="2362200"/>
          </a:xfrm>
          <a:prstGeom prst="roundRect">
            <a:avLst>
              <a:gd name="adj" fmla="val 4464"/>
            </a:avLst>
          </a:prstGeom>
          <a:solidFill>
            <a:srgbClr val="FFFFFF"/>
          </a:solidFill>
          <a:ln w="38100">
            <a:solidFill>
              <a:srgbClr val="002B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294DB660-B537-3E5D-F63C-8657B8BB83BA}"/>
              </a:ext>
            </a:extLst>
          </p:cNvPr>
          <p:cNvSpPr/>
          <p:nvPr/>
        </p:nvSpPr>
        <p:spPr>
          <a:xfrm>
            <a:off x="7149703" y="32000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a:extLst>
              <a:ext uri="{FF2B5EF4-FFF2-40B4-BE49-F238E27FC236}">
                <a16:creationId xmlns:a16="http://schemas.microsoft.com/office/drawing/2014/main" id="{7F64C6E4-9354-9691-D77A-60834F24399F}"/>
              </a:ext>
            </a:extLst>
          </p:cNvPr>
          <p:cNvSpPr/>
          <p:nvPr/>
        </p:nvSpPr>
        <p:spPr>
          <a:xfrm>
            <a:off x="7149703" y="847344"/>
            <a:ext cx="2133600" cy="38100"/>
          </a:xfrm>
          <a:prstGeom prst="rect">
            <a:avLst/>
          </a:prstGeom>
          <a:solidFill>
            <a:srgbClr val="002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a:extLst>
              <a:ext uri="{FF2B5EF4-FFF2-40B4-BE49-F238E27FC236}">
                <a16:creationId xmlns:a16="http://schemas.microsoft.com/office/drawing/2014/main" id="{0E840570-4DBE-4E41-3FFD-A36C672227F5}"/>
              </a:ext>
            </a:extLst>
          </p:cNvPr>
          <p:cNvSpPr/>
          <p:nvPr/>
        </p:nvSpPr>
        <p:spPr>
          <a:xfrm>
            <a:off x="7149703"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0A1484EB-A9B6-E064-8CBD-A5A21DBEA8E9}"/>
              </a:ext>
            </a:extLst>
          </p:cNvPr>
          <p:cNvSpPr/>
          <p:nvPr/>
        </p:nvSpPr>
        <p:spPr>
          <a:xfrm>
            <a:off x="9273778"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25">
            <a:extLst>
              <a:ext uri="{FF2B5EF4-FFF2-40B4-BE49-F238E27FC236}">
                <a16:creationId xmlns:a16="http://schemas.microsoft.com/office/drawing/2014/main" id="{476A7780-446B-A222-5BE3-56E7C358056A}"/>
              </a:ext>
            </a:extLst>
          </p:cNvPr>
          <p:cNvSpPr/>
          <p:nvPr/>
        </p:nvSpPr>
        <p:spPr>
          <a:xfrm>
            <a:off x="9435703" y="847344"/>
            <a:ext cx="2133600" cy="2362200"/>
          </a:xfrm>
          <a:prstGeom prst="roundRect">
            <a:avLst>
              <a:gd name="adj" fmla="val 4464"/>
            </a:avLst>
          </a:prstGeom>
          <a:solidFill>
            <a:srgbClr val="FFFFFF"/>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a:extLst>
              <a:ext uri="{FF2B5EF4-FFF2-40B4-BE49-F238E27FC236}">
                <a16:creationId xmlns:a16="http://schemas.microsoft.com/office/drawing/2014/main" id="{FD723A67-61C5-DB10-9D0A-45D91E8FB9A0}"/>
              </a:ext>
            </a:extLst>
          </p:cNvPr>
          <p:cNvSpPr/>
          <p:nvPr/>
        </p:nvSpPr>
        <p:spPr>
          <a:xfrm>
            <a:off x="9435703" y="32000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a:extLst>
              <a:ext uri="{FF2B5EF4-FFF2-40B4-BE49-F238E27FC236}">
                <a16:creationId xmlns:a16="http://schemas.microsoft.com/office/drawing/2014/main" id="{17E846C1-AA2F-D66F-5262-37C96F5FA002}"/>
              </a:ext>
            </a:extLst>
          </p:cNvPr>
          <p:cNvSpPr/>
          <p:nvPr/>
        </p:nvSpPr>
        <p:spPr>
          <a:xfrm>
            <a:off x="9435703" y="847344"/>
            <a:ext cx="213360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a:extLst>
              <a:ext uri="{FF2B5EF4-FFF2-40B4-BE49-F238E27FC236}">
                <a16:creationId xmlns:a16="http://schemas.microsoft.com/office/drawing/2014/main" id="{DF250B80-696C-3DE5-C847-B06CE5DED552}"/>
              </a:ext>
            </a:extLst>
          </p:cNvPr>
          <p:cNvSpPr/>
          <p:nvPr/>
        </p:nvSpPr>
        <p:spPr>
          <a:xfrm>
            <a:off x="9435703"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a:extLst>
              <a:ext uri="{FF2B5EF4-FFF2-40B4-BE49-F238E27FC236}">
                <a16:creationId xmlns:a16="http://schemas.microsoft.com/office/drawing/2014/main" id="{1E9DCD68-C6F6-67D9-DB1B-AE020328FC20}"/>
              </a:ext>
            </a:extLst>
          </p:cNvPr>
          <p:cNvSpPr/>
          <p:nvPr/>
        </p:nvSpPr>
        <p:spPr>
          <a:xfrm>
            <a:off x="11559778" y="8473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30">
            <a:extLst>
              <a:ext uri="{FF2B5EF4-FFF2-40B4-BE49-F238E27FC236}">
                <a16:creationId xmlns:a16="http://schemas.microsoft.com/office/drawing/2014/main" id="{D2D2EFE6-3F28-9416-D8A9-BA9E259A0A9C}"/>
              </a:ext>
            </a:extLst>
          </p:cNvPr>
          <p:cNvSpPr/>
          <p:nvPr/>
        </p:nvSpPr>
        <p:spPr>
          <a:xfrm>
            <a:off x="291703" y="3361944"/>
            <a:ext cx="2133600" cy="2362200"/>
          </a:xfrm>
          <a:prstGeom prst="roundRect">
            <a:avLst>
              <a:gd name="adj" fmla="val 4464"/>
            </a:avLst>
          </a:prstGeom>
          <a:solidFill>
            <a:srgbClr val="FFFFFF"/>
          </a:solidFill>
          <a:ln w="381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a:extLst>
              <a:ext uri="{FF2B5EF4-FFF2-40B4-BE49-F238E27FC236}">
                <a16:creationId xmlns:a16="http://schemas.microsoft.com/office/drawing/2014/main" id="{D59F3390-4A81-C77D-C274-285FF2E75643}"/>
              </a:ext>
            </a:extLst>
          </p:cNvPr>
          <p:cNvSpPr/>
          <p:nvPr/>
        </p:nvSpPr>
        <p:spPr>
          <a:xfrm>
            <a:off x="291703" y="57146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a:extLst>
              <a:ext uri="{FF2B5EF4-FFF2-40B4-BE49-F238E27FC236}">
                <a16:creationId xmlns:a16="http://schemas.microsoft.com/office/drawing/2014/main" id="{1B7981C6-3B50-FD0D-18A1-C28DBCC3D418}"/>
              </a:ext>
            </a:extLst>
          </p:cNvPr>
          <p:cNvSpPr/>
          <p:nvPr/>
        </p:nvSpPr>
        <p:spPr>
          <a:xfrm>
            <a:off x="291703" y="3361944"/>
            <a:ext cx="2133600"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a:extLst>
              <a:ext uri="{FF2B5EF4-FFF2-40B4-BE49-F238E27FC236}">
                <a16:creationId xmlns:a16="http://schemas.microsoft.com/office/drawing/2014/main" id="{13F3EC64-76FB-2552-ABFF-CBFA19C2E1A8}"/>
              </a:ext>
            </a:extLst>
          </p:cNvPr>
          <p:cNvSpPr/>
          <p:nvPr/>
        </p:nvSpPr>
        <p:spPr>
          <a:xfrm>
            <a:off x="291703"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a:extLst>
              <a:ext uri="{FF2B5EF4-FFF2-40B4-BE49-F238E27FC236}">
                <a16:creationId xmlns:a16="http://schemas.microsoft.com/office/drawing/2014/main" id="{B4A21B97-2D80-209F-BCF2-5412C04E54F5}"/>
              </a:ext>
            </a:extLst>
          </p:cNvPr>
          <p:cNvSpPr/>
          <p:nvPr/>
        </p:nvSpPr>
        <p:spPr>
          <a:xfrm>
            <a:off x="2415778"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35">
            <a:extLst>
              <a:ext uri="{FF2B5EF4-FFF2-40B4-BE49-F238E27FC236}">
                <a16:creationId xmlns:a16="http://schemas.microsoft.com/office/drawing/2014/main" id="{9C2966F1-089E-67BE-1AFC-CC47A2A4B202}"/>
              </a:ext>
            </a:extLst>
          </p:cNvPr>
          <p:cNvSpPr/>
          <p:nvPr/>
        </p:nvSpPr>
        <p:spPr>
          <a:xfrm>
            <a:off x="2577703" y="3361944"/>
            <a:ext cx="2133600" cy="2362200"/>
          </a:xfrm>
          <a:prstGeom prst="roundRect">
            <a:avLst>
              <a:gd name="adj" fmla="val 4464"/>
            </a:avLst>
          </a:prstGeom>
          <a:solidFill>
            <a:srgbClr val="FFFFFF"/>
          </a:solidFill>
          <a:ln w="38100">
            <a:solidFill>
              <a:srgbClr val="002B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a:extLst>
              <a:ext uri="{FF2B5EF4-FFF2-40B4-BE49-F238E27FC236}">
                <a16:creationId xmlns:a16="http://schemas.microsoft.com/office/drawing/2014/main" id="{8C1DAFF7-FD00-FBC3-9069-8F86CA4E8E17}"/>
              </a:ext>
            </a:extLst>
          </p:cNvPr>
          <p:cNvSpPr/>
          <p:nvPr/>
        </p:nvSpPr>
        <p:spPr>
          <a:xfrm>
            <a:off x="2577703" y="57146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a:extLst>
              <a:ext uri="{FF2B5EF4-FFF2-40B4-BE49-F238E27FC236}">
                <a16:creationId xmlns:a16="http://schemas.microsoft.com/office/drawing/2014/main" id="{07A8293F-E057-4285-93CD-AEFDEC7F43DB}"/>
              </a:ext>
            </a:extLst>
          </p:cNvPr>
          <p:cNvSpPr/>
          <p:nvPr/>
        </p:nvSpPr>
        <p:spPr>
          <a:xfrm>
            <a:off x="2577703" y="3361944"/>
            <a:ext cx="2133600" cy="38100"/>
          </a:xfrm>
          <a:prstGeom prst="rect">
            <a:avLst/>
          </a:prstGeom>
          <a:solidFill>
            <a:srgbClr val="002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a:extLst>
              <a:ext uri="{FF2B5EF4-FFF2-40B4-BE49-F238E27FC236}">
                <a16:creationId xmlns:a16="http://schemas.microsoft.com/office/drawing/2014/main" id="{DFBD3362-55A5-958C-2656-8E05CD0B848C}"/>
              </a:ext>
            </a:extLst>
          </p:cNvPr>
          <p:cNvSpPr/>
          <p:nvPr/>
        </p:nvSpPr>
        <p:spPr>
          <a:xfrm>
            <a:off x="2577703"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a:extLst>
              <a:ext uri="{FF2B5EF4-FFF2-40B4-BE49-F238E27FC236}">
                <a16:creationId xmlns:a16="http://schemas.microsoft.com/office/drawing/2014/main" id="{A9B17F7D-27B5-E511-4A35-A609C3455FAA}"/>
              </a:ext>
            </a:extLst>
          </p:cNvPr>
          <p:cNvSpPr/>
          <p:nvPr/>
        </p:nvSpPr>
        <p:spPr>
          <a:xfrm>
            <a:off x="4701778"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40">
            <a:extLst>
              <a:ext uri="{FF2B5EF4-FFF2-40B4-BE49-F238E27FC236}">
                <a16:creationId xmlns:a16="http://schemas.microsoft.com/office/drawing/2014/main" id="{CCE0B9C4-2316-8D2F-B682-9AC346C57040}"/>
              </a:ext>
            </a:extLst>
          </p:cNvPr>
          <p:cNvSpPr/>
          <p:nvPr/>
        </p:nvSpPr>
        <p:spPr>
          <a:xfrm>
            <a:off x="4863703" y="3361944"/>
            <a:ext cx="2133600" cy="2362200"/>
          </a:xfrm>
          <a:prstGeom prst="roundRect">
            <a:avLst>
              <a:gd name="adj" fmla="val 4464"/>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a:extLst>
              <a:ext uri="{FF2B5EF4-FFF2-40B4-BE49-F238E27FC236}">
                <a16:creationId xmlns:a16="http://schemas.microsoft.com/office/drawing/2014/main" id="{CC162DC0-7187-B882-3351-BE6AB7336A57}"/>
              </a:ext>
            </a:extLst>
          </p:cNvPr>
          <p:cNvSpPr/>
          <p:nvPr/>
        </p:nvSpPr>
        <p:spPr>
          <a:xfrm>
            <a:off x="4863703" y="57146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a:extLst>
              <a:ext uri="{FF2B5EF4-FFF2-40B4-BE49-F238E27FC236}">
                <a16:creationId xmlns:a16="http://schemas.microsoft.com/office/drawing/2014/main" id="{C9115E55-F13F-C0D0-7DD0-BF9229675CED}"/>
              </a:ext>
            </a:extLst>
          </p:cNvPr>
          <p:cNvSpPr/>
          <p:nvPr/>
        </p:nvSpPr>
        <p:spPr>
          <a:xfrm>
            <a:off x="4863703" y="3361944"/>
            <a:ext cx="2133600" cy="381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a:extLst>
              <a:ext uri="{FF2B5EF4-FFF2-40B4-BE49-F238E27FC236}">
                <a16:creationId xmlns:a16="http://schemas.microsoft.com/office/drawing/2014/main" id="{99890AA0-A1C6-D2FB-BB40-4A9BB26926E3}"/>
              </a:ext>
            </a:extLst>
          </p:cNvPr>
          <p:cNvSpPr/>
          <p:nvPr/>
        </p:nvSpPr>
        <p:spPr>
          <a:xfrm>
            <a:off x="4863703"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a:extLst>
              <a:ext uri="{FF2B5EF4-FFF2-40B4-BE49-F238E27FC236}">
                <a16:creationId xmlns:a16="http://schemas.microsoft.com/office/drawing/2014/main" id="{3270C885-1C4C-2A3C-55F3-3ACA2D697CC8}"/>
              </a:ext>
            </a:extLst>
          </p:cNvPr>
          <p:cNvSpPr/>
          <p:nvPr/>
        </p:nvSpPr>
        <p:spPr>
          <a:xfrm>
            <a:off x="6987778"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ounded Rectangle 45">
            <a:extLst>
              <a:ext uri="{FF2B5EF4-FFF2-40B4-BE49-F238E27FC236}">
                <a16:creationId xmlns:a16="http://schemas.microsoft.com/office/drawing/2014/main" id="{370D6EDB-2A7A-5A37-FD31-FD98F43EF279}"/>
              </a:ext>
            </a:extLst>
          </p:cNvPr>
          <p:cNvSpPr/>
          <p:nvPr/>
        </p:nvSpPr>
        <p:spPr>
          <a:xfrm>
            <a:off x="7149703" y="3361944"/>
            <a:ext cx="2133600" cy="2362200"/>
          </a:xfrm>
          <a:prstGeom prst="roundRect">
            <a:avLst>
              <a:gd name="adj" fmla="val 4464"/>
            </a:avLst>
          </a:prstGeom>
          <a:solidFill>
            <a:srgbClr val="FFFFFF"/>
          </a:solidFill>
          <a:ln w="38100">
            <a:solidFill>
              <a:srgbClr val="002B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a:extLst>
              <a:ext uri="{FF2B5EF4-FFF2-40B4-BE49-F238E27FC236}">
                <a16:creationId xmlns:a16="http://schemas.microsoft.com/office/drawing/2014/main" id="{37406A7A-F756-D77C-12A4-47F8F88C0799}"/>
              </a:ext>
            </a:extLst>
          </p:cNvPr>
          <p:cNvSpPr/>
          <p:nvPr/>
        </p:nvSpPr>
        <p:spPr>
          <a:xfrm>
            <a:off x="7149703" y="57146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a:extLst>
              <a:ext uri="{FF2B5EF4-FFF2-40B4-BE49-F238E27FC236}">
                <a16:creationId xmlns:a16="http://schemas.microsoft.com/office/drawing/2014/main" id="{8004F5DC-434B-58D6-A9B0-B7B3AADAFA33}"/>
              </a:ext>
            </a:extLst>
          </p:cNvPr>
          <p:cNvSpPr/>
          <p:nvPr/>
        </p:nvSpPr>
        <p:spPr>
          <a:xfrm>
            <a:off x="7149703" y="3361944"/>
            <a:ext cx="2133600" cy="38100"/>
          </a:xfrm>
          <a:prstGeom prst="rect">
            <a:avLst/>
          </a:prstGeom>
          <a:solidFill>
            <a:srgbClr val="002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a:extLst>
              <a:ext uri="{FF2B5EF4-FFF2-40B4-BE49-F238E27FC236}">
                <a16:creationId xmlns:a16="http://schemas.microsoft.com/office/drawing/2014/main" id="{F03F0E9C-C296-AA3A-A519-7708D25A631B}"/>
              </a:ext>
            </a:extLst>
          </p:cNvPr>
          <p:cNvSpPr/>
          <p:nvPr/>
        </p:nvSpPr>
        <p:spPr>
          <a:xfrm>
            <a:off x="7149703"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a:extLst>
              <a:ext uri="{FF2B5EF4-FFF2-40B4-BE49-F238E27FC236}">
                <a16:creationId xmlns:a16="http://schemas.microsoft.com/office/drawing/2014/main" id="{612BA854-0A15-4478-67DB-36462E00871E}"/>
              </a:ext>
            </a:extLst>
          </p:cNvPr>
          <p:cNvSpPr/>
          <p:nvPr/>
        </p:nvSpPr>
        <p:spPr>
          <a:xfrm>
            <a:off x="9273778"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ounded Rectangle 50">
            <a:extLst>
              <a:ext uri="{FF2B5EF4-FFF2-40B4-BE49-F238E27FC236}">
                <a16:creationId xmlns:a16="http://schemas.microsoft.com/office/drawing/2014/main" id="{1F3CAB75-1E58-9F92-6A2F-6949B759CFF9}"/>
              </a:ext>
            </a:extLst>
          </p:cNvPr>
          <p:cNvSpPr/>
          <p:nvPr/>
        </p:nvSpPr>
        <p:spPr>
          <a:xfrm>
            <a:off x="9435703" y="3361944"/>
            <a:ext cx="2133600" cy="2362200"/>
          </a:xfrm>
          <a:prstGeom prst="roundRect">
            <a:avLst>
              <a:gd name="adj" fmla="val 4464"/>
            </a:avLst>
          </a:prstGeom>
          <a:solidFill>
            <a:srgbClr val="FFFFFF"/>
          </a:solidFill>
          <a:ln w="381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a:extLst>
              <a:ext uri="{FF2B5EF4-FFF2-40B4-BE49-F238E27FC236}">
                <a16:creationId xmlns:a16="http://schemas.microsoft.com/office/drawing/2014/main" id="{312AFC57-6E24-BFD6-E164-78370B1B8C36}"/>
              </a:ext>
            </a:extLst>
          </p:cNvPr>
          <p:cNvSpPr/>
          <p:nvPr/>
        </p:nvSpPr>
        <p:spPr>
          <a:xfrm>
            <a:off x="9435703" y="5714619"/>
            <a:ext cx="21336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a:extLst>
              <a:ext uri="{FF2B5EF4-FFF2-40B4-BE49-F238E27FC236}">
                <a16:creationId xmlns:a16="http://schemas.microsoft.com/office/drawing/2014/main" id="{37CC4E3B-3FB6-CC00-4EF1-23DDC250031F}"/>
              </a:ext>
            </a:extLst>
          </p:cNvPr>
          <p:cNvSpPr/>
          <p:nvPr/>
        </p:nvSpPr>
        <p:spPr>
          <a:xfrm>
            <a:off x="9435703" y="3361944"/>
            <a:ext cx="2133600" cy="381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a:extLst>
              <a:ext uri="{FF2B5EF4-FFF2-40B4-BE49-F238E27FC236}">
                <a16:creationId xmlns:a16="http://schemas.microsoft.com/office/drawing/2014/main" id="{B5EBA435-B7DD-D82F-4304-3C827CB0E03A}"/>
              </a:ext>
            </a:extLst>
          </p:cNvPr>
          <p:cNvSpPr/>
          <p:nvPr/>
        </p:nvSpPr>
        <p:spPr>
          <a:xfrm>
            <a:off x="9435703"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a:extLst>
              <a:ext uri="{FF2B5EF4-FFF2-40B4-BE49-F238E27FC236}">
                <a16:creationId xmlns:a16="http://schemas.microsoft.com/office/drawing/2014/main" id="{F5749607-496F-7C64-F911-9B4D8164FEBD}"/>
              </a:ext>
            </a:extLst>
          </p:cNvPr>
          <p:cNvSpPr/>
          <p:nvPr/>
        </p:nvSpPr>
        <p:spPr>
          <a:xfrm>
            <a:off x="11559778" y="3361944"/>
            <a:ext cx="9525" cy="23622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a:extLst>
              <a:ext uri="{FF2B5EF4-FFF2-40B4-BE49-F238E27FC236}">
                <a16:creationId xmlns:a16="http://schemas.microsoft.com/office/drawing/2014/main" id="{23820C30-C152-8C57-3BA3-A93DC39BAF08}"/>
              </a:ext>
            </a:extLst>
          </p:cNvPr>
          <p:cNvSpPr txBox="1"/>
          <p:nvPr/>
        </p:nvSpPr>
        <p:spPr>
          <a:xfrm>
            <a:off x="291703" y="161544"/>
            <a:ext cx="4800600" cy="323850"/>
          </a:xfrm>
          <a:prstGeom prst="rect">
            <a:avLst/>
          </a:prstGeom>
          <a:noFill/>
        </p:spPr>
        <p:txBody>
          <a:bodyPr wrap="none" lIns="0" tIns="0" rIns="0" bIns="0" anchor="t">
            <a:spAutoFit/>
          </a:bodyPr>
          <a:lstStyle/>
          <a:p>
            <a:pPr algn="l"/>
            <a:r>
              <a:rPr sz="2025" b="1" i="0" u="none" dirty="0">
                <a:solidFill>
                  <a:srgbClr val="0B1F5C"/>
                </a:solidFill>
                <a:latin typeface="Plus Jakarta Sans"/>
              </a:rPr>
              <a:t>KHUNG NỘI DUNG TOÀN DIỆN</a:t>
            </a:r>
          </a:p>
        </p:txBody>
      </p:sp>
      <p:sp>
        <p:nvSpPr>
          <p:cNvPr id="109" name="TextBox 108">
            <a:extLst>
              <a:ext uri="{FF2B5EF4-FFF2-40B4-BE49-F238E27FC236}">
                <a16:creationId xmlns:a16="http://schemas.microsoft.com/office/drawing/2014/main" id="{DD701996-870C-C166-93FD-62587CD8CA2D}"/>
              </a:ext>
            </a:extLst>
          </p:cNvPr>
          <p:cNvSpPr txBox="1"/>
          <p:nvPr/>
        </p:nvSpPr>
        <p:spPr>
          <a:xfrm>
            <a:off x="4101703" y="275844"/>
            <a:ext cx="3988593" cy="180975"/>
          </a:xfrm>
          <a:prstGeom prst="rect">
            <a:avLst/>
          </a:prstGeom>
          <a:noFill/>
        </p:spPr>
        <p:txBody>
          <a:bodyPr wrap="none" lIns="0" tIns="0" rIns="0" bIns="0" anchor="t">
            <a:spAutoFit/>
          </a:bodyPr>
          <a:lstStyle/>
          <a:p>
            <a:pPr algn="l"/>
            <a:r>
              <a:rPr sz="1125" b="1" i="0" u="none">
                <a:solidFill>
                  <a:srgbClr val="0284C7"/>
                </a:solidFill>
                <a:latin typeface="Plus Jakarta Sans"/>
              </a:rPr>
              <a:t>10 trọng điểm xây dựng và triển khai sản phẩm</a:t>
            </a:r>
          </a:p>
        </p:txBody>
      </p:sp>
      <p:sp>
        <p:nvSpPr>
          <p:cNvPr id="111" name="TextBox 110">
            <a:extLst>
              <a:ext uri="{FF2B5EF4-FFF2-40B4-BE49-F238E27FC236}">
                <a16:creationId xmlns:a16="http://schemas.microsoft.com/office/drawing/2014/main" id="{398DD9F9-9BD3-2E5F-E2BE-B58456385DC6}"/>
              </a:ext>
            </a:extLst>
          </p:cNvPr>
          <p:cNvSpPr txBox="1"/>
          <p:nvPr/>
        </p:nvSpPr>
        <p:spPr>
          <a:xfrm>
            <a:off x="463153" y="1018794"/>
            <a:ext cx="1885950" cy="2019300"/>
          </a:xfrm>
          <a:prstGeom prst="rect">
            <a:avLst/>
          </a:prstGeom>
          <a:noFill/>
        </p:spPr>
        <p:txBody>
          <a:bodyPr wrap="square" lIns="0" tIns="0" rIns="0" bIns="0" anchor="t">
            <a:spAutoFit/>
          </a:bodyPr>
          <a:lstStyle/>
          <a:p>
            <a:pPr algn="l"/>
            <a:r>
              <a:rPr sz="1650" b="1" i="0" u="none">
                <a:solidFill>
                  <a:srgbClr val="002B80"/>
                </a:solidFill>
                <a:latin typeface="Plus Jakarta Sans"/>
              </a:rPr>
              <a:t>01</a:t>
            </a:r>
          </a:p>
        </p:txBody>
      </p:sp>
      <p:sp>
        <p:nvSpPr>
          <p:cNvPr id="113" name="TextBox 112">
            <a:extLst>
              <a:ext uri="{FF2B5EF4-FFF2-40B4-BE49-F238E27FC236}">
                <a16:creationId xmlns:a16="http://schemas.microsoft.com/office/drawing/2014/main" id="{F15ABFB5-58F3-B456-A3C8-148FBBFA9A0B}"/>
              </a:ext>
            </a:extLst>
          </p:cNvPr>
          <p:cNvSpPr txBox="1"/>
          <p:nvPr/>
        </p:nvSpPr>
        <p:spPr>
          <a:xfrm>
            <a:off x="2749153" y="1018794"/>
            <a:ext cx="1885950" cy="2019300"/>
          </a:xfrm>
          <a:prstGeom prst="rect">
            <a:avLst/>
          </a:prstGeom>
          <a:noFill/>
        </p:spPr>
        <p:txBody>
          <a:bodyPr wrap="square" lIns="0" tIns="0" rIns="0" bIns="0" anchor="t">
            <a:spAutoFit/>
          </a:bodyPr>
          <a:lstStyle/>
          <a:p>
            <a:pPr algn="l"/>
            <a:r>
              <a:rPr sz="1650" b="1" i="0" u="none">
                <a:solidFill>
                  <a:srgbClr val="0284C7"/>
                </a:solidFill>
                <a:latin typeface="Plus Jakarta Sans"/>
              </a:rPr>
              <a:t>02</a:t>
            </a:r>
          </a:p>
        </p:txBody>
      </p:sp>
      <p:sp>
        <p:nvSpPr>
          <p:cNvPr id="115" name="TextBox 114">
            <a:extLst>
              <a:ext uri="{FF2B5EF4-FFF2-40B4-BE49-F238E27FC236}">
                <a16:creationId xmlns:a16="http://schemas.microsoft.com/office/drawing/2014/main" id="{02393A8C-2EF1-A551-A9EB-BAC8A5D033FF}"/>
              </a:ext>
            </a:extLst>
          </p:cNvPr>
          <p:cNvSpPr txBox="1"/>
          <p:nvPr/>
        </p:nvSpPr>
        <p:spPr>
          <a:xfrm>
            <a:off x="5035153" y="1018794"/>
            <a:ext cx="1885950" cy="2019300"/>
          </a:xfrm>
          <a:prstGeom prst="rect">
            <a:avLst/>
          </a:prstGeom>
          <a:noFill/>
        </p:spPr>
        <p:txBody>
          <a:bodyPr wrap="square" lIns="0" tIns="0" rIns="0" bIns="0" anchor="t">
            <a:spAutoFit/>
          </a:bodyPr>
          <a:lstStyle/>
          <a:p>
            <a:pPr algn="l"/>
            <a:r>
              <a:rPr sz="1650" b="1" i="0" u="none">
                <a:solidFill>
                  <a:srgbClr val="0284C7"/>
                </a:solidFill>
                <a:latin typeface="Plus Jakarta Sans"/>
              </a:rPr>
              <a:t>03</a:t>
            </a:r>
          </a:p>
        </p:txBody>
      </p:sp>
      <p:sp>
        <p:nvSpPr>
          <p:cNvPr id="117" name="TextBox 116">
            <a:extLst>
              <a:ext uri="{FF2B5EF4-FFF2-40B4-BE49-F238E27FC236}">
                <a16:creationId xmlns:a16="http://schemas.microsoft.com/office/drawing/2014/main" id="{904CC6DB-8CA3-54BC-2FCC-D47D94D25CCC}"/>
              </a:ext>
            </a:extLst>
          </p:cNvPr>
          <p:cNvSpPr txBox="1"/>
          <p:nvPr/>
        </p:nvSpPr>
        <p:spPr>
          <a:xfrm>
            <a:off x="7321153" y="1018794"/>
            <a:ext cx="1885950" cy="2019300"/>
          </a:xfrm>
          <a:prstGeom prst="rect">
            <a:avLst/>
          </a:prstGeom>
          <a:noFill/>
        </p:spPr>
        <p:txBody>
          <a:bodyPr wrap="square" lIns="0" tIns="0" rIns="0" bIns="0" anchor="t">
            <a:spAutoFit/>
          </a:bodyPr>
          <a:lstStyle/>
          <a:p>
            <a:pPr algn="l"/>
            <a:r>
              <a:rPr sz="1650" b="1" i="0" u="none">
                <a:solidFill>
                  <a:srgbClr val="002B80"/>
                </a:solidFill>
                <a:latin typeface="Plus Jakarta Sans"/>
              </a:rPr>
              <a:t>04</a:t>
            </a:r>
          </a:p>
        </p:txBody>
      </p:sp>
      <p:sp>
        <p:nvSpPr>
          <p:cNvPr id="119" name="TextBox 118">
            <a:extLst>
              <a:ext uri="{FF2B5EF4-FFF2-40B4-BE49-F238E27FC236}">
                <a16:creationId xmlns:a16="http://schemas.microsoft.com/office/drawing/2014/main" id="{C4797D79-A908-E4D8-0C68-CEE6CF69107E}"/>
              </a:ext>
            </a:extLst>
          </p:cNvPr>
          <p:cNvSpPr txBox="1"/>
          <p:nvPr/>
        </p:nvSpPr>
        <p:spPr>
          <a:xfrm>
            <a:off x="9607153" y="1018794"/>
            <a:ext cx="1885950" cy="2019300"/>
          </a:xfrm>
          <a:prstGeom prst="rect">
            <a:avLst/>
          </a:prstGeom>
          <a:noFill/>
        </p:spPr>
        <p:txBody>
          <a:bodyPr wrap="square" lIns="0" tIns="0" rIns="0" bIns="0" anchor="t">
            <a:spAutoFit/>
          </a:bodyPr>
          <a:lstStyle/>
          <a:p>
            <a:pPr algn="l"/>
            <a:r>
              <a:rPr sz="1650" b="1" i="0" u="none">
                <a:solidFill>
                  <a:srgbClr val="0F172A"/>
                </a:solidFill>
                <a:latin typeface="Plus Jakarta Sans"/>
              </a:rPr>
              <a:t>05</a:t>
            </a:r>
          </a:p>
        </p:txBody>
      </p:sp>
      <p:sp>
        <p:nvSpPr>
          <p:cNvPr id="121" name="TextBox 120">
            <a:extLst>
              <a:ext uri="{FF2B5EF4-FFF2-40B4-BE49-F238E27FC236}">
                <a16:creationId xmlns:a16="http://schemas.microsoft.com/office/drawing/2014/main" id="{32810934-B0DB-6990-248A-35588FDC08CD}"/>
              </a:ext>
            </a:extLst>
          </p:cNvPr>
          <p:cNvSpPr txBox="1"/>
          <p:nvPr/>
        </p:nvSpPr>
        <p:spPr>
          <a:xfrm>
            <a:off x="463153" y="3533394"/>
            <a:ext cx="1885950" cy="2019300"/>
          </a:xfrm>
          <a:prstGeom prst="rect">
            <a:avLst/>
          </a:prstGeom>
          <a:noFill/>
        </p:spPr>
        <p:txBody>
          <a:bodyPr wrap="square" lIns="0" tIns="0" rIns="0" bIns="0" anchor="t">
            <a:spAutoFit/>
          </a:bodyPr>
          <a:lstStyle/>
          <a:p>
            <a:pPr algn="l"/>
            <a:r>
              <a:rPr sz="1650" b="1" i="0" u="none">
                <a:solidFill>
                  <a:srgbClr val="0F172A"/>
                </a:solidFill>
                <a:latin typeface="Plus Jakarta Sans"/>
              </a:rPr>
              <a:t>06</a:t>
            </a:r>
          </a:p>
        </p:txBody>
      </p:sp>
      <p:sp>
        <p:nvSpPr>
          <p:cNvPr id="123" name="TextBox 122">
            <a:extLst>
              <a:ext uri="{FF2B5EF4-FFF2-40B4-BE49-F238E27FC236}">
                <a16:creationId xmlns:a16="http://schemas.microsoft.com/office/drawing/2014/main" id="{8499DAB6-C28A-2626-3B40-0C2530A398DA}"/>
              </a:ext>
            </a:extLst>
          </p:cNvPr>
          <p:cNvSpPr txBox="1"/>
          <p:nvPr/>
        </p:nvSpPr>
        <p:spPr>
          <a:xfrm>
            <a:off x="2749153" y="3533394"/>
            <a:ext cx="1885950" cy="2019300"/>
          </a:xfrm>
          <a:prstGeom prst="rect">
            <a:avLst/>
          </a:prstGeom>
          <a:noFill/>
        </p:spPr>
        <p:txBody>
          <a:bodyPr wrap="square" lIns="0" tIns="0" rIns="0" bIns="0" anchor="t">
            <a:spAutoFit/>
          </a:bodyPr>
          <a:lstStyle/>
          <a:p>
            <a:pPr algn="l"/>
            <a:r>
              <a:rPr sz="1650" b="1" i="0" u="none">
                <a:solidFill>
                  <a:srgbClr val="002B80"/>
                </a:solidFill>
                <a:latin typeface="Plus Jakarta Sans"/>
              </a:rPr>
              <a:t>07</a:t>
            </a:r>
          </a:p>
        </p:txBody>
      </p:sp>
      <p:sp>
        <p:nvSpPr>
          <p:cNvPr id="125" name="TextBox 124">
            <a:extLst>
              <a:ext uri="{FF2B5EF4-FFF2-40B4-BE49-F238E27FC236}">
                <a16:creationId xmlns:a16="http://schemas.microsoft.com/office/drawing/2014/main" id="{CCB60306-DE5B-1DAD-1F12-30A24DD30FB9}"/>
              </a:ext>
            </a:extLst>
          </p:cNvPr>
          <p:cNvSpPr txBox="1"/>
          <p:nvPr/>
        </p:nvSpPr>
        <p:spPr>
          <a:xfrm>
            <a:off x="5035153" y="3533394"/>
            <a:ext cx="1885950" cy="2019300"/>
          </a:xfrm>
          <a:prstGeom prst="rect">
            <a:avLst/>
          </a:prstGeom>
          <a:noFill/>
        </p:spPr>
        <p:txBody>
          <a:bodyPr wrap="square" lIns="0" tIns="0" rIns="0" bIns="0" anchor="t">
            <a:spAutoFit/>
          </a:bodyPr>
          <a:lstStyle/>
          <a:p>
            <a:pPr algn="l"/>
            <a:r>
              <a:rPr sz="1650" b="1" i="0" u="none">
                <a:solidFill>
                  <a:srgbClr val="0284C7"/>
                </a:solidFill>
                <a:latin typeface="Plus Jakarta Sans"/>
              </a:rPr>
              <a:t>08</a:t>
            </a:r>
          </a:p>
        </p:txBody>
      </p:sp>
      <p:sp>
        <p:nvSpPr>
          <p:cNvPr id="127" name="TextBox 126">
            <a:extLst>
              <a:ext uri="{FF2B5EF4-FFF2-40B4-BE49-F238E27FC236}">
                <a16:creationId xmlns:a16="http://schemas.microsoft.com/office/drawing/2014/main" id="{DA400F4E-D31E-B542-D048-1B9339EC39D3}"/>
              </a:ext>
            </a:extLst>
          </p:cNvPr>
          <p:cNvSpPr txBox="1"/>
          <p:nvPr/>
        </p:nvSpPr>
        <p:spPr>
          <a:xfrm>
            <a:off x="7321153" y="3533394"/>
            <a:ext cx="1885950" cy="2019300"/>
          </a:xfrm>
          <a:prstGeom prst="rect">
            <a:avLst/>
          </a:prstGeom>
          <a:noFill/>
        </p:spPr>
        <p:txBody>
          <a:bodyPr wrap="square" lIns="0" tIns="0" rIns="0" bIns="0" anchor="t">
            <a:spAutoFit/>
          </a:bodyPr>
          <a:lstStyle/>
          <a:p>
            <a:pPr algn="l"/>
            <a:r>
              <a:rPr sz="1650" b="1" i="0" u="none">
                <a:solidFill>
                  <a:srgbClr val="002B80"/>
                </a:solidFill>
                <a:latin typeface="Plus Jakarta Sans"/>
              </a:rPr>
              <a:t>09</a:t>
            </a:r>
          </a:p>
        </p:txBody>
      </p:sp>
      <p:sp>
        <p:nvSpPr>
          <p:cNvPr id="129" name="TextBox 128">
            <a:extLst>
              <a:ext uri="{FF2B5EF4-FFF2-40B4-BE49-F238E27FC236}">
                <a16:creationId xmlns:a16="http://schemas.microsoft.com/office/drawing/2014/main" id="{40AE72DC-362B-B2D0-9E0B-0EB0C74BC521}"/>
              </a:ext>
            </a:extLst>
          </p:cNvPr>
          <p:cNvSpPr txBox="1"/>
          <p:nvPr/>
        </p:nvSpPr>
        <p:spPr>
          <a:xfrm>
            <a:off x="9607153" y="3533394"/>
            <a:ext cx="1885950" cy="2019300"/>
          </a:xfrm>
          <a:prstGeom prst="rect">
            <a:avLst/>
          </a:prstGeom>
          <a:noFill/>
        </p:spPr>
        <p:txBody>
          <a:bodyPr wrap="square" lIns="0" tIns="0" rIns="0" bIns="0" anchor="t">
            <a:spAutoFit/>
          </a:bodyPr>
          <a:lstStyle/>
          <a:p>
            <a:pPr algn="l"/>
            <a:r>
              <a:rPr sz="1650" b="1" i="0" u="none">
                <a:solidFill>
                  <a:srgbClr val="64748B"/>
                </a:solidFill>
                <a:latin typeface="Plus Jakarta Sans"/>
              </a:rPr>
              <a:t>10</a:t>
            </a:r>
          </a:p>
        </p:txBody>
      </p:sp>
      <p:sp>
        <p:nvSpPr>
          <p:cNvPr id="131" name="TextBox 130">
            <a:extLst>
              <a:ext uri="{FF2B5EF4-FFF2-40B4-BE49-F238E27FC236}">
                <a16:creationId xmlns:a16="http://schemas.microsoft.com/office/drawing/2014/main" id="{068608D1-F0B4-E22D-2F0F-02EF223CC340}"/>
              </a:ext>
            </a:extLst>
          </p:cNvPr>
          <p:cNvSpPr txBox="1"/>
          <p:nvPr/>
        </p:nvSpPr>
        <p:spPr>
          <a:xfrm>
            <a:off x="472678" y="1418844"/>
            <a:ext cx="2325290" cy="180975"/>
          </a:xfrm>
          <a:prstGeom prst="rect">
            <a:avLst/>
          </a:prstGeom>
          <a:noFill/>
        </p:spPr>
        <p:txBody>
          <a:bodyPr wrap="none" lIns="0" tIns="0" rIns="0" bIns="0" anchor="t">
            <a:spAutoFit/>
          </a:bodyPr>
          <a:lstStyle/>
          <a:p>
            <a:pPr algn="l"/>
            <a:r>
              <a:rPr sz="1125" b="1" i="0" u="none">
                <a:solidFill>
                  <a:srgbClr val="1E293B"/>
                </a:solidFill>
                <a:latin typeface="Plus Jakarta Sans"/>
              </a:rPr>
              <a:t>Bối cảnh &amp; Vấn đề</a:t>
            </a:r>
          </a:p>
        </p:txBody>
      </p:sp>
      <p:sp>
        <p:nvSpPr>
          <p:cNvPr id="133" name="TextBox 132">
            <a:extLst>
              <a:ext uri="{FF2B5EF4-FFF2-40B4-BE49-F238E27FC236}">
                <a16:creationId xmlns:a16="http://schemas.microsoft.com/office/drawing/2014/main" id="{BE3EDFDB-EB59-83F0-82CF-C18E674EB9AC}"/>
              </a:ext>
            </a:extLst>
          </p:cNvPr>
          <p:cNvSpPr txBox="1"/>
          <p:nvPr/>
        </p:nvSpPr>
        <p:spPr>
          <a:xfrm>
            <a:off x="472678" y="16569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Khó khăn cốt lõi môn Luyện từ &amp; câu lớp 4.</a:t>
            </a:r>
          </a:p>
        </p:txBody>
      </p:sp>
      <p:sp>
        <p:nvSpPr>
          <p:cNvPr id="135" name="TextBox 134">
            <a:extLst>
              <a:ext uri="{FF2B5EF4-FFF2-40B4-BE49-F238E27FC236}">
                <a16:creationId xmlns:a16="http://schemas.microsoft.com/office/drawing/2014/main" id="{68F1AB82-A5D6-A893-A697-6983F8634A38}"/>
              </a:ext>
            </a:extLst>
          </p:cNvPr>
          <p:cNvSpPr txBox="1"/>
          <p:nvPr/>
        </p:nvSpPr>
        <p:spPr>
          <a:xfrm>
            <a:off x="2758678" y="1418844"/>
            <a:ext cx="2325290" cy="180975"/>
          </a:xfrm>
          <a:prstGeom prst="rect">
            <a:avLst/>
          </a:prstGeom>
          <a:noFill/>
        </p:spPr>
        <p:txBody>
          <a:bodyPr wrap="none" lIns="0" tIns="0" rIns="0" bIns="0" anchor="t">
            <a:spAutoFit/>
          </a:bodyPr>
          <a:lstStyle/>
          <a:p>
            <a:pPr algn="l"/>
            <a:r>
              <a:rPr sz="1125" b="1" i="0" u="none">
                <a:solidFill>
                  <a:srgbClr val="1E293B"/>
                </a:solidFill>
                <a:latin typeface="Plus Jakarta Sans"/>
              </a:rPr>
              <a:t>Ý tưởng &amp; Giải pháp</a:t>
            </a:r>
          </a:p>
        </p:txBody>
      </p:sp>
      <p:sp>
        <p:nvSpPr>
          <p:cNvPr id="137" name="TextBox 136">
            <a:extLst>
              <a:ext uri="{FF2B5EF4-FFF2-40B4-BE49-F238E27FC236}">
                <a16:creationId xmlns:a16="http://schemas.microsoft.com/office/drawing/2014/main" id="{6A8B5D97-FE69-AE06-0320-7A0094C3FC7A}"/>
              </a:ext>
            </a:extLst>
          </p:cNvPr>
          <p:cNvSpPr txBox="1"/>
          <p:nvPr/>
        </p:nvSpPr>
        <p:spPr>
          <a:xfrm>
            <a:off x="2758678" y="16569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Học sinh luyện tập, AI trợ lực, Cô định hướng.</a:t>
            </a:r>
          </a:p>
        </p:txBody>
      </p:sp>
      <p:sp>
        <p:nvSpPr>
          <p:cNvPr id="139" name="TextBox 138">
            <a:extLst>
              <a:ext uri="{FF2B5EF4-FFF2-40B4-BE49-F238E27FC236}">
                <a16:creationId xmlns:a16="http://schemas.microsoft.com/office/drawing/2014/main" id="{5AFFF161-8200-808C-8C9E-9ED9C7160178}"/>
              </a:ext>
            </a:extLst>
          </p:cNvPr>
          <p:cNvSpPr txBox="1"/>
          <p:nvPr/>
        </p:nvSpPr>
        <p:spPr>
          <a:xfrm>
            <a:off x="5044678" y="1418844"/>
            <a:ext cx="2325290" cy="180975"/>
          </a:xfrm>
          <a:prstGeom prst="rect">
            <a:avLst/>
          </a:prstGeom>
          <a:noFill/>
        </p:spPr>
        <p:txBody>
          <a:bodyPr wrap="none" lIns="0" tIns="0" rIns="0" bIns="0" anchor="t">
            <a:spAutoFit/>
          </a:bodyPr>
          <a:lstStyle/>
          <a:p>
            <a:pPr algn="l"/>
            <a:r>
              <a:rPr sz="1125" b="1" i="0" u="none">
                <a:solidFill>
                  <a:srgbClr val="1E293B"/>
                </a:solidFill>
                <a:latin typeface="Plus Jakarta Sans"/>
              </a:rPr>
              <a:t>Góc Học Sinh</a:t>
            </a:r>
          </a:p>
        </p:txBody>
      </p:sp>
      <p:sp>
        <p:nvSpPr>
          <p:cNvPr id="141" name="TextBox 140">
            <a:extLst>
              <a:ext uri="{FF2B5EF4-FFF2-40B4-BE49-F238E27FC236}">
                <a16:creationId xmlns:a16="http://schemas.microsoft.com/office/drawing/2014/main" id="{018B6729-4086-D144-7991-F503402668AE}"/>
              </a:ext>
            </a:extLst>
          </p:cNvPr>
          <p:cNvSpPr txBox="1"/>
          <p:nvPr/>
        </p:nvSpPr>
        <p:spPr>
          <a:xfrm>
            <a:off x="5044678" y="16569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35 trạm lộ trình theo sát SGK Kết nối tri thức.</a:t>
            </a:r>
          </a:p>
        </p:txBody>
      </p:sp>
      <p:sp>
        <p:nvSpPr>
          <p:cNvPr id="143" name="TextBox 142">
            <a:extLst>
              <a:ext uri="{FF2B5EF4-FFF2-40B4-BE49-F238E27FC236}">
                <a16:creationId xmlns:a16="http://schemas.microsoft.com/office/drawing/2014/main" id="{4E038548-62E0-05B9-FA0E-4D33F8231590}"/>
              </a:ext>
            </a:extLst>
          </p:cNvPr>
          <p:cNvSpPr txBox="1"/>
          <p:nvPr/>
        </p:nvSpPr>
        <p:spPr>
          <a:xfrm>
            <a:off x="7330678" y="1418844"/>
            <a:ext cx="2325290" cy="180975"/>
          </a:xfrm>
          <a:prstGeom prst="rect">
            <a:avLst/>
          </a:prstGeom>
          <a:noFill/>
        </p:spPr>
        <p:txBody>
          <a:bodyPr wrap="none" lIns="0" tIns="0" rIns="0" bIns="0" anchor="t">
            <a:spAutoFit/>
          </a:bodyPr>
          <a:lstStyle/>
          <a:p>
            <a:pPr algn="l"/>
            <a:r>
              <a:rPr sz="1125" b="1" i="0" u="none">
                <a:solidFill>
                  <a:srgbClr val="1E293B"/>
                </a:solidFill>
                <a:latin typeface="Plus Jakarta Sans"/>
              </a:rPr>
              <a:t>Phản Hồi &amp; Thám Tử AI</a:t>
            </a:r>
          </a:p>
        </p:txBody>
      </p:sp>
      <p:sp>
        <p:nvSpPr>
          <p:cNvPr id="145" name="TextBox 144">
            <a:extLst>
              <a:ext uri="{FF2B5EF4-FFF2-40B4-BE49-F238E27FC236}">
                <a16:creationId xmlns:a16="http://schemas.microsoft.com/office/drawing/2014/main" id="{E051C4B4-46FD-745B-92AA-2E80C5633F25}"/>
              </a:ext>
            </a:extLst>
          </p:cNvPr>
          <p:cNvSpPr txBox="1"/>
          <p:nvPr/>
        </p:nvSpPr>
        <p:spPr>
          <a:xfrm>
            <a:off x="7330678" y="16569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Sửa lỗi tức thì và rèn tư duy phản biện cho trò.</a:t>
            </a:r>
          </a:p>
        </p:txBody>
      </p:sp>
      <p:sp>
        <p:nvSpPr>
          <p:cNvPr id="147" name="TextBox 146">
            <a:extLst>
              <a:ext uri="{FF2B5EF4-FFF2-40B4-BE49-F238E27FC236}">
                <a16:creationId xmlns:a16="http://schemas.microsoft.com/office/drawing/2014/main" id="{7EA1457F-1D3D-FA0B-40AC-054FA726B38D}"/>
              </a:ext>
            </a:extLst>
          </p:cNvPr>
          <p:cNvSpPr txBox="1"/>
          <p:nvPr/>
        </p:nvSpPr>
        <p:spPr>
          <a:xfrm>
            <a:off x="9616678" y="1418844"/>
            <a:ext cx="1292020" cy="173124"/>
          </a:xfrm>
          <a:prstGeom prst="rect">
            <a:avLst/>
          </a:prstGeom>
          <a:noFill/>
        </p:spPr>
        <p:txBody>
          <a:bodyPr wrap="none" lIns="0" tIns="0" rIns="0" bIns="0" anchor="t">
            <a:spAutoFit/>
          </a:bodyPr>
          <a:lstStyle/>
          <a:p>
            <a:pPr algn="l"/>
            <a:r>
              <a:rPr lang="en-US" sz="1125" b="1" i="0" u="none" dirty="0" err="1">
                <a:solidFill>
                  <a:srgbClr val="1E293B"/>
                </a:solidFill>
                <a:latin typeface="Plus Jakarta Sans"/>
              </a:rPr>
              <a:t>Trợ</a:t>
            </a:r>
            <a:r>
              <a:rPr lang="en-US" sz="1125" b="1" i="0" u="none" dirty="0">
                <a:solidFill>
                  <a:srgbClr val="1E293B"/>
                </a:solidFill>
                <a:latin typeface="Plus Jakarta Sans"/>
              </a:rPr>
              <a:t> </a:t>
            </a:r>
            <a:r>
              <a:rPr lang="en-US" sz="1125" b="1" i="0" u="none" dirty="0" err="1">
                <a:solidFill>
                  <a:srgbClr val="1E293B"/>
                </a:solidFill>
                <a:latin typeface="Plus Jakarta Sans"/>
              </a:rPr>
              <a:t>lí</a:t>
            </a:r>
            <a:r>
              <a:rPr lang="en-US" sz="1125" b="1" i="0" u="none" dirty="0">
                <a:solidFill>
                  <a:srgbClr val="1E293B"/>
                </a:solidFill>
                <a:latin typeface="Plus Jakarta Sans"/>
              </a:rPr>
              <a:t> AI </a:t>
            </a:r>
            <a:r>
              <a:rPr lang="en-US" sz="1125" b="1" i="0" u="none" dirty="0" err="1">
                <a:solidFill>
                  <a:srgbClr val="1E293B"/>
                </a:solidFill>
                <a:latin typeface="Plus Jakarta Sans"/>
              </a:rPr>
              <a:t>cho</a:t>
            </a:r>
            <a:r>
              <a:rPr lang="en-US" sz="1125" b="1" i="0" u="none" dirty="0">
                <a:solidFill>
                  <a:srgbClr val="1E293B"/>
                </a:solidFill>
                <a:latin typeface="Plus Jakarta Sans"/>
              </a:rPr>
              <a:t> </a:t>
            </a:r>
            <a:r>
              <a:rPr lang="en-US" sz="1125" b="1" i="0" u="none" dirty="0" err="1">
                <a:solidFill>
                  <a:srgbClr val="1E293B"/>
                </a:solidFill>
                <a:latin typeface="Plus Jakarta Sans"/>
              </a:rPr>
              <a:t>giáo</a:t>
            </a:r>
            <a:r>
              <a:rPr lang="en-US" sz="1125" b="1" i="0" u="none" dirty="0">
                <a:solidFill>
                  <a:srgbClr val="1E293B"/>
                </a:solidFill>
                <a:latin typeface="Plus Jakarta Sans"/>
              </a:rPr>
              <a:t> </a:t>
            </a:r>
            <a:r>
              <a:rPr lang="en-US" sz="1125" b="1" i="0" u="none" dirty="0" err="1">
                <a:solidFill>
                  <a:srgbClr val="1E293B"/>
                </a:solidFill>
                <a:latin typeface="Plus Jakarta Sans"/>
              </a:rPr>
              <a:t>viên</a:t>
            </a:r>
            <a:endParaRPr sz="1125" b="1" i="0" u="none" dirty="0">
              <a:solidFill>
                <a:srgbClr val="1E293B"/>
              </a:solidFill>
              <a:latin typeface="Plus Jakarta Sans"/>
            </a:endParaRPr>
          </a:p>
        </p:txBody>
      </p:sp>
      <p:sp>
        <p:nvSpPr>
          <p:cNvPr id="149" name="TextBox 148">
            <a:extLst>
              <a:ext uri="{FF2B5EF4-FFF2-40B4-BE49-F238E27FC236}">
                <a16:creationId xmlns:a16="http://schemas.microsoft.com/office/drawing/2014/main" id="{E76CE101-E685-ECA7-CF81-4F3A7C865739}"/>
              </a:ext>
            </a:extLst>
          </p:cNvPr>
          <p:cNvSpPr txBox="1"/>
          <p:nvPr/>
        </p:nvSpPr>
        <p:spPr>
          <a:xfrm>
            <a:off x="9616678" y="16569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Trợ lý soạn câu hỏi, nhận xét và chia nhóm tự động.</a:t>
            </a:r>
          </a:p>
        </p:txBody>
      </p:sp>
      <p:sp>
        <p:nvSpPr>
          <p:cNvPr id="151" name="TextBox 150">
            <a:extLst>
              <a:ext uri="{FF2B5EF4-FFF2-40B4-BE49-F238E27FC236}">
                <a16:creationId xmlns:a16="http://schemas.microsoft.com/office/drawing/2014/main" id="{8136ACBE-7DC2-8DF8-52A5-8B9A7D386893}"/>
              </a:ext>
            </a:extLst>
          </p:cNvPr>
          <p:cNvSpPr txBox="1"/>
          <p:nvPr/>
        </p:nvSpPr>
        <p:spPr>
          <a:xfrm>
            <a:off x="472678" y="3933444"/>
            <a:ext cx="1223092" cy="173124"/>
          </a:xfrm>
          <a:prstGeom prst="rect">
            <a:avLst/>
          </a:prstGeom>
          <a:noFill/>
        </p:spPr>
        <p:txBody>
          <a:bodyPr wrap="none" lIns="0" tIns="0" rIns="0" bIns="0" anchor="t">
            <a:spAutoFit/>
          </a:bodyPr>
          <a:lstStyle/>
          <a:p>
            <a:pPr algn="l"/>
            <a:r>
              <a:rPr sz="1125" b="1" i="0" u="none" dirty="0" err="1">
                <a:solidFill>
                  <a:srgbClr val="1E293B"/>
                </a:solidFill>
                <a:latin typeface="Plus Jakarta Sans"/>
              </a:rPr>
              <a:t>Đạo</a:t>
            </a:r>
            <a:r>
              <a:rPr sz="1125" b="1" i="0" u="none" dirty="0">
                <a:solidFill>
                  <a:srgbClr val="1E293B"/>
                </a:solidFill>
                <a:latin typeface="Plus Jakarta Sans"/>
              </a:rPr>
              <a:t> Đức </a:t>
            </a:r>
            <a:r>
              <a:rPr lang="en-US" sz="1125" b="1" dirty="0" err="1">
                <a:solidFill>
                  <a:srgbClr val="1E293B"/>
                </a:solidFill>
                <a:latin typeface="Plus Jakarta Sans"/>
              </a:rPr>
              <a:t>khi</a:t>
            </a:r>
            <a:r>
              <a:rPr lang="en-US" sz="1125" b="1" dirty="0">
                <a:solidFill>
                  <a:srgbClr val="1E293B"/>
                </a:solidFill>
                <a:latin typeface="Plus Jakarta Sans"/>
              </a:rPr>
              <a:t> </a:t>
            </a:r>
            <a:r>
              <a:rPr lang="en-US" sz="1125" b="1" dirty="0" err="1">
                <a:solidFill>
                  <a:srgbClr val="1E293B"/>
                </a:solidFill>
                <a:latin typeface="Plus Jakarta Sans"/>
              </a:rPr>
              <a:t>d</a:t>
            </a:r>
            <a:r>
              <a:rPr sz="1125" b="1" i="0" u="none" dirty="0" err="1">
                <a:solidFill>
                  <a:srgbClr val="1E293B"/>
                </a:solidFill>
                <a:latin typeface="Plus Jakarta Sans"/>
              </a:rPr>
              <a:t>ùng</a:t>
            </a:r>
            <a:r>
              <a:rPr sz="1125" b="1" i="0" u="none" dirty="0">
                <a:solidFill>
                  <a:srgbClr val="1E293B"/>
                </a:solidFill>
                <a:latin typeface="Plus Jakarta Sans"/>
              </a:rPr>
              <a:t> AI</a:t>
            </a:r>
          </a:p>
        </p:txBody>
      </p:sp>
      <p:sp>
        <p:nvSpPr>
          <p:cNvPr id="153" name="TextBox 152">
            <a:extLst>
              <a:ext uri="{FF2B5EF4-FFF2-40B4-BE49-F238E27FC236}">
                <a16:creationId xmlns:a16="http://schemas.microsoft.com/office/drawing/2014/main" id="{CFCC6E9F-AE67-9714-122E-448A1E909A01}"/>
              </a:ext>
            </a:extLst>
          </p:cNvPr>
          <p:cNvSpPr txBox="1"/>
          <p:nvPr/>
        </p:nvSpPr>
        <p:spPr>
          <a:xfrm>
            <a:off x="472678" y="41715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Bảo mật thông tin, không gửi dữ liệu định danh cá nhân.</a:t>
            </a:r>
          </a:p>
        </p:txBody>
      </p:sp>
      <p:sp>
        <p:nvSpPr>
          <p:cNvPr id="155" name="TextBox 154">
            <a:extLst>
              <a:ext uri="{FF2B5EF4-FFF2-40B4-BE49-F238E27FC236}">
                <a16:creationId xmlns:a16="http://schemas.microsoft.com/office/drawing/2014/main" id="{D75901EA-EF3C-C2A1-A05D-1E54F7699195}"/>
              </a:ext>
            </a:extLst>
          </p:cNvPr>
          <p:cNvSpPr txBox="1"/>
          <p:nvPr/>
        </p:nvSpPr>
        <p:spPr>
          <a:xfrm>
            <a:off x="2758678" y="3933444"/>
            <a:ext cx="2325290" cy="180975"/>
          </a:xfrm>
          <a:prstGeom prst="rect">
            <a:avLst/>
          </a:prstGeom>
          <a:noFill/>
        </p:spPr>
        <p:txBody>
          <a:bodyPr wrap="none" lIns="0" tIns="0" rIns="0" bIns="0" anchor="t">
            <a:spAutoFit/>
          </a:bodyPr>
          <a:lstStyle/>
          <a:p>
            <a:pPr algn="l"/>
            <a:r>
              <a:rPr sz="1125" b="1" i="0" u="none">
                <a:solidFill>
                  <a:srgbClr val="1E293B"/>
                </a:solidFill>
                <a:latin typeface="Plus Jakarta Sans"/>
              </a:rPr>
              <a:t>Triển Khai Thực Tế</a:t>
            </a:r>
          </a:p>
        </p:txBody>
      </p:sp>
      <p:sp>
        <p:nvSpPr>
          <p:cNvPr id="157" name="TextBox 156">
            <a:extLst>
              <a:ext uri="{FF2B5EF4-FFF2-40B4-BE49-F238E27FC236}">
                <a16:creationId xmlns:a16="http://schemas.microsoft.com/office/drawing/2014/main" id="{F3503552-1F35-8327-95D1-16D05B980FC3}"/>
              </a:ext>
            </a:extLst>
          </p:cNvPr>
          <p:cNvSpPr txBox="1"/>
          <p:nvPr/>
        </p:nvSpPr>
        <p:spPr>
          <a:xfrm>
            <a:off x="2758678" y="41715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Mô hình Trạm Cô - Trạm Máy - Trạm Bạn mỗi tuần.</a:t>
            </a:r>
          </a:p>
        </p:txBody>
      </p:sp>
      <p:sp>
        <p:nvSpPr>
          <p:cNvPr id="159" name="TextBox 158">
            <a:extLst>
              <a:ext uri="{FF2B5EF4-FFF2-40B4-BE49-F238E27FC236}">
                <a16:creationId xmlns:a16="http://schemas.microsoft.com/office/drawing/2014/main" id="{7676D762-6837-18C7-EF87-862075FAC10A}"/>
              </a:ext>
            </a:extLst>
          </p:cNvPr>
          <p:cNvSpPr txBox="1"/>
          <p:nvPr/>
        </p:nvSpPr>
        <p:spPr>
          <a:xfrm>
            <a:off x="5044678" y="3933444"/>
            <a:ext cx="2325290" cy="180975"/>
          </a:xfrm>
          <a:prstGeom prst="rect">
            <a:avLst/>
          </a:prstGeom>
          <a:noFill/>
        </p:spPr>
        <p:txBody>
          <a:bodyPr wrap="none" lIns="0" tIns="0" rIns="0" bIns="0" anchor="t">
            <a:spAutoFit/>
          </a:bodyPr>
          <a:lstStyle/>
          <a:p>
            <a:pPr algn="l"/>
            <a:r>
              <a:rPr sz="1125" b="1" i="0" u="none">
                <a:solidFill>
                  <a:srgbClr val="1E293B"/>
                </a:solidFill>
                <a:latin typeface="Plus Jakarta Sans"/>
              </a:rPr>
              <a:t>Kết Quả &amp; Tác Động</a:t>
            </a:r>
          </a:p>
        </p:txBody>
      </p:sp>
      <p:sp>
        <p:nvSpPr>
          <p:cNvPr id="161" name="TextBox 160">
            <a:extLst>
              <a:ext uri="{FF2B5EF4-FFF2-40B4-BE49-F238E27FC236}">
                <a16:creationId xmlns:a16="http://schemas.microsoft.com/office/drawing/2014/main" id="{E58F8D39-18AD-990C-8014-22500D3C9F77}"/>
              </a:ext>
            </a:extLst>
          </p:cNvPr>
          <p:cNvSpPr txBox="1"/>
          <p:nvPr/>
        </p:nvSpPr>
        <p:spPr>
          <a:xfrm>
            <a:off x="5044678" y="41715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85% học sinh đạt mức hoàn thành tốt chủ điểm.</a:t>
            </a:r>
          </a:p>
        </p:txBody>
      </p:sp>
      <p:sp>
        <p:nvSpPr>
          <p:cNvPr id="163" name="TextBox 162">
            <a:extLst>
              <a:ext uri="{FF2B5EF4-FFF2-40B4-BE49-F238E27FC236}">
                <a16:creationId xmlns:a16="http://schemas.microsoft.com/office/drawing/2014/main" id="{5979221E-2C9B-D7C3-DCFF-FCD8A1E5FF5A}"/>
              </a:ext>
            </a:extLst>
          </p:cNvPr>
          <p:cNvSpPr txBox="1"/>
          <p:nvPr/>
        </p:nvSpPr>
        <p:spPr>
          <a:xfrm>
            <a:off x="7330678" y="3933444"/>
            <a:ext cx="2325290" cy="180975"/>
          </a:xfrm>
          <a:prstGeom prst="rect">
            <a:avLst/>
          </a:prstGeom>
          <a:noFill/>
        </p:spPr>
        <p:txBody>
          <a:bodyPr wrap="none" lIns="0" tIns="0" rIns="0" bIns="0" anchor="t">
            <a:spAutoFit/>
          </a:bodyPr>
          <a:lstStyle/>
          <a:p>
            <a:pPr algn="l"/>
            <a:r>
              <a:rPr sz="1125" b="1" i="0" u="none">
                <a:solidFill>
                  <a:srgbClr val="1E293B"/>
                </a:solidFill>
                <a:latin typeface="Plus Jakarta Sans"/>
              </a:rPr>
              <a:t>Tổng Kết &amp; Phát Triển</a:t>
            </a:r>
          </a:p>
        </p:txBody>
      </p:sp>
      <p:sp>
        <p:nvSpPr>
          <p:cNvPr id="165" name="TextBox 164">
            <a:extLst>
              <a:ext uri="{FF2B5EF4-FFF2-40B4-BE49-F238E27FC236}">
                <a16:creationId xmlns:a16="http://schemas.microsoft.com/office/drawing/2014/main" id="{11E4ECE1-315D-815A-57B3-45EF4BFED4B4}"/>
              </a:ext>
            </a:extLst>
          </p:cNvPr>
          <p:cNvSpPr txBox="1"/>
          <p:nvPr/>
        </p:nvSpPr>
        <p:spPr>
          <a:xfrm>
            <a:off x="7330678" y="41715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Dễ nhân rộng cho toàn khối 4 và khối tiểu học.</a:t>
            </a:r>
          </a:p>
        </p:txBody>
      </p:sp>
      <p:sp>
        <p:nvSpPr>
          <p:cNvPr id="167" name="TextBox 166">
            <a:extLst>
              <a:ext uri="{FF2B5EF4-FFF2-40B4-BE49-F238E27FC236}">
                <a16:creationId xmlns:a16="http://schemas.microsoft.com/office/drawing/2014/main" id="{030FEB82-37BD-0CB8-9DDC-29AE76E550E9}"/>
              </a:ext>
            </a:extLst>
          </p:cNvPr>
          <p:cNvSpPr txBox="1"/>
          <p:nvPr/>
        </p:nvSpPr>
        <p:spPr>
          <a:xfrm>
            <a:off x="9616678" y="3933444"/>
            <a:ext cx="1022716" cy="173124"/>
          </a:xfrm>
          <a:prstGeom prst="rect">
            <a:avLst/>
          </a:prstGeom>
          <a:noFill/>
        </p:spPr>
        <p:txBody>
          <a:bodyPr wrap="none" lIns="0" tIns="0" rIns="0" bIns="0" anchor="t">
            <a:spAutoFit/>
          </a:bodyPr>
          <a:lstStyle/>
          <a:p>
            <a:pPr algn="l"/>
            <a:r>
              <a:rPr lang="en-US" sz="1125" b="1" i="0" u="none" dirty="0">
                <a:solidFill>
                  <a:srgbClr val="1E293B"/>
                </a:solidFill>
                <a:latin typeface="Plus Jakarta Sans"/>
              </a:rPr>
              <a:t>Tài </a:t>
            </a:r>
            <a:r>
              <a:rPr lang="en-US" sz="1125" b="1" i="0" u="none" dirty="0" err="1">
                <a:solidFill>
                  <a:srgbClr val="1E293B"/>
                </a:solidFill>
                <a:latin typeface="Plus Jakarta Sans"/>
              </a:rPr>
              <a:t>liệu</a:t>
            </a:r>
            <a:r>
              <a:rPr lang="en-US" sz="1125" b="1" i="0" u="none" dirty="0">
                <a:solidFill>
                  <a:srgbClr val="1E293B"/>
                </a:solidFill>
                <a:latin typeface="Plus Jakarta Sans"/>
              </a:rPr>
              <a:t> </a:t>
            </a:r>
            <a:r>
              <a:rPr lang="en-US" sz="1125" b="1" i="0" u="none" dirty="0" err="1">
                <a:solidFill>
                  <a:srgbClr val="1E293B"/>
                </a:solidFill>
                <a:latin typeface="Plus Jakarta Sans"/>
              </a:rPr>
              <a:t>đính</a:t>
            </a:r>
            <a:r>
              <a:rPr lang="en-US" sz="1125" b="1" i="0" u="none" dirty="0">
                <a:solidFill>
                  <a:srgbClr val="1E293B"/>
                </a:solidFill>
                <a:latin typeface="Plus Jakarta Sans"/>
              </a:rPr>
              <a:t> </a:t>
            </a:r>
            <a:r>
              <a:rPr lang="en-US" sz="1125" b="1" i="0" u="none" dirty="0" err="1">
                <a:solidFill>
                  <a:srgbClr val="1E293B"/>
                </a:solidFill>
                <a:latin typeface="Plus Jakarta Sans"/>
              </a:rPr>
              <a:t>kèm</a:t>
            </a:r>
            <a:endParaRPr sz="1125" b="1" i="0" u="none" dirty="0">
              <a:solidFill>
                <a:srgbClr val="1E293B"/>
              </a:solidFill>
              <a:latin typeface="Plus Jakarta Sans"/>
            </a:endParaRPr>
          </a:p>
        </p:txBody>
      </p:sp>
      <p:sp>
        <p:nvSpPr>
          <p:cNvPr id="169" name="TextBox 168">
            <a:extLst>
              <a:ext uri="{FF2B5EF4-FFF2-40B4-BE49-F238E27FC236}">
                <a16:creationId xmlns:a16="http://schemas.microsoft.com/office/drawing/2014/main" id="{F329B9AA-2E27-C0B2-D4BF-D60BC1F923D0}"/>
              </a:ext>
            </a:extLst>
          </p:cNvPr>
          <p:cNvSpPr txBox="1"/>
          <p:nvPr/>
        </p:nvSpPr>
        <p:spPr>
          <a:xfrm>
            <a:off x="9616678" y="4171569"/>
            <a:ext cx="1866900" cy="304800"/>
          </a:xfrm>
          <a:prstGeom prst="rect">
            <a:avLst/>
          </a:prstGeom>
          <a:noFill/>
        </p:spPr>
        <p:txBody>
          <a:bodyPr wrap="square" lIns="0" tIns="0" rIns="0" bIns="0" anchor="t">
            <a:spAutoFit/>
          </a:bodyPr>
          <a:lstStyle/>
          <a:p>
            <a:pPr algn="l"/>
            <a:r>
              <a:rPr sz="975" b="0" i="0" u="none">
                <a:solidFill>
                  <a:srgbClr val="64748B"/>
                </a:solidFill>
                <a:latin typeface="Plus Jakarta Sans"/>
              </a:rPr>
              <a:t>Đường link mã nguồn, ứng dụng web và Google Drive.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445008" y="286367"/>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BỐI CẢNH VÀ VẤN ĐỀ</a:t>
            </a:r>
            <a:endParaRPr lang="en-US" sz="3000" dirty="0"/>
          </a:p>
        </p:txBody>
      </p:sp>
      <p:sp>
        <p:nvSpPr>
          <p:cNvPr id="6" name="Shape 3"/>
          <p:cNvSpPr/>
          <p:nvPr/>
        </p:nvSpPr>
        <p:spPr>
          <a:xfrm>
            <a:off x="241808" y="4329417"/>
            <a:ext cx="4517946" cy="1094740"/>
          </a:xfrm>
          <a:prstGeom prst="roundRect">
            <a:avLst>
              <a:gd name="adj" fmla="val 9281"/>
            </a:avLst>
          </a:prstGeom>
          <a:solidFill>
            <a:srgbClr val="EEF3FC"/>
          </a:solidFill>
          <a:ln/>
        </p:spPr>
      </p:sp>
      <p:sp>
        <p:nvSpPr>
          <p:cNvPr id="7" name="Text 4"/>
          <p:cNvSpPr/>
          <p:nvPr/>
        </p:nvSpPr>
        <p:spPr>
          <a:xfrm>
            <a:off x="445008" y="4309384"/>
            <a:ext cx="423489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0054"/>
                </a:solidFill>
                <a:latin typeface="Be Vietnam Pro" pitchFamily="34" charset="0"/>
                <a:ea typeface="Be Vietnam Pro" pitchFamily="34" charset="-122"/>
                <a:cs typeface="Be Vietnam Pro" pitchFamily="34" charset="-120"/>
              </a:rPr>
              <a:t>Đối tượng chính</a:t>
            </a:r>
            <a:endParaRPr lang="en-US" sz="1400" dirty="0"/>
          </a:p>
        </p:txBody>
      </p:sp>
      <p:sp>
        <p:nvSpPr>
          <p:cNvPr id="8" name="Text 5"/>
          <p:cNvSpPr/>
          <p:nvPr/>
        </p:nvSpPr>
        <p:spPr>
          <a:xfrm>
            <a:off x="445008" y="4586245"/>
            <a:ext cx="423489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Học sinh </a:t>
            </a:r>
            <a:r>
              <a:rPr lang="en-US" sz="1300" dirty="0" err="1">
                <a:solidFill>
                  <a:srgbClr val="1B1F3B"/>
                </a:solidFill>
                <a:latin typeface="Be Vietnam Pro" pitchFamily="34" charset="0"/>
                <a:ea typeface="Be Vietnam Pro" pitchFamily="34" charset="-122"/>
                <a:cs typeface="Be Vietnam Pro" pitchFamily="34" charset="-120"/>
              </a:rPr>
              <a:t>lớp</a:t>
            </a:r>
            <a:r>
              <a:rPr lang="en-US" sz="1300" dirty="0">
                <a:solidFill>
                  <a:srgbClr val="1B1F3B"/>
                </a:solidFill>
                <a:latin typeface="Be Vietnam Pro" pitchFamily="34" charset="0"/>
                <a:ea typeface="Be Vietnam Pro" pitchFamily="34" charset="-122"/>
                <a:cs typeface="Be Vietnam Pro" pitchFamily="34" charset="-120"/>
              </a:rPr>
              <a:t> 4/11 ([30 em) và giáo viên chủ nhiệm dạy Tiếng Việt</a:t>
            </a:r>
            <a:endParaRPr lang="en-US" sz="1300" dirty="0"/>
          </a:p>
        </p:txBody>
      </p:sp>
      <p:sp>
        <p:nvSpPr>
          <p:cNvPr id="11" name="Text 8"/>
          <p:cNvSpPr/>
          <p:nvPr/>
        </p:nvSpPr>
        <p:spPr>
          <a:xfrm>
            <a:off x="7267655" y="3167380"/>
            <a:ext cx="423489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Be Vietnam Pro" pitchFamily="34" charset="0"/>
                <a:ea typeface="Be Vietnam Pro" pitchFamily="34" charset="-122"/>
                <a:cs typeface="Be Vietnam Pro" pitchFamily="34" charset="-120"/>
              </a:rPr>
              <a:t>học sinh còn nhầm lẫn từ loại trong [bài khảo sát đầu năm]</a:t>
            </a:r>
            <a:endParaRPr lang="en-US" sz="1300" dirty="0"/>
          </a:p>
        </p:txBody>
      </p:sp>
      <p:sp>
        <p:nvSpPr>
          <p:cNvPr id="10" name="Text 1">
            <a:extLst>
              <a:ext uri="{FF2B5EF4-FFF2-40B4-BE49-F238E27FC236}">
                <a16:creationId xmlns:a16="http://schemas.microsoft.com/office/drawing/2014/main" id="{68552490-4DCB-580E-A7AD-9037C7D15DF5}"/>
              </a:ext>
            </a:extLst>
          </p:cNvPr>
          <p:cNvSpPr/>
          <p:nvPr/>
        </p:nvSpPr>
        <p:spPr>
          <a:xfrm>
            <a:off x="365318" y="768968"/>
            <a:ext cx="6309262" cy="414437"/>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70000"/>
              </a:lnSpc>
              <a:buNone/>
            </a:pPr>
            <a:r>
              <a:rPr lang="en-US" sz="1600" b="1" dirty="0">
                <a:solidFill>
                  <a:srgbClr val="1E5BD8"/>
                </a:solidFill>
                <a:latin typeface="Be Vietnam Pro Bold" pitchFamily="34" charset="0"/>
                <a:ea typeface="Be Vietnam Pro Bold" pitchFamily="34" charset="-122"/>
                <a:cs typeface="Be Vietnam Pro Bold" pitchFamily="34" charset="0"/>
              </a:rPr>
              <a:t>Khó khăn trong dạy Luyện từ và câu lớp 4</a:t>
            </a:r>
            <a:endParaRPr lang="en-US" sz="1600" dirty="0"/>
          </a:p>
        </p:txBody>
      </p:sp>
      <p:sp>
        <p:nvSpPr>
          <p:cNvPr id="12" name="Text 2">
            <a:extLst>
              <a:ext uri="{FF2B5EF4-FFF2-40B4-BE49-F238E27FC236}">
                <a16:creationId xmlns:a16="http://schemas.microsoft.com/office/drawing/2014/main" id="{F484310B-1108-58D0-5C4A-7693AE5AD5CB}"/>
              </a:ext>
            </a:extLst>
          </p:cNvPr>
          <p:cNvSpPr/>
          <p:nvPr/>
        </p:nvSpPr>
        <p:spPr>
          <a:xfrm>
            <a:off x="365318" y="1310405"/>
            <a:ext cx="6309262" cy="2718296"/>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68910" indent="-168910" algn="l">
              <a:lnSpc>
                <a:spcPct val="170000"/>
              </a:lnSpc>
              <a:buSzPct val="100000"/>
              <a:buChar char="•"/>
            </a:pPr>
            <a:r>
              <a:rPr lang="en-US" sz="1400" dirty="0">
                <a:solidFill>
                  <a:srgbClr val="1B1F3B"/>
                </a:solidFill>
                <a:latin typeface="Be Vietnam Pro" pitchFamily="34" charset="0"/>
                <a:ea typeface="Be Vietnam Pro" pitchFamily="34" charset="-122"/>
                <a:cs typeface="Be Vietnam Pro" pitchFamily="34" charset="0"/>
              </a:rPr>
              <a:t>Kiến thức trừu tượng: danh từ, động từ, tính từ, chủ ngữ – vị ngữ, trạng ngữ… học sinh dễ nhầm khi vận dụng.</a:t>
            </a:r>
            <a:endParaRPr lang="en-US" sz="1400" dirty="0"/>
          </a:p>
          <a:p>
            <a:pPr marL="168910" indent="-168910" algn="l">
              <a:lnSpc>
                <a:spcPct val="170000"/>
              </a:lnSpc>
              <a:buSzPct val="100000"/>
              <a:buChar char="•"/>
            </a:pPr>
            <a:r>
              <a:rPr lang="en-US" sz="1400" dirty="0">
                <a:solidFill>
                  <a:srgbClr val="1B1F3B"/>
                </a:solidFill>
                <a:latin typeface="Be Vietnam Pro" pitchFamily="34" charset="0"/>
                <a:ea typeface="Be Vietnam Pro" pitchFamily="34" charset="-122"/>
                <a:cs typeface="Be Vietnam Pro" pitchFamily="34" charset="0"/>
              </a:rPr>
              <a:t>Thời lượng trên lớp có hạn, cô khó sửa lỗi riêng cho từng em.</a:t>
            </a:r>
            <a:endParaRPr lang="en-US" sz="1400" dirty="0"/>
          </a:p>
          <a:p>
            <a:pPr marL="168910" indent="-168910" algn="l">
              <a:lnSpc>
                <a:spcPct val="170000"/>
              </a:lnSpc>
              <a:buSzPct val="100000"/>
              <a:buChar char="•"/>
            </a:pPr>
            <a:r>
              <a:rPr lang="en-US" sz="1400" dirty="0">
                <a:solidFill>
                  <a:srgbClr val="1B1F3B"/>
                </a:solidFill>
                <a:latin typeface="Be Vietnam Pro" pitchFamily="34" charset="0"/>
                <a:ea typeface="Be Vietnam Pro" pitchFamily="34" charset="-122"/>
                <a:cs typeface="Be Vietnam Pro" pitchFamily="34" charset="0"/>
              </a:rPr>
              <a:t>Phiếu bài tập giấy chấm chậm: em không biết ngay mình sai ở đâu, cô khó nắm lỗi chung của cả lớp.</a:t>
            </a:r>
            <a:endParaRPr lang="en-US" sz="1400" dirty="0"/>
          </a:p>
          <a:p>
            <a:pPr marL="168910" indent="-168910" algn="l">
              <a:lnSpc>
                <a:spcPct val="170000"/>
              </a:lnSpc>
              <a:buSzPct val="100000"/>
              <a:buChar char="•"/>
            </a:pPr>
            <a:r>
              <a:rPr lang="en-US" sz="1400" dirty="0">
                <a:solidFill>
                  <a:srgbClr val="1B1F3B"/>
                </a:solidFill>
                <a:latin typeface="Be Vietnam Pro" pitchFamily="34" charset="0"/>
                <a:ea typeface="Be Vietnam Pro" pitchFamily="34" charset="-122"/>
                <a:cs typeface="Be Vietnam Pro" pitchFamily="34" charset="0"/>
              </a:rPr>
              <a:t>Học sinh đã gặp AI nhưng chưa có thói quen kiểm tra lại câu trả lời của AI.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Ý TƯỞNG VÀ GIẢI PHÁP</a:t>
            </a:r>
            <a:endParaRPr lang="en-US" sz="3000" dirty="0"/>
          </a:p>
        </p:txBody>
      </p:sp>
      <p:sp>
        <p:nvSpPr>
          <p:cNvPr id="4" name="Text 1"/>
          <p:cNvSpPr/>
          <p:nvPr/>
        </p:nvSpPr>
        <p:spPr>
          <a:xfrm>
            <a:off x="609600" y="1257300"/>
            <a:ext cx="11301984" cy="32258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E5BD8"/>
                </a:solidFill>
                <a:latin typeface="Be Vietnam Pro" pitchFamily="34" charset="0"/>
                <a:ea typeface="Be Vietnam Pro" pitchFamily="34" charset="-122"/>
                <a:cs typeface="Be Vietnam Pro" pitchFamily="34" charset="-120"/>
              </a:rPr>
              <a:t>Học sinh luyện tập – AI hỗ trợ cô – Cô là người quyết định</a:t>
            </a:r>
            <a:endParaRPr lang="en-US" sz="1800" dirty="0"/>
          </a:p>
        </p:txBody>
      </p:sp>
      <p:sp>
        <p:nvSpPr>
          <p:cNvPr id="5" name="Shape 2"/>
          <p:cNvSpPr/>
          <p:nvPr/>
        </p:nvSpPr>
        <p:spPr>
          <a:xfrm>
            <a:off x="609600" y="1783080"/>
            <a:ext cx="3539014" cy="1645920"/>
          </a:xfrm>
          <a:prstGeom prst="roundRect">
            <a:avLst>
              <a:gd name="adj" fmla="val 6173"/>
            </a:avLst>
          </a:prstGeom>
          <a:solidFill>
            <a:srgbClr val="EEF3FC"/>
          </a:solidFill>
          <a:ln/>
        </p:spPr>
      </p:sp>
      <p:sp>
        <p:nvSpPr>
          <p:cNvPr id="6" name="Shape 3"/>
          <p:cNvSpPr/>
          <p:nvPr/>
        </p:nvSpPr>
        <p:spPr>
          <a:xfrm>
            <a:off x="609600" y="1783080"/>
            <a:ext cx="3539014" cy="1645920"/>
          </a:xfrm>
          <a:custGeom>
            <a:avLst/>
            <a:gdLst/>
            <a:ahLst/>
            <a:cxnLst/>
            <a:rect l="l" t="t" r="r" b="b"/>
            <a:pathLst>
              <a:path w="3539014" h="1645920">
                <a:moveTo>
                  <a:pt x="0" y="101600"/>
                </a:moveTo>
                <a:lnTo>
                  <a:pt x="0" y="101600"/>
                </a:lnTo>
                <a:arcTo wR="101600" hR="101600" stAng="10800000" swAng="5400000"/>
                <a:lnTo>
                  <a:pt x="3437414" y="0"/>
                </a:lnTo>
                <a:arcTo wR="101600" hR="101600" stAng="16200000" swAng="5400000"/>
                <a:lnTo>
                  <a:pt x="3539014" y="101600"/>
                </a:lnTo>
                <a:arcTo wR="101600" hR="50800" stAng="0" swAng="-5400000"/>
                <a:lnTo>
                  <a:pt x="101600" y="50800"/>
                </a:lnTo>
                <a:arcTo wR="101600" hR="50800" stAng="16200000" swAng="-5400000"/>
                <a:close/>
              </a:path>
            </a:pathLst>
          </a:custGeom>
          <a:solidFill>
            <a:srgbClr val="1E5BD8"/>
          </a:solidFill>
          <a:ln/>
        </p:spPr>
      </p:sp>
      <p:sp>
        <p:nvSpPr>
          <p:cNvPr id="7" name="Text 4"/>
          <p:cNvSpPr/>
          <p:nvPr/>
        </p:nvSpPr>
        <p:spPr>
          <a:xfrm>
            <a:off x="812800" y="2037080"/>
            <a:ext cx="32265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Cho học sinh</a:t>
            </a:r>
            <a:endParaRPr lang="en-US" sz="1500" dirty="0"/>
          </a:p>
        </p:txBody>
      </p:sp>
      <p:sp>
        <p:nvSpPr>
          <p:cNvPr id="8" name="Text 5"/>
          <p:cNvSpPr/>
          <p:nvPr/>
        </p:nvSpPr>
        <p:spPr>
          <a:xfrm>
            <a:off x="812800" y="2341880"/>
            <a:ext cx="3226592" cy="909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B1F3B"/>
                </a:solidFill>
                <a:latin typeface="Be Vietnam Pro" pitchFamily="34" charset="0"/>
                <a:ea typeface="Be Vietnam Pro" pitchFamily="34" charset="-122"/>
                <a:cs typeface="Be Vietnam Pro" pitchFamily="34" charset="-120"/>
              </a:rPr>
              <a:t>Ôn luyện theo đúng 35 tuần của sách Tiếng Việt 4, ba mức độ, chấm và giải thích ngay. Không cần tài khoản, không trò chuyện với AI.</a:t>
            </a:r>
            <a:endParaRPr lang="en-US" sz="1200" dirty="0"/>
          </a:p>
        </p:txBody>
      </p:sp>
      <p:sp>
        <p:nvSpPr>
          <p:cNvPr id="9" name="Shape 6"/>
          <p:cNvSpPr/>
          <p:nvPr/>
        </p:nvSpPr>
        <p:spPr>
          <a:xfrm>
            <a:off x="4326414" y="1783080"/>
            <a:ext cx="3539093" cy="1645920"/>
          </a:xfrm>
          <a:prstGeom prst="roundRect">
            <a:avLst>
              <a:gd name="adj" fmla="val 6173"/>
            </a:avLst>
          </a:prstGeom>
          <a:solidFill>
            <a:srgbClr val="EEF3FC"/>
          </a:solidFill>
          <a:ln/>
        </p:spPr>
      </p:sp>
      <p:sp>
        <p:nvSpPr>
          <p:cNvPr id="10" name="Shape 7"/>
          <p:cNvSpPr/>
          <p:nvPr/>
        </p:nvSpPr>
        <p:spPr>
          <a:xfrm>
            <a:off x="4326414" y="1783080"/>
            <a:ext cx="3539093" cy="1645920"/>
          </a:xfrm>
          <a:custGeom>
            <a:avLst/>
            <a:gdLst/>
            <a:ahLst/>
            <a:cxnLst/>
            <a:rect l="l" t="t" r="r" b="b"/>
            <a:pathLst>
              <a:path w="3539093" h="1645920">
                <a:moveTo>
                  <a:pt x="0" y="101600"/>
                </a:moveTo>
                <a:lnTo>
                  <a:pt x="0" y="101600"/>
                </a:lnTo>
                <a:arcTo wR="101600" hR="101600" stAng="10800000" swAng="5400000"/>
                <a:lnTo>
                  <a:pt x="3437493" y="0"/>
                </a:lnTo>
                <a:arcTo wR="101600" hR="101600" stAng="16200000" swAng="5400000"/>
                <a:lnTo>
                  <a:pt x="3539093" y="101600"/>
                </a:lnTo>
                <a:arcTo wR="101600" hR="50800" stAng="0" swAng="-5400000"/>
                <a:lnTo>
                  <a:pt x="101600" y="50800"/>
                </a:lnTo>
                <a:arcTo wR="101600" hR="50800" stAng="16200000" swAng="-5400000"/>
                <a:close/>
              </a:path>
            </a:pathLst>
          </a:custGeom>
          <a:solidFill>
            <a:srgbClr val="E61E2A"/>
          </a:solidFill>
          <a:ln/>
        </p:spPr>
      </p:sp>
      <p:sp>
        <p:nvSpPr>
          <p:cNvPr id="11" name="Text 8"/>
          <p:cNvSpPr/>
          <p:nvPr/>
        </p:nvSpPr>
        <p:spPr>
          <a:xfrm>
            <a:off x="4529614" y="2037080"/>
            <a:ext cx="32266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Cho giáo viên</a:t>
            </a:r>
            <a:endParaRPr lang="en-US" sz="1500" dirty="0"/>
          </a:p>
        </p:txBody>
      </p:sp>
      <p:sp>
        <p:nvSpPr>
          <p:cNvPr id="12" name="Text 9"/>
          <p:cNvSpPr/>
          <p:nvPr/>
        </p:nvSpPr>
        <p:spPr>
          <a:xfrm>
            <a:off x="4529614" y="2341880"/>
            <a:ext cx="3226674"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B1F3B"/>
                </a:solidFill>
                <a:latin typeface="Be Vietnam Pro" pitchFamily="34" charset="0"/>
                <a:ea typeface="Be Vietnam Pro" pitchFamily="34" charset="-122"/>
                <a:cs typeface="Be Vietnam Pro" pitchFamily="34" charset="-120"/>
              </a:rPr>
              <a:t>Góc giáo viên có trợ lý AI: soạn thêm câu hỏi, nháp nhận xét câu học sinh viết, gợi ý chia nhóm cho tiết sau.</a:t>
            </a:r>
            <a:endParaRPr lang="en-US" sz="1200" dirty="0"/>
          </a:p>
        </p:txBody>
      </p:sp>
      <p:sp>
        <p:nvSpPr>
          <p:cNvPr id="13" name="Shape 10"/>
          <p:cNvSpPr/>
          <p:nvPr/>
        </p:nvSpPr>
        <p:spPr>
          <a:xfrm>
            <a:off x="8043307" y="1783080"/>
            <a:ext cx="3539093" cy="1645920"/>
          </a:xfrm>
          <a:prstGeom prst="roundRect">
            <a:avLst>
              <a:gd name="adj" fmla="val 6173"/>
            </a:avLst>
          </a:prstGeom>
          <a:solidFill>
            <a:srgbClr val="EEF3FC"/>
          </a:solidFill>
          <a:ln/>
        </p:spPr>
      </p:sp>
      <p:sp>
        <p:nvSpPr>
          <p:cNvPr id="14" name="Shape 11"/>
          <p:cNvSpPr/>
          <p:nvPr/>
        </p:nvSpPr>
        <p:spPr>
          <a:xfrm>
            <a:off x="8043307" y="1783080"/>
            <a:ext cx="3539093" cy="1645920"/>
          </a:xfrm>
          <a:custGeom>
            <a:avLst/>
            <a:gdLst/>
            <a:ahLst/>
            <a:cxnLst/>
            <a:rect l="l" t="t" r="r" b="b"/>
            <a:pathLst>
              <a:path w="3539093" h="1645920">
                <a:moveTo>
                  <a:pt x="0" y="101600"/>
                </a:moveTo>
                <a:lnTo>
                  <a:pt x="0" y="101600"/>
                </a:lnTo>
                <a:arcTo wR="101600" hR="101600" stAng="10800000" swAng="5400000"/>
                <a:lnTo>
                  <a:pt x="3437493" y="0"/>
                </a:lnTo>
                <a:arcTo wR="101600" hR="101600" stAng="16200000" swAng="5400000"/>
                <a:lnTo>
                  <a:pt x="3539093" y="101600"/>
                </a:lnTo>
                <a:arcTo wR="101600" hR="50800" stAng="0" swAng="-5400000"/>
                <a:lnTo>
                  <a:pt x="101600" y="50800"/>
                </a:lnTo>
                <a:arcTo wR="101600" hR="50800" stAng="16200000" swAng="-5400000"/>
                <a:close/>
              </a:path>
            </a:pathLst>
          </a:custGeom>
          <a:solidFill>
            <a:srgbClr val="000054"/>
          </a:solidFill>
          <a:ln/>
        </p:spPr>
      </p:sp>
      <p:sp>
        <p:nvSpPr>
          <p:cNvPr id="15" name="Text 12"/>
          <p:cNvSpPr/>
          <p:nvPr/>
        </p:nvSpPr>
        <p:spPr>
          <a:xfrm>
            <a:off x="8246507" y="2037080"/>
            <a:ext cx="322667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Công cụ AI</a:t>
            </a:r>
            <a:endParaRPr lang="en-US" sz="1500" dirty="0"/>
          </a:p>
        </p:txBody>
      </p:sp>
      <p:sp>
        <p:nvSpPr>
          <p:cNvPr id="16" name="Text 13"/>
          <p:cNvSpPr/>
          <p:nvPr/>
        </p:nvSpPr>
        <p:spPr>
          <a:xfrm>
            <a:off x="8246507" y="2341880"/>
            <a:ext cx="3226674" cy="909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B1F3B"/>
                </a:solidFill>
                <a:latin typeface="Be Vietnam Pro" pitchFamily="34" charset="0"/>
                <a:ea typeface="Be Vietnam Pro" pitchFamily="34" charset="-122"/>
                <a:cs typeface="Be Vietnam Pro" pitchFamily="34" charset="-120"/>
              </a:rPr>
              <a:t>Claude (Anthropic): cùng cô thiết kế, lập trình ứng dụng và làm trợ lý trong Góc giáo viên. Ứng dụng web một tệp, chạy trên trình duyệt.</a:t>
            </a:r>
            <a:endParaRPr lang="en-US" sz="1200" dirty="0"/>
          </a:p>
        </p:txBody>
      </p:sp>
      <p:sp>
        <p:nvSpPr>
          <p:cNvPr id="17" name="Shape 14"/>
          <p:cNvSpPr/>
          <p:nvPr/>
        </p:nvSpPr>
        <p:spPr>
          <a:xfrm>
            <a:off x="609600" y="3657600"/>
            <a:ext cx="10972800" cy="797560"/>
          </a:xfrm>
          <a:prstGeom prst="roundRect">
            <a:avLst>
              <a:gd name="adj" fmla="val 12739"/>
            </a:avLst>
          </a:prstGeom>
          <a:solidFill>
            <a:srgbClr val="000054"/>
          </a:solidFill>
          <a:ln/>
        </p:spPr>
      </p:sp>
      <p:sp>
        <p:nvSpPr>
          <p:cNvPr id="18" name="Text 15"/>
          <p:cNvSpPr/>
          <p:nvPr/>
        </p:nvSpPr>
        <p:spPr>
          <a:xfrm>
            <a:off x="838200" y="3931920"/>
            <a:ext cx="1511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EA00"/>
                </a:solidFill>
                <a:latin typeface="Be Vietnam Pro" pitchFamily="34" charset="0"/>
                <a:ea typeface="Be Vietnam Pro" pitchFamily="34" charset="-122"/>
                <a:cs typeface="Be Vietnam Pro" pitchFamily="34" charset="-120"/>
              </a:rPr>
              <a:t>Vì sao chọn AI?</a:t>
            </a:r>
            <a:endParaRPr lang="en-US" sz="1400" dirty="0"/>
          </a:p>
        </p:txBody>
      </p:sp>
      <p:sp>
        <p:nvSpPr>
          <p:cNvPr id="19" name="Text 16"/>
          <p:cNvSpPr/>
          <p:nvPr/>
        </p:nvSpPr>
        <p:spPr>
          <a:xfrm>
            <a:off x="2451100" y="3835400"/>
            <a:ext cx="9169781"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FFFFF"/>
                </a:solidFill>
                <a:latin typeface="Be Vietnam Pro" pitchFamily="34" charset="0"/>
                <a:ea typeface="Be Vietnam Pro" pitchFamily="34" charset="-122"/>
                <a:cs typeface="Be Vietnam Pro" pitchFamily="34" charset="-120"/>
              </a:rPr>
              <a:t>AI làm nhanh những việc trước đây cô làm thủ công: soạn bài tập phân hoá, viết nhận xét riêng cho từng em, đọc số liệu lỗi của cả lớp. Cô dành thời gian cho việc kèm học sinh.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 GÓC HỌC SINH</a:t>
            </a:r>
            <a:endParaRPr lang="en-US" sz="3000" dirty="0"/>
          </a:p>
        </p:txBody>
      </p:sp>
      <p:pic>
        <p:nvPicPr>
          <p:cNvPr id="4" name="Image 1" descr="Màn hình Hành trình học tập theo tuần"/>
          <p:cNvPicPr>
            <a:picLocks noChangeAspect="1"/>
          </p:cNvPicPr>
          <p:nvPr/>
        </p:nvPicPr>
        <p:blipFill>
          <a:blip r:embed="rId4"/>
          <a:srcRect t="135" b="135"/>
          <a:stretch/>
        </p:blipFill>
        <p:spPr>
          <a:xfrm>
            <a:off x="622300" y="1270000"/>
            <a:ext cx="5664200" cy="3530600"/>
          </a:xfrm>
          <a:prstGeom prst="roundRect">
            <a:avLst>
              <a:gd name="adj" fmla="val 2518"/>
            </a:avLst>
          </a:prstGeom>
        </p:spPr>
      </p:pic>
      <p:sp>
        <p:nvSpPr>
          <p:cNvPr id="5" name="Shape 1"/>
          <p:cNvSpPr/>
          <p:nvPr/>
        </p:nvSpPr>
        <p:spPr>
          <a:xfrm>
            <a:off x="615950" y="1263650"/>
            <a:ext cx="5676900" cy="3543300"/>
          </a:xfrm>
          <a:prstGeom prst="roundRect">
            <a:avLst>
              <a:gd name="adj" fmla="val 2688"/>
            </a:avLst>
          </a:prstGeom>
          <a:noFill/>
          <a:ln w="12700">
            <a:solidFill>
              <a:srgbClr val="D5DEF0"/>
            </a:solidFill>
            <a:prstDash val="solid"/>
          </a:ln>
        </p:spPr>
      </p:sp>
      <p:sp>
        <p:nvSpPr>
          <p:cNvPr id="6" name="Text 2"/>
          <p:cNvSpPr/>
          <p:nvPr/>
        </p:nvSpPr>
        <p:spPr>
          <a:xfrm>
            <a:off x="609600" y="4889500"/>
            <a:ext cx="5860288"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A5072"/>
                </a:solidFill>
                <a:latin typeface="Be Vietnam Pro" pitchFamily="34" charset="0"/>
                <a:ea typeface="Be Vietnam Pro" pitchFamily="34" charset="-122"/>
                <a:cs typeface="Be Vietnam Pro" pitchFamily="34" charset="-120"/>
              </a:rPr>
              <a:t>Hành trình học tập: mỗi tuần một trạm, theo chủ điểm của sách</a:t>
            </a:r>
            <a:endParaRPr lang="en-US" sz="1200" dirty="0"/>
          </a:p>
        </p:txBody>
      </p:sp>
      <p:sp>
        <p:nvSpPr>
          <p:cNvPr id="7" name="Shape 3"/>
          <p:cNvSpPr/>
          <p:nvPr/>
        </p:nvSpPr>
        <p:spPr>
          <a:xfrm>
            <a:off x="6604000" y="1257300"/>
            <a:ext cx="2425700" cy="1201420"/>
          </a:xfrm>
          <a:prstGeom prst="roundRect">
            <a:avLst>
              <a:gd name="adj" fmla="val 8457"/>
            </a:avLst>
          </a:prstGeom>
          <a:solidFill>
            <a:srgbClr val="EEF3FC"/>
          </a:solidFill>
          <a:ln/>
        </p:spPr>
      </p:sp>
      <p:sp>
        <p:nvSpPr>
          <p:cNvPr id="8" name="Text 4"/>
          <p:cNvSpPr/>
          <p:nvPr/>
        </p:nvSpPr>
        <p:spPr>
          <a:xfrm>
            <a:off x="6781800" y="1409700"/>
            <a:ext cx="2132203"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00054"/>
                </a:solidFill>
                <a:latin typeface="Be Vietnam Pro" pitchFamily="34" charset="0"/>
                <a:ea typeface="Be Vietnam Pro" pitchFamily="34" charset="-122"/>
                <a:cs typeface="Be Vietnam Pro" pitchFamily="34" charset="-120"/>
              </a:rPr>
              <a:t>35</a:t>
            </a:r>
            <a:endParaRPr lang="en-US" sz="3200" dirty="0"/>
          </a:p>
        </p:txBody>
      </p:sp>
      <p:sp>
        <p:nvSpPr>
          <p:cNvPr id="9" name="Text 5"/>
          <p:cNvSpPr/>
          <p:nvPr/>
        </p:nvSpPr>
        <p:spPr>
          <a:xfrm>
            <a:off x="6781800" y="1894839"/>
            <a:ext cx="2132203"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B1F3B"/>
                </a:solidFill>
                <a:latin typeface="Be Vietnam Pro" pitchFamily="34" charset="0"/>
                <a:ea typeface="Be Vietnam Pro" pitchFamily="34" charset="-122"/>
                <a:cs typeface="Be Vietnam Pro" pitchFamily="34" charset="-120"/>
              </a:rPr>
              <a:t>trạm học: 31 bài và 4 trạm ôn tập</a:t>
            </a:r>
            <a:endParaRPr lang="en-US" sz="1200" dirty="0"/>
          </a:p>
        </p:txBody>
      </p:sp>
      <p:sp>
        <p:nvSpPr>
          <p:cNvPr id="10" name="Shape 6"/>
          <p:cNvSpPr/>
          <p:nvPr/>
        </p:nvSpPr>
        <p:spPr>
          <a:xfrm>
            <a:off x="9156700" y="1257300"/>
            <a:ext cx="2425700" cy="1201420"/>
          </a:xfrm>
          <a:prstGeom prst="roundRect">
            <a:avLst>
              <a:gd name="adj" fmla="val 8457"/>
            </a:avLst>
          </a:prstGeom>
          <a:solidFill>
            <a:srgbClr val="EEF3FC"/>
          </a:solidFill>
          <a:ln/>
        </p:spPr>
      </p:sp>
      <p:sp>
        <p:nvSpPr>
          <p:cNvPr id="11" name="Text 7"/>
          <p:cNvSpPr/>
          <p:nvPr/>
        </p:nvSpPr>
        <p:spPr>
          <a:xfrm>
            <a:off x="9334500" y="1409700"/>
            <a:ext cx="2132203"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00054"/>
                </a:solidFill>
                <a:latin typeface="Be Vietnam Pro" pitchFamily="34" charset="0"/>
                <a:ea typeface="Be Vietnam Pro" pitchFamily="34" charset="-122"/>
                <a:cs typeface="Be Vietnam Pro" pitchFamily="34" charset="-120"/>
              </a:rPr>
              <a:t>372</a:t>
            </a:r>
            <a:endParaRPr lang="en-US" sz="3200" dirty="0"/>
          </a:p>
        </p:txBody>
      </p:sp>
      <p:sp>
        <p:nvSpPr>
          <p:cNvPr id="12" name="Text 8"/>
          <p:cNvSpPr/>
          <p:nvPr/>
        </p:nvSpPr>
        <p:spPr>
          <a:xfrm>
            <a:off x="9334500" y="1894839"/>
            <a:ext cx="2132203"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B1F3B"/>
                </a:solidFill>
                <a:latin typeface="Be Vietnam Pro" pitchFamily="34" charset="0"/>
                <a:ea typeface="Be Vietnam Pro" pitchFamily="34" charset="-122"/>
                <a:cs typeface="Be Vietnam Pro" pitchFamily="34" charset="-120"/>
              </a:rPr>
              <a:t>câu hỏi bám sát SGK Kết nối tri thức</a:t>
            </a:r>
            <a:endParaRPr lang="en-US" sz="1200" dirty="0"/>
          </a:p>
        </p:txBody>
      </p:sp>
      <p:sp>
        <p:nvSpPr>
          <p:cNvPr id="13" name="Shape 9"/>
          <p:cNvSpPr/>
          <p:nvPr/>
        </p:nvSpPr>
        <p:spPr>
          <a:xfrm>
            <a:off x="6604000" y="2585721"/>
            <a:ext cx="2425700" cy="1201420"/>
          </a:xfrm>
          <a:prstGeom prst="roundRect">
            <a:avLst>
              <a:gd name="adj" fmla="val 8457"/>
            </a:avLst>
          </a:prstGeom>
          <a:solidFill>
            <a:srgbClr val="EEF3FC"/>
          </a:solidFill>
          <a:ln/>
        </p:spPr>
      </p:sp>
      <p:sp>
        <p:nvSpPr>
          <p:cNvPr id="14" name="Text 10"/>
          <p:cNvSpPr/>
          <p:nvPr/>
        </p:nvSpPr>
        <p:spPr>
          <a:xfrm>
            <a:off x="6781800" y="2738121"/>
            <a:ext cx="2132203"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5BD8"/>
                </a:solidFill>
                <a:latin typeface="Be Vietnam Pro" pitchFamily="34" charset="0"/>
                <a:ea typeface="Be Vietnam Pro" pitchFamily="34" charset="-122"/>
                <a:cs typeface="Be Vietnam Pro" pitchFamily="34" charset="-120"/>
              </a:rPr>
              <a:t>3</a:t>
            </a:r>
            <a:endParaRPr lang="en-US" sz="3200" dirty="0"/>
          </a:p>
        </p:txBody>
      </p:sp>
      <p:sp>
        <p:nvSpPr>
          <p:cNvPr id="15" name="Text 11"/>
          <p:cNvSpPr/>
          <p:nvPr/>
        </p:nvSpPr>
        <p:spPr>
          <a:xfrm>
            <a:off x="6781800" y="3223261"/>
            <a:ext cx="2132203"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B1F3B"/>
                </a:solidFill>
                <a:latin typeface="Be Vietnam Pro" pitchFamily="34" charset="0"/>
                <a:ea typeface="Be Vietnam Pro" pitchFamily="34" charset="-122"/>
                <a:cs typeface="Be Vietnam Pro" pitchFamily="34" charset="-120"/>
              </a:rPr>
              <a:t>mức: Khởi động – Tăng tốc – Chinh phục</a:t>
            </a:r>
            <a:endParaRPr lang="en-US" sz="1200" dirty="0"/>
          </a:p>
        </p:txBody>
      </p:sp>
      <p:sp>
        <p:nvSpPr>
          <p:cNvPr id="16" name="Shape 12"/>
          <p:cNvSpPr/>
          <p:nvPr/>
        </p:nvSpPr>
        <p:spPr>
          <a:xfrm>
            <a:off x="9156700" y="2585721"/>
            <a:ext cx="2425700" cy="1201420"/>
          </a:xfrm>
          <a:prstGeom prst="roundRect">
            <a:avLst>
              <a:gd name="adj" fmla="val 8457"/>
            </a:avLst>
          </a:prstGeom>
          <a:solidFill>
            <a:srgbClr val="EEF3FC"/>
          </a:solidFill>
          <a:ln/>
        </p:spPr>
      </p:sp>
      <p:sp>
        <p:nvSpPr>
          <p:cNvPr id="17" name="Text 13"/>
          <p:cNvSpPr/>
          <p:nvPr/>
        </p:nvSpPr>
        <p:spPr>
          <a:xfrm>
            <a:off x="9334500" y="2738121"/>
            <a:ext cx="2132203"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E5BD8"/>
                </a:solidFill>
                <a:latin typeface="Be Vietnam Pro" pitchFamily="34" charset="0"/>
                <a:ea typeface="Be Vietnam Pro" pitchFamily="34" charset="-122"/>
                <a:cs typeface="Be Vietnam Pro" pitchFamily="34" charset="-120"/>
              </a:rPr>
              <a:t>7</a:t>
            </a:r>
            <a:endParaRPr lang="en-US" sz="3200" dirty="0"/>
          </a:p>
        </p:txBody>
      </p:sp>
      <p:sp>
        <p:nvSpPr>
          <p:cNvPr id="18" name="Text 14"/>
          <p:cNvSpPr/>
          <p:nvPr/>
        </p:nvSpPr>
        <p:spPr>
          <a:xfrm>
            <a:off x="9334500" y="3223261"/>
            <a:ext cx="213220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B1F3B"/>
                </a:solidFill>
                <a:latin typeface="Be Vietnam Pro" pitchFamily="34" charset="0"/>
                <a:ea typeface="Be Vietnam Pro" pitchFamily="34" charset="-122"/>
                <a:cs typeface="Be Vietnam Pro" pitchFamily="34" charset="-120"/>
              </a:rPr>
              <a:t>dạng bài tương tác</a:t>
            </a:r>
            <a:endParaRPr lang="en-US" sz="1200" dirty="0"/>
          </a:p>
        </p:txBody>
      </p:sp>
      <p:sp>
        <p:nvSpPr>
          <p:cNvPr id="19" name="Text 15"/>
          <p:cNvSpPr/>
          <p:nvPr/>
        </p:nvSpPr>
        <p:spPr>
          <a:xfrm>
            <a:off x="6930312" y="4050029"/>
            <a:ext cx="4981272" cy="1130300"/>
          </a:xfrm>
          <a:prstGeom prst="rect">
            <a:avLst/>
          </a:prstGeom>
          <a:noFill/>
          <a:ln/>
        </p:spPr>
        <p:txBody>
          <a:bodyPr wrap="square" lIns="0" tIns="0" rIns="0" bIns="0" rtlCol="0" anchor="t">
            <a:noAutofit/>
          </a:bodyPr>
          <a:lstStyle/>
          <a:p>
            <a:pPr marL="0" indent="0" algn="l">
              <a:lnSpc>
                <a:spcPct val="150000"/>
              </a:lnSpc>
              <a:buNone/>
            </a:pPr>
            <a:r>
              <a:rPr lang="en-US" b="1" dirty="0">
                <a:solidFill>
                  <a:srgbClr val="3A4170"/>
                </a:solidFill>
                <a:latin typeface="Be Vietnam Pro" pitchFamily="34" charset="0"/>
                <a:ea typeface="Be Vietnam Pro" pitchFamily="34" charset="-122"/>
                <a:cs typeface="Be Vietnam Pro" pitchFamily="34" charset="-120"/>
              </a:rPr>
              <a:t>Trắc nghiệm · Chạm chọn từ · Xếp nhóm · Nối cột · Điền từ · Đúng/Sai · Tự đặt câu. Mức sau mở khoá khi em đạt 2 sao ở mức trước.</a:t>
            </a:r>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PHẢN HỒI </a:t>
            </a:r>
            <a:r>
              <a:rPr lang="en-US" b="1" dirty="0"/>
              <a:t>VÀ</a:t>
            </a:r>
            <a:r>
              <a:rPr lang="en-US" sz="3000" b="1" i="0" dirty="0">
                <a:solidFill>
                  <a:srgbClr val="000054"/>
                </a:solidFill>
                <a:latin typeface="Be Vietnam Pro" pitchFamily="34" charset="0"/>
                <a:ea typeface="Be Vietnam Pro" pitchFamily="34" charset="-122"/>
                <a:cs typeface="Be Vietnam Pro" pitchFamily="34" charset="-120"/>
              </a:rPr>
              <a:t> THÁM TỬ AI</a:t>
            </a:r>
            <a:endParaRPr lang="en-US" sz="3000" dirty="0"/>
          </a:p>
        </p:txBody>
      </p:sp>
      <p:pic>
        <p:nvPicPr>
          <p:cNvPr id="4" name="Image 1" descr="Màn hình một câu hỏi: học sinh chọn sai, nhận gợi ý từ rô-bốt Bíp"/>
          <p:cNvPicPr>
            <a:picLocks noChangeAspect="1"/>
          </p:cNvPicPr>
          <p:nvPr/>
        </p:nvPicPr>
        <p:blipFill>
          <a:blip r:embed="rId4"/>
          <a:srcRect t="82" b="82"/>
          <a:stretch/>
        </p:blipFill>
        <p:spPr>
          <a:xfrm>
            <a:off x="309934" y="1270000"/>
            <a:ext cx="5493966" cy="3797300"/>
          </a:xfrm>
          <a:prstGeom prst="roundRect">
            <a:avLst>
              <a:gd name="adj" fmla="val 2482"/>
            </a:avLst>
          </a:prstGeom>
        </p:spPr>
      </p:pic>
      <p:sp>
        <p:nvSpPr>
          <p:cNvPr id="5" name="Shape 1"/>
          <p:cNvSpPr/>
          <p:nvPr/>
        </p:nvSpPr>
        <p:spPr>
          <a:xfrm>
            <a:off x="615950" y="1263650"/>
            <a:ext cx="5194300" cy="3594100"/>
          </a:xfrm>
          <a:prstGeom prst="roundRect">
            <a:avLst>
              <a:gd name="adj" fmla="val 2650"/>
            </a:avLst>
          </a:prstGeom>
          <a:noFill/>
          <a:ln w="12700">
            <a:solidFill>
              <a:srgbClr val="D5DEF0"/>
            </a:solidFill>
            <a:prstDash val="solid"/>
          </a:ln>
        </p:spPr>
      </p:sp>
      <p:sp>
        <p:nvSpPr>
          <p:cNvPr id="6" name="Text 2"/>
          <p:cNvSpPr/>
          <p:nvPr/>
        </p:nvSpPr>
        <p:spPr>
          <a:xfrm>
            <a:off x="6172200" y="1257300"/>
            <a:ext cx="557250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5BD8"/>
                </a:solidFill>
                <a:latin typeface="Be Vietnam Pro" pitchFamily="34" charset="0"/>
                <a:ea typeface="Be Vietnam Pro" pitchFamily="34" charset="-122"/>
                <a:cs typeface="Be Vietnam Pro" pitchFamily="34" charset="-120"/>
              </a:rPr>
              <a:t>Sai đâu biết đó</a:t>
            </a:r>
            <a:endParaRPr lang="en-US" sz="1600" dirty="0"/>
          </a:p>
        </p:txBody>
      </p:sp>
      <p:sp>
        <p:nvSpPr>
          <p:cNvPr id="7" name="Text 3"/>
          <p:cNvSpPr/>
          <p:nvPr/>
        </p:nvSpPr>
        <p:spPr>
          <a:xfrm>
            <a:off x="6172200" y="1551939"/>
            <a:ext cx="5572506"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B1F3B"/>
                </a:solidFill>
                <a:latin typeface="Be Vietnam Pro" pitchFamily="34" charset="0"/>
                <a:ea typeface="Be Vietnam Pro" pitchFamily="34" charset="-122"/>
                <a:cs typeface="Be Vietnam Pro" pitchFamily="34" charset="-120"/>
              </a:rPr>
              <a:t>Mỗi câu có Gợi ý trước khi làm và lời Giải thích sau khi làm. Em được thử lại, không bị phạt.</a:t>
            </a:r>
            <a:endParaRPr lang="en-US" sz="1300" dirty="0"/>
          </a:p>
        </p:txBody>
      </p:sp>
      <p:sp>
        <p:nvSpPr>
          <p:cNvPr id="8" name="Shape 4"/>
          <p:cNvSpPr/>
          <p:nvPr/>
        </p:nvSpPr>
        <p:spPr>
          <a:xfrm>
            <a:off x="6172200" y="2183132"/>
            <a:ext cx="5410200" cy="1451610"/>
          </a:xfrm>
          <a:prstGeom prst="roundRect">
            <a:avLst>
              <a:gd name="adj" fmla="val 6999"/>
            </a:avLst>
          </a:prstGeom>
          <a:solidFill>
            <a:srgbClr val="000054"/>
          </a:solidFill>
          <a:ln/>
        </p:spPr>
      </p:sp>
      <p:sp>
        <p:nvSpPr>
          <p:cNvPr id="9" name="Text 5"/>
          <p:cNvSpPr/>
          <p:nvPr/>
        </p:nvSpPr>
        <p:spPr>
          <a:xfrm>
            <a:off x="6375400" y="2360932"/>
            <a:ext cx="515391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EA00"/>
                </a:solidFill>
                <a:latin typeface="Be Vietnam Pro" pitchFamily="34" charset="0"/>
                <a:ea typeface="Be Vietnam Pro" pitchFamily="34" charset="-122"/>
                <a:cs typeface="Be Vietnam Pro" pitchFamily="34" charset="-120"/>
              </a:rPr>
              <a:t>Thám tử AI · 32 câu</a:t>
            </a:r>
            <a:endParaRPr lang="en-US" sz="1600" dirty="0"/>
          </a:p>
        </p:txBody>
      </p:sp>
      <p:sp>
        <p:nvSpPr>
          <p:cNvPr id="10" name="Text 6"/>
          <p:cNvSpPr/>
          <p:nvPr/>
        </p:nvSpPr>
        <p:spPr>
          <a:xfrm>
            <a:off x="6375400" y="2680971"/>
            <a:ext cx="5153914"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FFFFF"/>
                </a:solidFill>
                <a:latin typeface="Be Vietnam Pro" pitchFamily="34" charset="0"/>
                <a:ea typeface="Be Vietnam Pro" pitchFamily="34" charset="-122"/>
                <a:cs typeface="Be Vietnam Pro" pitchFamily="34" charset="-120"/>
              </a:rPr>
              <a:t>Rô-bốt Bíp cố tình xếp nhầm một từ. Em tìm ra lỗi của “AI” và giải thích vì sao.</a:t>
            </a:r>
            <a:endParaRPr lang="en-US" sz="1300" dirty="0"/>
          </a:p>
        </p:txBody>
      </p:sp>
      <p:sp>
        <p:nvSpPr>
          <p:cNvPr id="11" name="Text 7"/>
          <p:cNvSpPr/>
          <p:nvPr/>
        </p:nvSpPr>
        <p:spPr>
          <a:xfrm>
            <a:off x="6375400" y="3235961"/>
            <a:ext cx="5153914" cy="246380"/>
          </a:xfrm>
          <a:prstGeom prst="rect">
            <a:avLst/>
          </a:prstGeom>
          <a:noFill/>
          <a:ln/>
        </p:spPr>
        <p:txBody>
          <a:bodyPr wrap="square" lIns="0" tIns="0" rIns="0" bIns="0" rtlCol="0" anchor="t">
            <a:normAutofit/>
          </a:bodyPr>
          <a:lstStyle/>
          <a:p>
            <a:pPr marL="0" indent="0" algn="l">
              <a:lnSpc>
                <a:spcPts val="1740"/>
              </a:lnSpc>
              <a:buNone/>
            </a:pPr>
            <a:r>
              <a:rPr lang="en-US" sz="1200" i="1" dirty="0">
                <a:solidFill>
                  <a:srgbClr val="C9D4FF"/>
                </a:solidFill>
                <a:latin typeface="Be Vietnam Pro" pitchFamily="34" charset="0"/>
                <a:ea typeface="Be Vietnam Pro" pitchFamily="34" charset="-122"/>
                <a:cs typeface="Be Vietnam Pro" pitchFamily="34" charset="-120"/>
              </a:rPr>
              <a:t>“Bíp đã nhầm rồi! AI cũng có lúc sai, em nhớ kiểm tra lại nhé.”</a:t>
            </a:r>
            <a:endParaRPr lang="en-US" sz="1200" dirty="0"/>
          </a:p>
        </p:txBody>
      </p:sp>
      <p:sp>
        <p:nvSpPr>
          <p:cNvPr id="12" name="Text 8"/>
          <p:cNvSpPr/>
          <p:nvPr/>
        </p:nvSpPr>
        <p:spPr>
          <a:xfrm>
            <a:off x="6172200" y="3787139"/>
            <a:ext cx="557250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5BD8"/>
                </a:solidFill>
                <a:latin typeface="Be Vietnam Pro" pitchFamily="34" charset="0"/>
                <a:ea typeface="Be Vietnam Pro" pitchFamily="34" charset="-122"/>
                <a:cs typeface="Be Vietnam Pro" pitchFamily="34" charset="-120"/>
              </a:rPr>
              <a:t>Gửi kết quả cho cô</a:t>
            </a:r>
            <a:endParaRPr lang="en-US" sz="1600" dirty="0"/>
          </a:p>
        </p:txBody>
      </p:sp>
      <p:sp>
        <p:nvSpPr>
          <p:cNvPr id="13" name="Text 9"/>
          <p:cNvSpPr/>
          <p:nvPr/>
        </p:nvSpPr>
        <p:spPr>
          <a:xfrm>
            <a:off x="6172200" y="4081782"/>
            <a:ext cx="5572506" cy="26479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B1F3B"/>
                </a:solidFill>
                <a:latin typeface="Be Vietnam Pro" pitchFamily="34" charset="0"/>
                <a:ea typeface="Be Vietnam Pro" pitchFamily="34" charset="-122"/>
                <a:cs typeface="Be Vietnam Pro" pitchFamily="34" charset="-120"/>
              </a:rPr>
              <a:t>Kết quả lưu trên máy; em bấm một nút để gửi mã kết quả cho cô.</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TRỢ LÝ AI CHO GIÁO VIÊN</a:t>
            </a:r>
            <a:endParaRPr lang="en-US" sz="3000" dirty="0"/>
          </a:p>
        </p:txBody>
      </p:sp>
      <p:pic>
        <p:nvPicPr>
          <p:cNvPr id="4" name="Image 1" descr="Tab Trợ lý AI trong Góc giáo viên"/>
          <p:cNvPicPr>
            <a:picLocks noChangeAspect="1"/>
          </p:cNvPicPr>
          <p:nvPr/>
        </p:nvPicPr>
        <p:blipFill>
          <a:blip r:embed="rId4"/>
          <a:srcRect t="47" b="47"/>
          <a:stretch/>
        </p:blipFill>
        <p:spPr>
          <a:xfrm>
            <a:off x="622300" y="1270000"/>
            <a:ext cx="4419600" cy="3797300"/>
          </a:xfrm>
          <a:prstGeom prst="roundRect">
            <a:avLst>
              <a:gd name="adj" fmla="val 2341"/>
            </a:avLst>
          </a:prstGeom>
        </p:spPr>
      </p:pic>
      <p:sp>
        <p:nvSpPr>
          <p:cNvPr id="5" name="Shape 1"/>
          <p:cNvSpPr/>
          <p:nvPr/>
        </p:nvSpPr>
        <p:spPr>
          <a:xfrm>
            <a:off x="615950" y="1263650"/>
            <a:ext cx="4432300" cy="3810000"/>
          </a:xfrm>
          <a:prstGeom prst="roundRect">
            <a:avLst>
              <a:gd name="adj" fmla="val 2500"/>
            </a:avLst>
          </a:prstGeom>
          <a:noFill/>
          <a:ln w="12700">
            <a:solidFill>
              <a:srgbClr val="D5DEF0"/>
            </a:solidFill>
            <a:prstDash val="solid"/>
          </a:ln>
        </p:spPr>
      </p:sp>
      <p:sp>
        <p:nvSpPr>
          <p:cNvPr id="6" name="Shape 2"/>
          <p:cNvSpPr/>
          <p:nvPr/>
        </p:nvSpPr>
        <p:spPr>
          <a:xfrm>
            <a:off x="5410200" y="1855470"/>
            <a:ext cx="6172200" cy="0"/>
          </a:xfrm>
          <a:prstGeom prst="line">
            <a:avLst/>
          </a:prstGeom>
          <a:noFill/>
          <a:ln w="12700">
            <a:solidFill>
              <a:srgbClr val="E3E8F4"/>
            </a:solidFill>
            <a:prstDash val="solid"/>
          </a:ln>
        </p:spPr>
      </p:sp>
      <p:sp>
        <p:nvSpPr>
          <p:cNvPr id="7" name="Text 3"/>
          <p:cNvSpPr/>
          <p:nvPr/>
        </p:nvSpPr>
        <p:spPr>
          <a:xfrm>
            <a:off x="5410200" y="1257300"/>
            <a:ext cx="4572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61E2A"/>
                </a:solidFill>
                <a:latin typeface="Be Vietnam Pro" pitchFamily="34" charset="0"/>
                <a:ea typeface="Be Vietnam Pro" pitchFamily="34" charset="-122"/>
                <a:cs typeface="Be Vietnam Pro" pitchFamily="34" charset="-120"/>
              </a:rPr>
              <a:t>01</a:t>
            </a:r>
            <a:endParaRPr lang="en-US" sz="2200" dirty="0"/>
          </a:p>
        </p:txBody>
      </p:sp>
      <p:sp>
        <p:nvSpPr>
          <p:cNvPr id="8" name="Text 4"/>
          <p:cNvSpPr/>
          <p:nvPr/>
        </p:nvSpPr>
        <p:spPr>
          <a:xfrm>
            <a:off x="5943600" y="1257300"/>
            <a:ext cx="58079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Soạn thêm câu hỏi</a:t>
            </a:r>
            <a:endParaRPr lang="en-US" sz="1500" dirty="0"/>
          </a:p>
        </p:txBody>
      </p:sp>
      <p:sp>
        <p:nvSpPr>
          <p:cNvPr id="9" name="Text 5"/>
          <p:cNvSpPr/>
          <p:nvPr/>
        </p:nvSpPr>
        <p:spPr>
          <a:xfrm>
            <a:off x="5943600" y="1524000"/>
            <a:ext cx="58079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3B"/>
                </a:solidFill>
                <a:latin typeface="Be Vietnam Pro" pitchFamily="34" charset="0"/>
                <a:ea typeface="Be Vietnam Pro" pitchFamily="34" charset="-122"/>
                <a:cs typeface="Be Vietnam Pro" pitchFamily="34" charset="-120"/>
              </a:rPr>
              <a:t>Chọn bài, mức, số câu và dạng bài; cô duyệt từng câu rồi mới giao cho lớp.</a:t>
            </a:r>
            <a:endParaRPr lang="en-US" sz="1200" dirty="0"/>
          </a:p>
        </p:txBody>
      </p:sp>
      <p:sp>
        <p:nvSpPr>
          <p:cNvPr id="10" name="Shape 6"/>
          <p:cNvSpPr/>
          <p:nvPr/>
        </p:nvSpPr>
        <p:spPr>
          <a:xfrm>
            <a:off x="5410200" y="2574291"/>
            <a:ext cx="6172200" cy="0"/>
          </a:xfrm>
          <a:prstGeom prst="line">
            <a:avLst/>
          </a:prstGeom>
          <a:noFill/>
          <a:ln w="12700">
            <a:solidFill>
              <a:srgbClr val="E3E8F4"/>
            </a:solidFill>
            <a:prstDash val="solid"/>
          </a:ln>
        </p:spPr>
      </p:sp>
      <p:sp>
        <p:nvSpPr>
          <p:cNvPr id="11" name="Text 7"/>
          <p:cNvSpPr/>
          <p:nvPr/>
        </p:nvSpPr>
        <p:spPr>
          <a:xfrm>
            <a:off x="5410200" y="1976121"/>
            <a:ext cx="4572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61E2A"/>
                </a:solidFill>
                <a:latin typeface="Be Vietnam Pro" pitchFamily="34" charset="0"/>
                <a:ea typeface="Be Vietnam Pro" pitchFamily="34" charset="-122"/>
                <a:cs typeface="Be Vietnam Pro" pitchFamily="34" charset="-120"/>
              </a:rPr>
              <a:t>02</a:t>
            </a:r>
            <a:endParaRPr lang="en-US" sz="2200" dirty="0"/>
          </a:p>
        </p:txBody>
      </p:sp>
      <p:sp>
        <p:nvSpPr>
          <p:cNvPr id="12" name="Text 8"/>
          <p:cNvSpPr/>
          <p:nvPr/>
        </p:nvSpPr>
        <p:spPr>
          <a:xfrm>
            <a:off x="5943600" y="1976121"/>
            <a:ext cx="58079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Nhận xét câu học sinh tự viết</a:t>
            </a:r>
            <a:endParaRPr lang="en-US" sz="1500" dirty="0"/>
          </a:p>
        </p:txBody>
      </p:sp>
      <p:sp>
        <p:nvSpPr>
          <p:cNvPr id="13" name="Text 9"/>
          <p:cNvSpPr/>
          <p:nvPr/>
        </p:nvSpPr>
        <p:spPr>
          <a:xfrm>
            <a:off x="5943600" y="2242821"/>
            <a:ext cx="58079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3B"/>
                </a:solidFill>
                <a:latin typeface="Be Vietnam Pro" pitchFamily="34" charset="0"/>
                <a:ea typeface="Be Vietnam Pro" pitchFamily="34" charset="-122"/>
                <a:cs typeface="Be Vietnam Pro" pitchFamily="34" charset="-120"/>
              </a:rPr>
              <a:t>Khen trước, góp ý một điểm; cô sửa rồi chép vào vở hoặc gửi phụ huynh.</a:t>
            </a:r>
            <a:endParaRPr lang="en-US" sz="1200" dirty="0"/>
          </a:p>
        </p:txBody>
      </p:sp>
      <p:sp>
        <p:nvSpPr>
          <p:cNvPr id="14" name="Shape 10"/>
          <p:cNvSpPr/>
          <p:nvPr/>
        </p:nvSpPr>
        <p:spPr>
          <a:xfrm>
            <a:off x="5410200" y="3293109"/>
            <a:ext cx="6172200" cy="0"/>
          </a:xfrm>
          <a:prstGeom prst="line">
            <a:avLst/>
          </a:prstGeom>
          <a:noFill/>
          <a:ln w="12700">
            <a:solidFill>
              <a:srgbClr val="E3E8F4"/>
            </a:solidFill>
            <a:prstDash val="solid"/>
          </a:ln>
        </p:spPr>
      </p:sp>
      <p:sp>
        <p:nvSpPr>
          <p:cNvPr id="15" name="Text 11"/>
          <p:cNvSpPr/>
          <p:nvPr/>
        </p:nvSpPr>
        <p:spPr>
          <a:xfrm>
            <a:off x="5410200" y="2694939"/>
            <a:ext cx="4572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61E2A"/>
                </a:solidFill>
                <a:latin typeface="Be Vietnam Pro" pitchFamily="34" charset="0"/>
                <a:ea typeface="Be Vietnam Pro" pitchFamily="34" charset="-122"/>
                <a:cs typeface="Be Vietnam Pro" pitchFamily="34" charset="-120"/>
              </a:rPr>
              <a:t>03</a:t>
            </a:r>
            <a:endParaRPr lang="en-US" sz="2200" dirty="0"/>
          </a:p>
        </p:txBody>
      </p:sp>
      <p:sp>
        <p:nvSpPr>
          <p:cNvPr id="16" name="Text 12"/>
          <p:cNvSpPr/>
          <p:nvPr/>
        </p:nvSpPr>
        <p:spPr>
          <a:xfrm>
            <a:off x="5943600" y="2694939"/>
            <a:ext cx="58079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Gợi ý tổ chức tiết tiếp theo</a:t>
            </a:r>
            <a:endParaRPr lang="en-US" sz="1500" dirty="0"/>
          </a:p>
        </p:txBody>
      </p:sp>
      <p:sp>
        <p:nvSpPr>
          <p:cNvPr id="17" name="Text 13"/>
          <p:cNvSpPr/>
          <p:nvPr/>
        </p:nvSpPr>
        <p:spPr>
          <a:xfrm>
            <a:off x="5943600" y="2961639"/>
            <a:ext cx="58079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3B"/>
                </a:solidFill>
                <a:latin typeface="Be Vietnam Pro" pitchFamily="34" charset="0"/>
                <a:ea typeface="Be Vietnam Pro" pitchFamily="34" charset="-122"/>
                <a:cs typeface="Be Vietnam Pro" pitchFamily="34" charset="-120"/>
              </a:rPr>
              <a:t>Đọc lỗi hay gặp, đề xuất hoạt động cho Trạm Cô, Trạm Máy, Trạm Bạn.</a:t>
            </a:r>
            <a:endParaRPr lang="en-US" sz="1200" dirty="0"/>
          </a:p>
        </p:txBody>
      </p:sp>
      <p:sp>
        <p:nvSpPr>
          <p:cNvPr id="18" name="Text 14"/>
          <p:cNvSpPr/>
          <p:nvPr/>
        </p:nvSpPr>
        <p:spPr>
          <a:xfrm>
            <a:off x="5410200" y="3413761"/>
            <a:ext cx="48768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61E2A"/>
                </a:solidFill>
                <a:latin typeface="Be Vietnam Pro" pitchFamily="34" charset="0"/>
                <a:ea typeface="Be Vietnam Pro" pitchFamily="34" charset="-122"/>
                <a:cs typeface="Be Vietnam Pro" pitchFamily="34" charset="-120"/>
              </a:rPr>
              <a:t>04</a:t>
            </a:r>
            <a:endParaRPr lang="en-US" sz="2200" dirty="0"/>
          </a:p>
        </p:txBody>
      </p:sp>
      <p:sp>
        <p:nvSpPr>
          <p:cNvPr id="19" name="Text 15"/>
          <p:cNvSpPr/>
          <p:nvPr/>
        </p:nvSpPr>
        <p:spPr>
          <a:xfrm>
            <a:off x="5943600" y="3413761"/>
            <a:ext cx="58079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Nháp nhận xét định kì</a:t>
            </a:r>
            <a:endParaRPr lang="en-US" sz="1500" dirty="0"/>
          </a:p>
        </p:txBody>
      </p:sp>
      <p:sp>
        <p:nvSpPr>
          <p:cNvPr id="20" name="Text 16"/>
          <p:cNvSpPr/>
          <p:nvPr/>
        </p:nvSpPr>
        <p:spPr>
          <a:xfrm>
            <a:off x="5943600" y="3680461"/>
            <a:ext cx="58079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3B"/>
                </a:solidFill>
                <a:latin typeface="Be Vietnam Pro" pitchFamily="34" charset="0"/>
                <a:ea typeface="Be Vietnam Pro" pitchFamily="34" charset="-122"/>
                <a:cs typeface="Be Vietnam Pro" pitchFamily="34" charset="-120"/>
              </a:rPr>
              <a:t>2–3 câu cho mỗi em: điều làm tốt, điều cần cố gắng, lời động viên.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00054"/>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FFFFF"/>
                </a:solidFill>
                <a:latin typeface="Be Vietnam Pro" pitchFamily="34" charset="0"/>
                <a:ea typeface="Be Vietnam Pro" pitchFamily="34" charset="-122"/>
                <a:cs typeface="Be Vietnam Pro" pitchFamily="34" charset="-120"/>
              </a:rPr>
              <a:t>ĐẠO ĐỨC KHI DÙNG AI</a:t>
            </a:r>
            <a:endParaRPr lang="en-US" sz="3000" dirty="0"/>
          </a:p>
        </p:txBody>
      </p:sp>
      <p:sp>
        <p:nvSpPr>
          <p:cNvPr id="4" name="Shape 1"/>
          <p:cNvSpPr/>
          <p:nvPr/>
        </p:nvSpPr>
        <p:spPr>
          <a:xfrm>
            <a:off x="609600" y="1308100"/>
            <a:ext cx="3556000" cy="1188720"/>
          </a:xfrm>
          <a:prstGeom prst="roundRect">
            <a:avLst>
              <a:gd name="adj" fmla="val 8547"/>
            </a:avLst>
          </a:prstGeom>
          <a:solidFill>
            <a:srgbClr val="12207A"/>
          </a:solidFill>
          <a:ln/>
        </p:spPr>
      </p:sp>
      <p:sp>
        <p:nvSpPr>
          <p:cNvPr id="5" name="Shape 2"/>
          <p:cNvSpPr/>
          <p:nvPr/>
        </p:nvSpPr>
        <p:spPr>
          <a:xfrm>
            <a:off x="609600" y="1308100"/>
            <a:ext cx="3556000" cy="1188720"/>
          </a:xfrm>
          <a:custGeom>
            <a:avLst/>
            <a:gdLst/>
            <a:ahLst/>
            <a:cxnLst/>
            <a:rect l="l" t="t" r="r" b="b"/>
            <a:pathLst>
              <a:path w="3556000" h="118872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6" name="Text 3"/>
          <p:cNvSpPr/>
          <p:nvPr/>
        </p:nvSpPr>
        <p:spPr>
          <a:xfrm>
            <a:off x="812800" y="1546861"/>
            <a:ext cx="32440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EA00"/>
                </a:solidFill>
                <a:latin typeface="Be Vietnam Pro" pitchFamily="34" charset="0"/>
                <a:ea typeface="Be Vietnam Pro" pitchFamily="34" charset="-122"/>
                <a:cs typeface="Be Vietnam Pro" pitchFamily="34" charset="-120"/>
              </a:rPr>
              <a:t>Học sinh không chat với AI</a:t>
            </a:r>
            <a:endParaRPr lang="en-US" sz="1500" dirty="0"/>
          </a:p>
        </p:txBody>
      </p:sp>
      <p:sp>
        <p:nvSpPr>
          <p:cNvPr id="7" name="Text 4"/>
          <p:cNvSpPr/>
          <p:nvPr/>
        </p:nvSpPr>
        <p:spPr>
          <a:xfrm>
            <a:off x="812800" y="1851661"/>
            <a:ext cx="324408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FFFFF"/>
                </a:solidFill>
                <a:latin typeface="Be Vietnam Pro" pitchFamily="34" charset="0"/>
                <a:ea typeface="Be Vietnam Pro" pitchFamily="34" charset="-122"/>
                <a:cs typeface="Be Vietnam Pro" pitchFamily="34" charset="-120"/>
              </a:rPr>
              <a:t>Em không đăng nhập, không cần tài khoản; mọi câu hỏi đã được cô duyệt sẵn.</a:t>
            </a:r>
            <a:endParaRPr lang="en-US" sz="1200" dirty="0"/>
          </a:p>
        </p:txBody>
      </p:sp>
      <p:sp>
        <p:nvSpPr>
          <p:cNvPr id="8" name="Shape 5"/>
          <p:cNvSpPr/>
          <p:nvPr/>
        </p:nvSpPr>
        <p:spPr>
          <a:xfrm>
            <a:off x="4318000" y="1308100"/>
            <a:ext cx="3556000" cy="1188720"/>
          </a:xfrm>
          <a:prstGeom prst="roundRect">
            <a:avLst>
              <a:gd name="adj" fmla="val 8547"/>
            </a:avLst>
          </a:prstGeom>
          <a:solidFill>
            <a:srgbClr val="12207A"/>
          </a:solidFill>
          <a:ln/>
        </p:spPr>
      </p:sp>
      <p:sp>
        <p:nvSpPr>
          <p:cNvPr id="9" name="Shape 6"/>
          <p:cNvSpPr/>
          <p:nvPr/>
        </p:nvSpPr>
        <p:spPr>
          <a:xfrm>
            <a:off x="4318000" y="1308100"/>
            <a:ext cx="3556000" cy="1188720"/>
          </a:xfrm>
          <a:custGeom>
            <a:avLst/>
            <a:gdLst/>
            <a:ahLst/>
            <a:cxnLst/>
            <a:rect l="l" t="t" r="r" b="b"/>
            <a:pathLst>
              <a:path w="3556000" h="118872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10" name="Text 7"/>
          <p:cNvSpPr/>
          <p:nvPr/>
        </p:nvSpPr>
        <p:spPr>
          <a:xfrm>
            <a:off x="4521200" y="1546861"/>
            <a:ext cx="32440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EA00"/>
                </a:solidFill>
                <a:latin typeface="Be Vietnam Pro" pitchFamily="34" charset="0"/>
                <a:ea typeface="Be Vietnam Pro" pitchFamily="34" charset="-122"/>
                <a:cs typeface="Be Vietnam Pro" pitchFamily="34" charset="-120"/>
              </a:rPr>
              <a:t>Không gửi họ tên cho AI</a:t>
            </a:r>
            <a:endParaRPr lang="en-US" sz="1500" dirty="0"/>
          </a:p>
        </p:txBody>
      </p:sp>
      <p:sp>
        <p:nvSpPr>
          <p:cNvPr id="11" name="Text 8"/>
          <p:cNvSpPr/>
          <p:nvPr/>
        </p:nvSpPr>
        <p:spPr>
          <a:xfrm>
            <a:off x="4521200" y="1851661"/>
            <a:ext cx="324408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FFFFF"/>
                </a:solidFill>
                <a:latin typeface="Be Vietnam Pro" pitchFamily="34" charset="0"/>
                <a:ea typeface="Be Vietnam Pro" pitchFamily="34" charset="-122"/>
                <a:cs typeface="Be Vietnam Pro" pitchFamily="34" charset="-120"/>
              </a:rPr>
              <a:t>Chỉ gửi nội dung bài, câu học sinh viết và số liệu theo số thứ tự.</a:t>
            </a:r>
            <a:endParaRPr lang="en-US" sz="1200" dirty="0"/>
          </a:p>
        </p:txBody>
      </p:sp>
      <p:sp>
        <p:nvSpPr>
          <p:cNvPr id="12" name="Shape 9"/>
          <p:cNvSpPr/>
          <p:nvPr/>
        </p:nvSpPr>
        <p:spPr>
          <a:xfrm>
            <a:off x="8026400" y="1308100"/>
            <a:ext cx="3556000" cy="1188720"/>
          </a:xfrm>
          <a:prstGeom prst="roundRect">
            <a:avLst>
              <a:gd name="adj" fmla="val 8547"/>
            </a:avLst>
          </a:prstGeom>
          <a:solidFill>
            <a:srgbClr val="12207A"/>
          </a:solidFill>
          <a:ln/>
        </p:spPr>
      </p:sp>
      <p:sp>
        <p:nvSpPr>
          <p:cNvPr id="13" name="Shape 10"/>
          <p:cNvSpPr/>
          <p:nvPr/>
        </p:nvSpPr>
        <p:spPr>
          <a:xfrm>
            <a:off x="8026400" y="1308100"/>
            <a:ext cx="3556000" cy="1188720"/>
          </a:xfrm>
          <a:custGeom>
            <a:avLst/>
            <a:gdLst/>
            <a:ahLst/>
            <a:cxnLst/>
            <a:rect l="l" t="t" r="r" b="b"/>
            <a:pathLst>
              <a:path w="3556000" h="118872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14" name="Text 11"/>
          <p:cNvSpPr/>
          <p:nvPr/>
        </p:nvSpPr>
        <p:spPr>
          <a:xfrm>
            <a:off x="8229600" y="1546861"/>
            <a:ext cx="32440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EA00"/>
                </a:solidFill>
                <a:latin typeface="Be Vietnam Pro" pitchFamily="34" charset="0"/>
                <a:ea typeface="Be Vietnam Pro" pitchFamily="34" charset="-122"/>
                <a:cs typeface="Be Vietnam Pro" pitchFamily="34" charset="-120"/>
              </a:rPr>
              <a:t>AI chỉ viết bản nháp</a:t>
            </a:r>
            <a:endParaRPr lang="en-US" sz="1500" dirty="0"/>
          </a:p>
        </p:txBody>
      </p:sp>
      <p:sp>
        <p:nvSpPr>
          <p:cNvPr id="15" name="Text 12"/>
          <p:cNvSpPr/>
          <p:nvPr/>
        </p:nvSpPr>
        <p:spPr>
          <a:xfrm>
            <a:off x="8229600" y="1851661"/>
            <a:ext cx="324408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FFFFF"/>
                </a:solidFill>
                <a:latin typeface="Be Vietnam Pro" pitchFamily="34" charset="0"/>
                <a:ea typeface="Be Vietnam Pro" pitchFamily="34" charset="-122"/>
                <a:cs typeface="Be Vietnam Pro" pitchFamily="34" charset="-120"/>
              </a:rPr>
              <a:t>Cô đọc, sửa, bỏ câu chưa ổn rồi mới giao cho lớp hoặc gửi phụ huynh.</a:t>
            </a:r>
            <a:endParaRPr lang="en-US" sz="1200" dirty="0"/>
          </a:p>
        </p:txBody>
      </p:sp>
      <p:sp>
        <p:nvSpPr>
          <p:cNvPr id="16" name="Shape 13"/>
          <p:cNvSpPr/>
          <p:nvPr/>
        </p:nvSpPr>
        <p:spPr>
          <a:xfrm>
            <a:off x="609600" y="2649221"/>
            <a:ext cx="3556000" cy="1409700"/>
          </a:xfrm>
          <a:prstGeom prst="roundRect">
            <a:avLst>
              <a:gd name="adj" fmla="val 7207"/>
            </a:avLst>
          </a:prstGeom>
          <a:solidFill>
            <a:srgbClr val="12207A"/>
          </a:solidFill>
          <a:ln/>
        </p:spPr>
      </p:sp>
      <p:sp>
        <p:nvSpPr>
          <p:cNvPr id="17" name="Shape 14"/>
          <p:cNvSpPr/>
          <p:nvPr/>
        </p:nvSpPr>
        <p:spPr>
          <a:xfrm>
            <a:off x="609600" y="2649221"/>
            <a:ext cx="3556000" cy="1409700"/>
          </a:xfrm>
          <a:custGeom>
            <a:avLst/>
            <a:gdLst/>
            <a:ahLst/>
            <a:cxnLst/>
            <a:rect l="l" t="t" r="r" b="b"/>
            <a:pathLst>
              <a:path w="3556000" h="140970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18" name="Text 15"/>
          <p:cNvSpPr/>
          <p:nvPr/>
        </p:nvSpPr>
        <p:spPr>
          <a:xfrm>
            <a:off x="812800" y="2887982"/>
            <a:ext cx="32440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EA00"/>
                </a:solidFill>
                <a:latin typeface="Be Vietnam Pro" pitchFamily="34" charset="0"/>
                <a:ea typeface="Be Vietnam Pro" pitchFamily="34" charset="-122"/>
                <a:cs typeface="Be Vietnam Pro" pitchFamily="34" charset="-120"/>
              </a:rPr>
              <a:t>Nội dung chính xác</a:t>
            </a:r>
            <a:endParaRPr lang="en-US" sz="1500" dirty="0"/>
          </a:p>
        </p:txBody>
      </p:sp>
      <p:sp>
        <p:nvSpPr>
          <p:cNvPr id="19" name="Text 16"/>
          <p:cNvSpPr/>
          <p:nvPr/>
        </p:nvSpPr>
        <p:spPr>
          <a:xfrm>
            <a:off x="812800" y="3192782"/>
            <a:ext cx="3244088"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FFFFF"/>
                </a:solidFill>
                <a:latin typeface="Be Vietnam Pro" pitchFamily="34" charset="0"/>
                <a:ea typeface="Be Vietnam Pro" pitchFamily="34" charset="-122"/>
                <a:cs typeface="Be Vietnam Pro" pitchFamily="34" charset="-120"/>
              </a:rPr>
              <a:t>Bám sát SGK Tiếng Việt 4 – Kết nối tri thức; cô ẩn hoặc giữ từng câu trong ngân hàng.</a:t>
            </a:r>
            <a:endParaRPr lang="en-US" sz="1200" dirty="0"/>
          </a:p>
        </p:txBody>
      </p:sp>
      <p:sp>
        <p:nvSpPr>
          <p:cNvPr id="20" name="Shape 17"/>
          <p:cNvSpPr/>
          <p:nvPr/>
        </p:nvSpPr>
        <p:spPr>
          <a:xfrm>
            <a:off x="4318000" y="2649221"/>
            <a:ext cx="3556000" cy="1409700"/>
          </a:xfrm>
          <a:prstGeom prst="roundRect">
            <a:avLst>
              <a:gd name="adj" fmla="val 7207"/>
            </a:avLst>
          </a:prstGeom>
          <a:solidFill>
            <a:srgbClr val="12207A"/>
          </a:solidFill>
          <a:ln/>
        </p:spPr>
      </p:sp>
      <p:sp>
        <p:nvSpPr>
          <p:cNvPr id="21" name="Shape 18"/>
          <p:cNvSpPr/>
          <p:nvPr/>
        </p:nvSpPr>
        <p:spPr>
          <a:xfrm>
            <a:off x="4318000" y="2649221"/>
            <a:ext cx="3556000" cy="1409700"/>
          </a:xfrm>
          <a:custGeom>
            <a:avLst/>
            <a:gdLst/>
            <a:ahLst/>
            <a:cxnLst/>
            <a:rect l="l" t="t" r="r" b="b"/>
            <a:pathLst>
              <a:path w="3556000" h="140970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22" name="Text 19"/>
          <p:cNvSpPr/>
          <p:nvPr/>
        </p:nvSpPr>
        <p:spPr>
          <a:xfrm>
            <a:off x="4521200" y="2887982"/>
            <a:ext cx="32440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EA00"/>
                </a:solidFill>
                <a:latin typeface="Be Vietnam Pro" pitchFamily="34" charset="0"/>
                <a:ea typeface="Be Vietnam Pro" pitchFamily="34" charset="-122"/>
                <a:cs typeface="Be Vietnam Pro" pitchFamily="34" charset="-120"/>
              </a:rPr>
              <a:t>Dữ liệu ở lại trên máy</a:t>
            </a:r>
            <a:endParaRPr lang="en-US" sz="1500" dirty="0"/>
          </a:p>
        </p:txBody>
      </p:sp>
      <p:sp>
        <p:nvSpPr>
          <p:cNvPr id="23" name="Text 20"/>
          <p:cNvSpPr/>
          <p:nvPr/>
        </p:nvSpPr>
        <p:spPr>
          <a:xfrm>
            <a:off x="4521200" y="3192782"/>
            <a:ext cx="324408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FFFFF"/>
                </a:solidFill>
                <a:latin typeface="Be Vietnam Pro" pitchFamily="34" charset="0"/>
                <a:ea typeface="Be Vietnam Pro" pitchFamily="34" charset="-122"/>
                <a:cs typeface="Be Vietnam Pro" pitchFamily="34" charset="-120"/>
              </a:rPr>
              <a:t>Kết quả lưu trên trình duyệt; em gửi cho cô bằng mã, không cần máy chủ.</a:t>
            </a:r>
            <a:endParaRPr lang="en-US" sz="1200" dirty="0"/>
          </a:p>
        </p:txBody>
      </p:sp>
      <p:sp>
        <p:nvSpPr>
          <p:cNvPr id="24" name="Shape 21"/>
          <p:cNvSpPr/>
          <p:nvPr/>
        </p:nvSpPr>
        <p:spPr>
          <a:xfrm>
            <a:off x="8026400" y="2649221"/>
            <a:ext cx="3556000" cy="1409700"/>
          </a:xfrm>
          <a:prstGeom prst="roundRect">
            <a:avLst>
              <a:gd name="adj" fmla="val 7207"/>
            </a:avLst>
          </a:prstGeom>
          <a:solidFill>
            <a:srgbClr val="12207A"/>
          </a:solidFill>
          <a:ln/>
        </p:spPr>
      </p:sp>
      <p:sp>
        <p:nvSpPr>
          <p:cNvPr id="25" name="Shape 22"/>
          <p:cNvSpPr/>
          <p:nvPr/>
        </p:nvSpPr>
        <p:spPr>
          <a:xfrm>
            <a:off x="8026400" y="2649221"/>
            <a:ext cx="3556000" cy="1409700"/>
          </a:xfrm>
          <a:custGeom>
            <a:avLst/>
            <a:gdLst/>
            <a:ahLst/>
            <a:cxnLst/>
            <a:rect l="l" t="t" r="r" b="b"/>
            <a:pathLst>
              <a:path w="3556000" h="140970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26" name="Text 23"/>
          <p:cNvSpPr/>
          <p:nvPr/>
        </p:nvSpPr>
        <p:spPr>
          <a:xfrm>
            <a:off x="8229600" y="2887982"/>
            <a:ext cx="32440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EA00"/>
                </a:solidFill>
                <a:latin typeface="Be Vietnam Pro" pitchFamily="34" charset="0"/>
                <a:ea typeface="Be Vietnam Pro" pitchFamily="34" charset="-122"/>
                <a:cs typeface="Be Vietnam Pro" pitchFamily="34" charset="-120"/>
              </a:rPr>
              <a:t>Dạy em kiểm tra AI</a:t>
            </a:r>
            <a:endParaRPr lang="en-US" sz="1500" dirty="0"/>
          </a:p>
        </p:txBody>
      </p:sp>
      <p:sp>
        <p:nvSpPr>
          <p:cNvPr id="27" name="Text 24"/>
          <p:cNvSpPr/>
          <p:nvPr/>
        </p:nvSpPr>
        <p:spPr>
          <a:xfrm>
            <a:off x="8229600" y="3192782"/>
            <a:ext cx="324408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FFFFF"/>
                </a:solidFill>
                <a:latin typeface="Be Vietnam Pro" pitchFamily="34" charset="0"/>
                <a:ea typeface="Be Vietnam Pro" pitchFamily="34" charset="-122"/>
                <a:cs typeface="Be Vietnam Pro" pitchFamily="34" charset="-120"/>
              </a:rPr>
              <a:t>Dạng bài Thám tử AI rèn thói quen không tin tuyệt đối vào câu trả lời của máy.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TRIỂN KHAI THỰC TẾ</a:t>
            </a:r>
            <a:endParaRPr lang="en-US" sz="3000" dirty="0"/>
          </a:p>
        </p:txBody>
      </p:sp>
      <p:sp>
        <p:nvSpPr>
          <p:cNvPr id="4" name="Text 1"/>
          <p:cNvSpPr/>
          <p:nvPr/>
        </p:nvSpPr>
        <p:spPr>
          <a:xfrm>
            <a:off x="609600" y="1282700"/>
            <a:ext cx="1130198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5BD8"/>
                </a:solidFill>
                <a:latin typeface="Be Vietnam Pro" pitchFamily="34" charset="0"/>
                <a:ea typeface="Be Vietnam Pro" pitchFamily="34" charset="-122"/>
                <a:cs typeface="Be Vietnam Pro" pitchFamily="34" charset="-120"/>
              </a:rPr>
              <a:t>Một vòng luyện tập mỗi tuần</a:t>
            </a:r>
            <a:endParaRPr lang="en-US" sz="1600" dirty="0"/>
          </a:p>
        </p:txBody>
      </p:sp>
      <p:sp>
        <p:nvSpPr>
          <p:cNvPr id="5" name="Shape 2"/>
          <p:cNvSpPr/>
          <p:nvPr/>
        </p:nvSpPr>
        <p:spPr>
          <a:xfrm>
            <a:off x="609600" y="1780542"/>
            <a:ext cx="2667000" cy="1402080"/>
          </a:xfrm>
          <a:prstGeom prst="roundRect">
            <a:avLst>
              <a:gd name="adj" fmla="val 7246"/>
            </a:avLst>
          </a:prstGeom>
          <a:solidFill>
            <a:srgbClr val="EEF3FC"/>
          </a:solidFill>
          <a:ln/>
        </p:spPr>
      </p:sp>
      <p:sp>
        <p:nvSpPr>
          <p:cNvPr id="6" name="Text 3"/>
          <p:cNvSpPr/>
          <p:nvPr/>
        </p:nvSpPr>
        <p:spPr>
          <a:xfrm>
            <a:off x="787400" y="1958342"/>
            <a:ext cx="2380742"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61E2A"/>
                </a:solidFill>
                <a:latin typeface="Be Vietnam Pro" pitchFamily="34" charset="0"/>
                <a:ea typeface="Be Vietnam Pro" pitchFamily="34" charset="-122"/>
                <a:cs typeface="Be Vietnam Pro" pitchFamily="34" charset="-120"/>
              </a:rPr>
              <a:t>1</a:t>
            </a:r>
            <a:endParaRPr lang="en-US" sz="2200" dirty="0"/>
          </a:p>
        </p:txBody>
      </p:sp>
      <p:sp>
        <p:nvSpPr>
          <p:cNvPr id="7" name="Text 4"/>
          <p:cNvSpPr/>
          <p:nvPr/>
        </p:nvSpPr>
        <p:spPr>
          <a:xfrm>
            <a:off x="787400" y="2301242"/>
            <a:ext cx="23807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0054"/>
                </a:solidFill>
                <a:latin typeface="Be Vietnam Pro" pitchFamily="34" charset="0"/>
                <a:ea typeface="Be Vietnam Pro" pitchFamily="34" charset="-122"/>
                <a:cs typeface="Be Vietnam Pro" pitchFamily="34" charset="-120"/>
              </a:rPr>
              <a:t>Học bài trên lớp</a:t>
            </a:r>
            <a:endParaRPr lang="en-US" sz="1400" dirty="0"/>
          </a:p>
        </p:txBody>
      </p:sp>
      <p:sp>
        <p:nvSpPr>
          <p:cNvPr id="8" name="Text 5"/>
          <p:cNvSpPr/>
          <p:nvPr/>
        </p:nvSpPr>
        <p:spPr>
          <a:xfrm>
            <a:off x="787400" y="2578100"/>
            <a:ext cx="238074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3B"/>
                </a:solidFill>
                <a:latin typeface="Be Vietnam Pro" pitchFamily="34" charset="0"/>
                <a:ea typeface="Be Vietnam Pro" pitchFamily="34" charset="-122"/>
                <a:cs typeface="Be Vietnam Pro" pitchFamily="34" charset="-120"/>
              </a:rPr>
              <a:t>Tiết Luyện từ và câu theo SGK</a:t>
            </a:r>
            <a:endParaRPr lang="en-US" sz="1200" dirty="0"/>
          </a:p>
        </p:txBody>
      </p:sp>
      <p:sp>
        <p:nvSpPr>
          <p:cNvPr id="9" name="Shape 6"/>
          <p:cNvSpPr/>
          <p:nvPr/>
        </p:nvSpPr>
        <p:spPr>
          <a:xfrm>
            <a:off x="3378200" y="1780542"/>
            <a:ext cx="2667000" cy="1402080"/>
          </a:xfrm>
          <a:prstGeom prst="roundRect">
            <a:avLst>
              <a:gd name="adj" fmla="val 7246"/>
            </a:avLst>
          </a:prstGeom>
          <a:solidFill>
            <a:srgbClr val="EEF3FC"/>
          </a:solidFill>
          <a:ln/>
        </p:spPr>
      </p:sp>
      <p:sp>
        <p:nvSpPr>
          <p:cNvPr id="10" name="Text 7"/>
          <p:cNvSpPr/>
          <p:nvPr/>
        </p:nvSpPr>
        <p:spPr>
          <a:xfrm>
            <a:off x="3556000" y="1958342"/>
            <a:ext cx="2380742"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61E2A"/>
                </a:solidFill>
                <a:latin typeface="Be Vietnam Pro" pitchFamily="34" charset="0"/>
                <a:ea typeface="Be Vietnam Pro" pitchFamily="34" charset="-122"/>
                <a:cs typeface="Be Vietnam Pro" pitchFamily="34" charset="-120"/>
              </a:rPr>
              <a:t>2</a:t>
            </a:r>
            <a:endParaRPr lang="en-US" sz="2200" dirty="0"/>
          </a:p>
        </p:txBody>
      </p:sp>
      <p:sp>
        <p:nvSpPr>
          <p:cNvPr id="11" name="Text 8"/>
          <p:cNvSpPr/>
          <p:nvPr/>
        </p:nvSpPr>
        <p:spPr>
          <a:xfrm>
            <a:off x="3556000" y="2301242"/>
            <a:ext cx="23807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0054"/>
                </a:solidFill>
                <a:latin typeface="Be Vietnam Pro" pitchFamily="34" charset="0"/>
                <a:ea typeface="Be Vietnam Pro" pitchFamily="34" charset="-122"/>
                <a:cs typeface="Be Vietnam Pro" pitchFamily="34" charset="-120"/>
              </a:rPr>
              <a:t>Luyện trên ứng dụng</a:t>
            </a:r>
            <a:endParaRPr lang="en-US" sz="1400" dirty="0"/>
          </a:p>
        </p:txBody>
      </p:sp>
      <p:sp>
        <p:nvSpPr>
          <p:cNvPr id="12" name="Text 9"/>
          <p:cNvSpPr/>
          <p:nvPr/>
        </p:nvSpPr>
        <p:spPr>
          <a:xfrm>
            <a:off x="3556000" y="2578100"/>
            <a:ext cx="23807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3B"/>
                </a:solidFill>
                <a:latin typeface="Be Vietnam Pro" pitchFamily="34" charset="0"/>
                <a:ea typeface="Be Vietnam Pro" pitchFamily="34" charset="-122"/>
                <a:cs typeface="Be Vietnam Pro" pitchFamily="34" charset="-120"/>
              </a:rPr>
              <a:t>Ở lớp hoặc ở nhà, từ mức Khởi động đến Chinh phục</a:t>
            </a:r>
            <a:endParaRPr lang="en-US" sz="1200" dirty="0"/>
          </a:p>
        </p:txBody>
      </p:sp>
      <p:sp>
        <p:nvSpPr>
          <p:cNvPr id="13" name="Shape 10"/>
          <p:cNvSpPr/>
          <p:nvPr/>
        </p:nvSpPr>
        <p:spPr>
          <a:xfrm>
            <a:off x="6146800" y="1780542"/>
            <a:ext cx="2667000" cy="1402080"/>
          </a:xfrm>
          <a:prstGeom prst="roundRect">
            <a:avLst>
              <a:gd name="adj" fmla="val 7246"/>
            </a:avLst>
          </a:prstGeom>
          <a:solidFill>
            <a:srgbClr val="EEF3FC"/>
          </a:solidFill>
          <a:ln/>
        </p:spPr>
      </p:sp>
      <p:sp>
        <p:nvSpPr>
          <p:cNvPr id="14" name="Text 11"/>
          <p:cNvSpPr/>
          <p:nvPr/>
        </p:nvSpPr>
        <p:spPr>
          <a:xfrm>
            <a:off x="6324600" y="1958342"/>
            <a:ext cx="2380742"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61E2A"/>
                </a:solidFill>
                <a:latin typeface="Be Vietnam Pro" pitchFamily="34" charset="0"/>
                <a:ea typeface="Be Vietnam Pro" pitchFamily="34" charset="-122"/>
                <a:cs typeface="Be Vietnam Pro" pitchFamily="34" charset="-120"/>
              </a:rPr>
              <a:t>3</a:t>
            </a:r>
            <a:endParaRPr lang="en-US" sz="2200" dirty="0"/>
          </a:p>
        </p:txBody>
      </p:sp>
      <p:sp>
        <p:nvSpPr>
          <p:cNvPr id="15" name="Text 12"/>
          <p:cNvSpPr/>
          <p:nvPr/>
        </p:nvSpPr>
        <p:spPr>
          <a:xfrm>
            <a:off x="6324600" y="2301242"/>
            <a:ext cx="23807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0054"/>
                </a:solidFill>
                <a:latin typeface="Be Vietnam Pro" pitchFamily="34" charset="0"/>
                <a:ea typeface="Be Vietnam Pro" pitchFamily="34" charset="-122"/>
                <a:cs typeface="Be Vietnam Pro" pitchFamily="34" charset="-120"/>
              </a:rPr>
              <a:t>Gửi mã kết quả</a:t>
            </a:r>
            <a:endParaRPr lang="en-US" sz="1400" dirty="0"/>
          </a:p>
        </p:txBody>
      </p:sp>
      <p:sp>
        <p:nvSpPr>
          <p:cNvPr id="16" name="Text 13"/>
          <p:cNvSpPr/>
          <p:nvPr/>
        </p:nvSpPr>
        <p:spPr>
          <a:xfrm>
            <a:off x="6324600" y="2578100"/>
            <a:ext cx="23807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F3B"/>
                </a:solidFill>
                <a:latin typeface="Be Vietnam Pro" pitchFamily="34" charset="0"/>
                <a:ea typeface="Be Vietnam Pro" pitchFamily="34" charset="-122"/>
                <a:cs typeface="Be Vietnam Pro" pitchFamily="34" charset="-120"/>
              </a:rPr>
              <a:t>Cô nhập mã, bảng kết quả lớp tự cập nhật</a:t>
            </a:r>
            <a:endParaRPr lang="en-US" sz="1200" dirty="0"/>
          </a:p>
        </p:txBody>
      </p:sp>
      <p:sp>
        <p:nvSpPr>
          <p:cNvPr id="17" name="Shape 14"/>
          <p:cNvSpPr/>
          <p:nvPr/>
        </p:nvSpPr>
        <p:spPr>
          <a:xfrm>
            <a:off x="8915400" y="1780542"/>
            <a:ext cx="2667000" cy="1402080"/>
          </a:xfrm>
          <a:prstGeom prst="roundRect">
            <a:avLst>
              <a:gd name="adj" fmla="val 7246"/>
            </a:avLst>
          </a:prstGeom>
          <a:solidFill>
            <a:srgbClr val="000054"/>
          </a:solidFill>
          <a:ln/>
        </p:spPr>
      </p:sp>
      <p:sp>
        <p:nvSpPr>
          <p:cNvPr id="18" name="Text 15"/>
          <p:cNvSpPr/>
          <p:nvPr/>
        </p:nvSpPr>
        <p:spPr>
          <a:xfrm>
            <a:off x="9093200" y="1958342"/>
            <a:ext cx="2380742"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FFEA00"/>
                </a:solidFill>
                <a:latin typeface="Be Vietnam Pro" pitchFamily="34" charset="0"/>
                <a:ea typeface="Be Vietnam Pro" pitchFamily="34" charset="-122"/>
                <a:cs typeface="Be Vietnam Pro" pitchFamily="34" charset="-120"/>
              </a:rPr>
              <a:t>4</a:t>
            </a:r>
            <a:endParaRPr lang="en-US" sz="2200" dirty="0"/>
          </a:p>
        </p:txBody>
      </p:sp>
      <p:sp>
        <p:nvSpPr>
          <p:cNvPr id="19" name="Text 16"/>
          <p:cNvSpPr/>
          <p:nvPr/>
        </p:nvSpPr>
        <p:spPr>
          <a:xfrm>
            <a:off x="9093200" y="2301242"/>
            <a:ext cx="238074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FFFFF"/>
                </a:solidFill>
                <a:latin typeface="Be Vietnam Pro" pitchFamily="34" charset="0"/>
                <a:ea typeface="Be Vietnam Pro" pitchFamily="34" charset="-122"/>
                <a:cs typeface="Be Vietnam Pro" pitchFamily="34" charset="-120"/>
              </a:rPr>
              <a:t>Chia nhóm tiết sau</a:t>
            </a:r>
            <a:endParaRPr lang="en-US" sz="1400" dirty="0"/>
          </a:p>
        </p:txBody>
      </p:sp>
      <p:sp>
        <p:nvSpPr>
          <p:cNvPr id="20" name="Text 17"/>
          <p:cNvSpPr/>
          <p:nvPr/>
        </p:nvSpPr>
        <p:spPr>
          <a:xfrm>
            <a:off x="9093200" y="2578100"/>
            <a:ext cx="23807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Be Vietnam Pro" pitchFamily="34" charset="0"/>
                <a:ea typeface="Be Vietnam Pro" pitchFamily="34" charset="-122"/>
                <a:cs typeface="Be Vietnam Pro" pitchFamily="34" charset="-120"/>
              </a:rPr>
              <a:t>Trạm Cô · Trạm Máy · Trạm Bạn theo gợi ý của AI</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4016710268"/>
              </p:ext>
            </p:extLst>
          </p:nvPr>
        </p:nvGraphicFramePr>
        <p:xfrm>
          <a:off x="619760" y="3446781"/>
          <a:ext cx="10962640" cy="1907540"/>
        </p:xfrm>
        <a:graphic>
          <a:graphicData uri="http://schemas.openxmlformats.org/drawingml/2006/table">
            <a:tbl>
              <a:tblPr/>
              <a:tblGrid>
                <a:gridCol w="5481320">
                  <a:extLst>
                    <a:ext uri="{9D8B030D-6E8A-4147-A177-3AD203B41FA5}">
                      <a16:colId xmlns:a16="http://schemas.microsoft.com/office/drawing/2014/main" val="20000"/>
                    </a:ext>
                  </a:extLst>
                </a:gridCol>
                <a:gridCol w="5481320">
                  <a:extLst>
                    <a:ext uri="{9D8B030D-6E8A-4147-A177-3AD203B41FA5}">
                      <a16:colId xmlns:a16="http://schemas.microsoft.com/office/drawing/2014/main" val="20001"/>
                    </a:ext>
                  </a:extLst>
                </a:gridCol>
              </a:tblGrid>
              <a:tr h="419100">
                <a:tc>
                  <a:txBody>
                    <a:bodyPr/>
                    <a:lstStyle/>
                    <a:p>
                      <a:pPr marL="0" indent="0">
                        <a:lnSpc>
                          <a:spcPts val="1820"/>
                        </a:lnSpc>
                        <a:buNone/>
                      </a:pPr>
                      <a:r>
                        <a:rPr lang="en-US" sz="1300" b="1" dirty="0">
                          <a:solidFill>
                            <a:srgbClr val="000054"/>
                          </a:solidFill>
                          <a:latin typeface="Be Vietnam Pro" pitchFamily="34" charset="0"/>
                          <a:ea typeface="Be Vietnam Pro" pitchFamily="34" charset="-122"/>
                          <a:cs typeface="Be Vietnam Pro" pitchFamily="34" charset="-120"/>
                        </a:rPr>
                        <a:t>Thông tin</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B5B9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B9C3"/>
                      </a:solidFill>
                      <a:prstDash val="solid"/>
                      <a:round/>
                      <a:headEnd type="none" w="med" len="med"/>
                      <a:tailEnd type="none" w="med" len="med"/>
                    </a:lnB>
                    <a:solidFill>
                      <a:srgbClr val="E3E8F4"/>
                    </a:solidFill>
                  </a:tcPr>
                </a:tc>
                <a:tc>
                  <a:txBody>
                    <a:bodyPr/>
                    <a:lstStyle/>
                    <a:p>
                      <a:pPr marL="0" indent="0">
                        <a:lnSpc>
                          <a:spcPts val="1820"/>
                        </a:lnSpc>
                        <a:buNone/>
                      </a:pPr>
                      <a:r>
                        <a:rPr lang="en-US" sz="1300" b="1" dirty="0">
                          <a:solidFill>
                            <a:srgbClr val="000054"/>
                          </a:solidFill>
                          <a:latin typeface="Be Vietnam Pro" pitchFamily="34" charset="0"/>
                          <a:ea typeface="Be Vietnam Pro" pitchFamily="34" charset="-122"/>
                          <a:cs typeface="Be Vietnam Pro" pitchFamily="34" charset="-120"/>
                        </a:rPr>
                        <a:t>Chi tiết</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B5B9C3"/>
                      </a:solidFill>
                      <a:prstDash val="solid"/>
                      <a:round/>
                      <a:headEnd type="none" w="med" len="med"/>
                      <a:tailEnd type="none" w="med" len="med"/>
                    </a:lnL>
                    <a:lnR w="12700" cap="flat" cmpd="sng" algn="ctr">
                      <a:solidFill>
                        <a:srgbClr val="B5B9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B9C3"/>
                      </a:solidFill>
                      <a:prstDash val="solid"/>
                      <a:round/>
                      <a:headEnd type="none" w="med" len="med"/>
                      <a:tailEnd type="none" w="med" len="med"/>
                    </a:lnB>
                    <a:solidFill>
                      <a:srgbClr val="E3E8F4"/>
                    </a:solidFill>
                  </a:tcPr>
                </a:tc>
                <a:extLst>
                  <a:ext uri="{0D108BD9-81ED-4DB2-BD59-A6C34878D82A}">
                    <a16:rowId xmlns:a16="http://schemas.microsoft.com/office/drawing/2014/main" val="10000"/>
                  </a:ext>
                </a:extLst>
              </a:tr>
              <a:tr h="419100">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Thời gian triển khai</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9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err="1">
                          <a:solidFill>
                            <a:srgbClr val="1B1F3B"/>
                          </a:solidFill>
                          <a:latin typeface="Be Vietnam Pro" pitchFamily="34" charset="0"/>
                          <a:ea typeface="Be Vietnam Pro" pitchFamily="34" charset="-122"/>
                          <a:cs typeface="Be Vietnam Pro" pitchFamily="34" charset="-120"/>
                        </a:rPr>
                        <a:t>Từ</a:t>
                      </a:r>
                      <a:r>
                        <a:rPr lang="en-US" sz="1300" dirty="0">
                          <a:solidFill>
                            <a:srgbClr val="1B1F3B"/>
                          </a:solidFill>
                          <a:latin typeface="Be Vietnam Pro" pitchFamily="34" charset="0"/>
                          <a:ea typeface="Be Vietnam Pro" pitchFamily="34" charset="-122"/>
                          <a:cs typeface="Be Vietnam Pro" pitchFamily="34" charset="-120"/>
                        </a:rPr>
                        <a:t> </a:t>
                      </a:r>
                      <a:r>
                        <a:rPr lang="en-US" sz="1300" dirty="0" err="1">
                          <a:solidFill>
                            <a:srgbClr val="1B1F3B"/>
                          </a:solidFill>
                          <a:latin typeface="Be Vietnam Pro" pitchFamily="34" charset="0"/>
                          <a:ea typeface="Be Vietnam Pro" pitchFamily="34" charset="-122"/>
                          <a:cs typeface="Be Vietnam Pro" pitchFamily="34" charset="-120"/>
                        </a:rPr>
                        <a:t>tháng</a:t>
                      </a:r>
                      <a:r>
                        <a:rPr lang="en-US" sz="1300" dirty="0">
                          <a:solidFill>
                            <a:srgbClr val="1B1F3B"/>
                          </a:solidFill>
                          <a:latin typeface="Be Vietnam Pro" pitchFamily="34" charset="0"/>
                          <a:ea typeface="Be Vietnam Pro" pitchFamily="34" charset="-122"/>
                          <a:cs typeface="Be Vietnam Pro" pitchFamily="34" charset="-120"/>
                        </a:rPr>
                        <a:t> 10/2026 </a:t>
                      </a:r>
                      <a:r>
                        <a:rPr lang="en-US" sz="1300" dirty="0" err="1">
                          <a:solidFill>
                            <a:srgbClr val="1B1F3B"/>
                          </a:solidFill>
                          <a:latin typeface="Be Vietnam Pro" pitchFamily="34" charset="0"/>
                          <a:ea typeface="Be Vietnam Pro" pitchFamily="34" charset="-122"/>
                          <a:cs typeface="Be Vietnam Pro" pitchFamily="34" charset="-120"/>
                        </a:rPr>
                        <a:t>đến</a:t>
                      </a:r>
                      <a:r>
                        <a:rPr lang="en-US" sz="1300" dirty="0">
                          <a:solidFill>
                            <a:srgbClr val="1B1F3B"/>
                          </a:solidFill>
                          <a:latin typeface="Be Vietnam Pro" pitchFamily="34" charset="0"/>
                          <a:ea typeface="Be Vietnam Pro" pitchFamily="34" charset="-122"/>
                          <a:cs typeface="Be Vietnam Pro" pitchFamily="34" charset="-120"/>
                        </a:rPr>
                        <a:t> nay ( 3 </a:t>
                      </a:r>
                      <a:r>
                        <a:rPr lang="en-US" sz="1300" dirty="0" err="1">
                          <a:solidFill>
                            <a:srgbClr val="1B1F3B"/>
                          </a:solidFill>
                          <a:latin typeface="Be Vietnam Pro" pitchFamily="34" charset="0"/>
                          <a:ea typeface="Be Vietnam Pro" pitchFamily="34" charset="-122"/>
                          <a:cs typeface="Be Vietnam Pro" pitchFamily="34" charset="-120"/>
                        </a:rPr>
                        <a:t>tuần</a:t>
                      </a:r>
                      <a:r>
                        <a:rPr lang="en-US" sz="1300" dirty="0">
                          <a:solidFill>
                            <a:srgbClr val="1B1F3B"/>
                          </a:solidFill>
                          <a:latin typeface="Be Vietnam Pro" pitchFamily="34" charset="0"/>
                          <a:ea typeface="Be Vietnam Pro" pitchFamily="34" charset="-122"/>
                          <a:cs typeface="Be Vietnam Pro" pitchFamily="34" charset="-120"/>
                        </a:rPr>
                        <a:t>)</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9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19100">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Đối tượng sử dụng</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30 học sinh </a:t>
                      </a:r>
                      <a:r>
                        <a:rPr lang="en-US" sz="1300" dirty="0" err="1">
                          <a:solidFill>
                            <a:srgbClr val="1B1F3B"/>
                          </a:solidFill>
                          <a:latin typeface="Be Vietnam Pro" pitchFamily="34" charset="0"/>
                          <a:ea typeface="Be Vietnam Pro" pitchFamily="34" charset="-122"/>
                          <a:cs typeface="Be Vietnam Pro" pitchFamily="34" charset="-120"/>
                        </a:rPr>
                        <a:t>lớp</a:t>
                      </a:r>
                      <a:r>
                        <a:rPr lang="en-US" sz="1300" dirty="0">
                          <a:solidFill>
                            <a:srgbClr val="1B1F3B"/>
                          </a:solidFill>
                          <a:latin typeface="Be Vietnam Pro" pitchFamily="34" charset="0"/>
                          <a:ea typeface="Be Vietnam Pro" pitchFamily="34" charset="-122"/>
                          <a:cs typeface="Be Vietnam Pro" pitchFamily="34" charset="-120"/>
                        </a:rPr>
                        <a:t> 4/11 và giáo viên chủ nhiệm</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650240">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Thiết bị</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Trình duyệt trên máy tính, máy tính bảng hoặc điện thoại; không cần cài đặt</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KẾT QUẢ VÀ TÁC ĐỘNG</a:t>
            </a:r>
            <a:endParaRPr lang="en-US" sz="3000" dirty="0"/>
          </a:p>
        </p:txBody>
      </p:sp>
      <p:sp>
        <p:nvSpPr>
          <p:cNvPr id="4" name="Shape 1"/>
          <p:cNvSpPr/>
          <p:nvPr/>
        </p:nvSpPr>
        <p:spPr>
          <a:xfrm>
            <a:off x="609600" y="1282700"/>
            <a:ext cx="3556000" cy="1323340"/>
          </a:xfrm>
          <a:prstGeom prst="roundRect">
            <a:avLst>
              <a:gd name="adj" fmla="val 7678"/>
            </a:avLst>
          </a:prstGeom>
          <a:solidFill>
            <a:srgbClr val="000054"/>
          </a:solidFill>
          <a:ln/>
        </p:spPr>
      </p:sp>
      <p:sp>
        <p:nvSpPr>
          <p:cNvPr id="5" name="Text 2"/>
          <p:cNvSpPr/>
          <p:nvPr/>
        </p:nvSpPr>
        <p:spPr>
          <a:xfrm>
            <a:off x="812800" y="1460500"/>
            <a:ext cx="3244088"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FEA00"/>
                </a:solidFill>
                <a:latin typeface="Be Vietnam Pro" pitchFamily="34" charset="0"/>
                <a:ea typeface="Be Vietnam Pro" pitchFamily="34" charset="-122"/>
                <a:cs typeface="Be Vietnam Pro" pitchFamily="34" charset="-120"/>
              </a:rPr>
              <a:t>85%</a:t>
            </a:r>
            <a:endParaRPr lang="en-US" sz="3600" dirty="0"/>
          </a:p>
        </p:txBody>
      </p:sp>
      <p:sp>
        <p:nvSpPr>
          <p:cNvPr id="6" name="Text 3"/>
          <p:cNvSpPr/>
          <p:nvPr/>
        </p:nvSpPr>
        <p:spPr>
          <a:xfrm>
            <a:off x="812800" y="2001521"/>
            <a:ext cx="324408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Be Vietnam Pro" pitchFamily="34" charset="0"/>
                <a:ea typeface="Be Vietnam Pro" pitchFamily="34" charset="-122"/>
                <a:cs typeface="Be Vietnam Pro" pitchFamily="34" charset="-120"/>
              </a:rPr>
              <a:t>học sinh đạt Hoàn thành tốt (≥80%) ở chủ </a:t>
            </a:r>
            <a:r>
              <a:rPr lang="en-US" sz="1200" dirty="0" err="1">
                <a:solidFill>
                  <a:srgbClr val="FFFFFF"/>
                </a:solidFill>
                <a:latin typeface="Be Vietnam Pro" pitchFamily="34" charset="0"/>
                <a:ea typeface="Be Vietnam Pro" pitchFamily="34" charset="-122"/>
                <a:cs typeface="Be Vietnam Pro" pitchFamily="34" charset="-120"/>
              </a:rPr>
              <a:t>điểm</a:t>
            </a:r>
            <a:r>
              <a:rPr lang="en-US" sz="1200" dirty="0">
                <a:solidFill>
                  <a:srgbClr val="FFFFFF"/>
                </a:solidFill>
                <a:latin typeface="Be Vietnam Pro" pitchFamily="34" charset="0"/>
                <a:ea typeface="Be Vietnam Pro" pitchFamily="34" charset="-122"/>
                <a:cs typeface="Be Vietnam Pro" pitchFamily="34" charset="-120"/>
              </a:rPr>
              <a:t> </a:t>
            </a:r>
            <a:r>
              <a:rPr lang="en-US" sz="1200" dirty="0" err="1">
                <a:solidFill>
                  <a:srgbClr val="FFFFFF"/>
                </a:solidFill>
                <a:latin typeface="Be Vietnam Pro" pitchFamily="34" charset="0"/>
                <a:ea typeface="Be Vietnam Pro" pitchFamily="34" charset="-122"/>
                <a:cs typeface="Be Vietnam Pro" pitchFamily="34" charset="-120"/>
              </a:rPr>
              <a:t>Mỗi</a:t>
            </a:r>
            <a:r>
              <a:rPr lang="en-US" sz="1200" dirty="0">
                <a:solidFill>
                  <a:srgbClr val="FFFFFF"/>
                </a:solidFill>
                <a:latin typeface="Be Vietnam Pro" pitchFamily="34" charset="0"/>
                <a:ea typeface="Be Vietnam Pro" pitchFamily="34" charset="-122"/>
                <a:cs typeface="Be Vietnam Pro" pitchFamily="34" charset="-120"/>
              </a:rPr>
              <a:t> </a:t>
            </a:r>
            <a:r>
              <a:rPr lang="en-US" sz="1200" dirty="0" err="1">
                <a:solidFill>
                  <a:srgbClr val="FFFFFF"/>
                </a:solidFill>
                <a:latin typeface="Be Vietnam Pro" pitchFamily="34" charset="0"/>
                <a:ea typeface="Be Vietnam Pro" pitchFamily="34" charset="-122"/>
                <a:cs typeface="Be Vietnam Pro" pitchFamily="34" charset="-120"/>
              </a:rPr>
              <a:t>người</a:t>
            </a:r>
            <a:r>
              <a:rPr lang="en-US" sz="1200" dirty="0">
                <a:solidFill>
                  <a:srgbClr val="FFFFFF"/>
                </a:solidFill>
                <a:latin typeface="Be Vietnam Pro" pitchFamily="34" charset="0"/>
                <a:ea typeface="Be Vietnam Pro" pitchFamily="34" charset="-122"/>
                <a:cs typeface="Be Vietnam Pro" pitchFamily="34" charset="-120"/>
              </a:rPr>
              <a:t> </a:t>
            </a:r>
            <a:r>
              <a:rPr lang="en-US" sz="1200" dirty="0" err="1">
                <a:solidFill>
                  <a:srgbClr val="FFFFFF"/>
                </a:solidFill>
                <a:latin typeface="Be Vietnam Pro" pitchFamily="34" charset="0"/>
                <a:ea typeface="Be Vietnam Pro" pitchFamily="34" charset="-122"/>
                <a:cs typeface="Be Vietnam Pro" pitchFamily="34" charset="-120"/>
              </a:rPr>
              <a:t>một</a:t>
            </a:r>
            <a:r>
              <a:rPr lang="en-US" sz="1200" dirty="0">
                <a:solidFill>
                  <a:srgbClr val="FFFFFF"/>
                </a:solidFill>
                <a:latin typeface="Be Vietnam Pro" pitchFamily="34" charset="0"/>
                <a:ea typeface="Be Vietnam Pro" pitchFamily="34" charset="-122"/>
                <a:cs typeface="Be Vietnam Pro" pitchFamily="34" charset="-120"/>
              </a:rPr>
              <a:t> </a:t>
            </a:r>
            <a:r>
              <a:rPr lang="en-US" sz="1200" dirty="0" err="1">
                <a:solidFill>
                  <a:srgbClr val="FFFFFF"/>
                </a:solidFill>
                <a:latin typeface="Be Vietnam Pro" pitchFamily="34" charset="0"/>
                <a:ea typeface="Be Vietnam Pro" pitchFamily="34" charset="-122"/>
                <a:cs typeface="Be Vietnam Pro" pitchFamily="34" charset="-120"/>
              </a:rPr>
              <a:t>vẻ</a:t>
            </a:r>
            <a:endParaRPr lang="en-US" sz="1200" dirty="0"/>
          </a:p>
        </p:txBody>
      </p:sp>
      <p:sp>
        <p:nvSpPr>
          <p:cNvPr id="8" name="Rounded Rectangle 6">
            <a:extLst>
              <a:ext uri="{FF2B5EF4-FFF2-40B4-BE49-F238E27FC236}">
                <a16:creationId xmlns:a16="http://schemas.microsoft.com/office/drawing/2014/main" id="{B30EAC6A-EE34-3CA5-31FC-B00F9D5168CB}"/>
              </a:ext>
            </a:extLst>
          </p:cNvPr>
          <p:cNvSpPr/>
          <p:nvPr/>
        </p:nvSpPr>
        <p:spPr>
          <a:xfrm>
            <a:off x="5161309" y="1747739"/>
            <a:ext cx="6217890" cy="962025"/>
          </a:xfrm>
          <a:prstGeom prst="roundRect">
            <a:avLst>
              <a:gd name="adj" fmla="val 99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0" name="Rounded Rectangle 7">
            <a:extLst>
              <a:ext uri="{FF2B5EF4-FFF2-40B4-BE49-F238E27FC236}">
                <a16:creationId xmlns:a16="http://schemas.microsoft.com/office/drawing/2014/main" id="{C0BA2EF0-DB05-DA08-E2CE-A2EF642C153B}"/>
              </a:ext>
            </a:extLst>
          </p:cNvPr>
          <p:cNvSpPr/>
          <p:nvPr/>
        </p:nvSpPr>
        <p:spPr>
          <a:xfrm>
            <a:off x="5161309" y="2862164"/>
            <a:ext cx="6217890" cy="962025"/>
          </a:xfrm>
          <a:prstGeom prst="roundRect">
            <a:avLst>
              <a:gd name="adj" fmla="val 99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2" name="Rounded Rectangle 8">
            <a:extLst>
              <a:ext uri="{FF2B5EF4-FFF2-40B4-BE49-F238E27FC236}">
                <a16:creationId xmlns:a16="http://schemas.microsoft.com/office/drawing/2014/main" id="{08AE027B-B1DC-DC1C-1D1D-C01535B56157}"/>
              </a:ext>
            </a:extLst>
          </p:cNvPr>
          <p:cNvSpPr/>
          <p:nvPr/>
        </p:nvSpPr>
        <p:spPr>
          <a:xfrm>
            <a:off x="5161309" y="3976589"/>
            <a:ext cx="6217890" cy="962025"/>
          </a:xfrm>
          <a:prstGeom prst="roundRect">
            <a:avLst>
              <a:gd name="adj" fmla="val 99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Rectangle 20">
            <a:extLst>
              <a:ext uri="{FF2B5EF4-FFF2-40B4-BE49-F238E27FC236}">
                <a16:creationId xmlns:a16="http://schemas.microsoft.com/office/drawing/2014/main" id="{D7FF93B7-56B1-B788-26CD-D88EA3C1F714}"/>
              </a:ext>
            </a:extLst>
          </p:cNvPr>
          <p:cNvSpPr/>
          <p:nvPr/>
        </p:nvSpPr>
        <p:spPr>
          <a:xfrm>
            <a:off x="5161309" y="2700239"/>
            <a:ext cx="621789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Rectangle 22">
            <a:extLst>
              <a:ext uri="{FF2B5EF4-FFF2-40B4-BE49-F238E27FC236}">
                <a16:creationId xmlns:a16="http://schemas.microsoft.com/office/drawing/2014/main" id="{72B034B8-B6A7-09AA-604F-A4858A6613DE}"/>
              </a:ext>
            </a:extLst>
          </p:cNvPr>
          <p:cNvSpPr/>
          <p:nvPr/>
        </p:nvSpPr>
        <p:spPr>
          <a:xfrm>
            <a:off x="5161309" y="1747739"/>
            <a:ext cx="621789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Rectangle 24">
            <a:extLst>
              <a:ext uri="{FF2B5EF4-FFF2-40B4-BE49-F238E27FC236}">
                <a16:creationId xmlns:a16="http://schemas.microsoft.com/office/drawing/2014/main" id="{5A6C0560-8A96-16AA-F4C8-9198BF440F8C}"/>
              </a:ext>
            </a:extLst>
          </p:cNvPr>
          <p:cNvSpPr/>
          <p:nvPr/>
        </p:nvSpPr>
        <p:spPr>
          <a:xfrm>
            <a:off x="5161309" y="1747739"/>
            <a:ext cx="47625" cy="962025"/>
          </a:xfrm>
          <a:prstGeom prst="rect">
            <a:avLst/>
          </a:prstGeom>
          <a:solidFill>
            <a:srgbClr val="002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Rectangle 26">
            <a:extLst>
              <a:ext uri="{FF2B5EF4-FFF2-40B4-BE49-F238E27FC236}">
                <a16:creationId xmlns:a16="http://schemas.microsoft.com/office/drawing/2014/main" id="{F792C8E9-1A6A-0452-2938-E283DAFF6A2C}"/>
              </a:ext>
            </a:extLst>
          </p:cNvPr>
          <p:cNvSpPr/>
          <p:nvPr/>
        </p:nvSpPr>
        <p:spPr>
          <a:xfrm>
            <a:off x="11369675" y="1747739"/>
            <a:ext cx="9525" cy="9620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Rectangle 28">
            <a:extLst>
              <a:ext uri="{FF2B5EF4-FFF2-40B4-BE49-F238E27FC236}">
                <a16:creationId xmlns:a16="http://schemas.microsoft.com/office/drawing/2014/main" id="{FF78CF23-D8ED-48F4-5B31-4DC9D6F66395}"/>
              </a:ext>
            </a:extLst>
          </p:cNvPr>
          <p:cNvSpPr/>
          <p:nvPr/>
        </p:nvSpPr>
        <p:spPr>
          <a:xfrm>
            <a:off x="5161309" y="3814664"/>
            <a:ext cx="621789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Rectangle 30">
            <a:extLst>
              <a:ext uri="{FF2B5EF4-FFF2-40B4-BE49-F238E27FC236}">
                <a16:creationId xmlns:a16="http://schemas.microsoft.com/office/drawing/2014/main" id="{78D68FA0-7E0E-3CF3-46AD-802D89F077DA}"/>
              </a:ext>
            </a:extLst>
          </p:cNvPr>
          <p:cNvSpPr/>
          <p:nvPr/>
        </p:nvSpPr>
        <p:spPr>
          <a:xfrm>
            <a:off x="5161309" y="2862164"/>
            <a:ext cx="621789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Rectangle 32">
            <a:extLst>
              <a:ext uri="{FF2B5EF4-FFF2-40B4-BE49-F238E27FC236}">
                <a16:creationId xmlns:a16="http://schemas.microsoft.com/office/drawing/2014/main" id="{112B1973-49E4-109D-8318-4B0F0B676B59}"/>
              </a:ext>
            </a:extLst>
          </p:cNvPr>
          <p:cNvSpPr/>
          <p:nvPr/>
        </p:nvSpPr>
        <p:spPr>
          <a:xfrm>
            <a:off x="5161309" y="2862164"/>
            <a:ext cx="47625" cy="96202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Rectangle 34">
            <a:extLst>
              <a:ext uri="{FF2B5EF4-FFF2-40B4-BE49-F238E27FC236}">
                <a16:creationId xmlns:a16="http://schemas.microsoft.com/office/drawing/2014/main" id="{A8FC210F-9AB2-CFF7-587E-977A0565B6A6}"/>
              </a:ext>
            </a:extLst>
          </p:cNvPr>
          <p:cNvSpPr/>
          <p:nvPr/>
        </p:nvSpPr>
        <p:spPr>
          <a:xfrm>
            <a:off x="11369675" y="2862164"/>
            <a:ext cx="9525" cy="9620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Rectangle 36">
            <a:extLst>
              <a:ext uri="{FF2B5EF4-FFF2-40B4-BE49-F238E27FC236}">
                <a16:creationId xmlns:a16="http://schemas.microsoft.com/office/drawing/2014/main" id="{FDE1BCD7-EBC6-911E-FC09-9D8D8F38BE4D}"/>
              </a:ext>
            </a:extLst>
          </p:cNvPr>
          <p:cNvSpPr/>
          <p:nvPr/>
        </p:nvSpPr>
        <p:spPr>
          <a:xfrm>
            <a:off x="5161309" y="4929089"/>
            <a:ext cx="621789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Rectangle 38">
            <a:extLst>
              <a:ext uri="{FF2B5EF4-FFF2-40B4-BE49-F238E27FC236}">
                <a16:creationId xmlns:a16="http://schemas.microsoft.com/office/drawing/2014/main" id="{32F34FEC-3474-7D8B-F241-985EF87C8192}"/>
              </a:ext>
            </a:extLst>
          </p:cNvPr>
          <p:cNvSpPr/>
          <p:nvPr/>
        </p:nvSpPr>
        <p:spPr>
          <a:xfrm>
            <a:off x="5161309" y="3976589"/>
            <a:ext cx="621789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Rectangle 40">
            <a:extLst>
              <a:ext uri="{FF2B5EF4-FFF2-40B4-BE49-F238E27FC236}">
                <a16:creationId xmlns:a16="http://schemas.microsoft.com/office/drawing/2014/main" id="{A91CACC0-593A-0668-BC6A-4AE18DB68403}"/>
              </a:ext>
            </a:extLst>
          </p:cNvPr>
          <p:cNvSpPr/>
          <p:nvPr/>
        </p:nvSpPr>
        <p:spPr>
          <a:xfrm>
            <a:off x="5161309" y="3976589"/>
            <a:ext cx="47625" cy="96202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Rectangle 42">
            <a:extLst>
              <a:ext uri="{FF2B5EF4-FFF2-40B4-BE49-F238E27FC236}">
                <a16:creationId xmlns:a16="http://schemas.microsoft.com/office/drawing/2014/main" id="{15658814-C1B0-6EA1-0CAC-0653EC6CAF81}"/>
              </a:ext>
            </a:extLst>
          </p:cNvPr>
          <p:cNvSpPr/>
          <p:nvPr/>
        </p:nvSpPr>
        <p:spPr>
          <a:xfrm>
            <a:off x="11369675" y="3976589"/>
            <a:ext cx="9525" cy="9620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45" name="Picture 44" descr="image.png">
            <a:extLst>
              <a:ext uri="{FF2B5EF4-FFF2-40B4-BE49-F238E27FC236}">
                <a16:creationId xmlns:a16="http://schemas.microsoft.com/office/drawing/2014/main" id="{BF4D27B5-542A-ACE7-9FAC-82142599DC2E}"/>
              </a:ext>
            </a:extLst>
          </p:cNvPr>
          <p:cNvPicPr>
            <a:picLocks noChangeAspect="1"/>
          </p:cNvPicPr>
          <p:nvPr/>
        </p:nvPicPr>
        <p:blipFill>
          <a:blip r:embed="rId4"/>
          <a:stretch>
            <a:fillRect/>
          </a:stretch>
        </p:blipFill>
        <p:spPr>
          <a:xfrm>
            <a:off x="5399434" y="1943002"/>
            <a:ext cx="171450" cy="171450"/>
          </a:xfrm>
          <a:prstGeom prst="rect">
            <a:avLst/>
          </a:prstGeom>
        </p:spPr>
      </p:pic>
      <p:pic>
        <p:nvPicPr>
          <p:cNvPr id="47" name="Picture 46" descr="image.png">
            <a:extLst>
              <a:ext uri="{FF2B5EF4-FFF2-40B4-BE49-F238E27FC236}">
                <a16:creationId xmlns:a16="http://schemas.microsoft.com/office/drawing/2014/main" id="{60C115A5-D66F-8659-9785-26435C0C83EC}"/>
              </a:ext>
            </a:extLst>
          </p:cNvPr>
          <p:cNvPicPr>
            <a:picLocks noChangeAspect="1"/>
          </p:cNvPicPr>
          <p:nvPr/>
        </p:nvPicPr>
        <p:blipFill>
          <a:blip r:embed="rId5"/>
          <a:stretch>
            <a:fillRect/>
          </a:stretch>
        </p:blipFill>
        <p:spPr>
          <a:xfrm>
            <a:off x="5399434" y="3057427"/>
            <a:ext cx="171450" cy="171450"/>
          </a:xfrm>
          <a:prstGeom prst="rect">
            <a:avLst/>
          </a:prstGeom>
        </p:spPr>
      </p:pic>
      <p:pic>
        <p:nvPicPr>
          <p:cNvPr id="49" name="Picture 48" descr="image.png">
            <a:extLst>
              <a:ext uri="{FF2B5EF4-FFF2-40B4-BE49-F238E27FC236}">
                <a16:creationId xmlns:a16="http://schemas.microsoft.com/office/drawing/2014/main" id="{6EF74450-07E3-32DA-7BD2-DD7C83C8C035}"/>
              </a:ext>
            </a:extLst>
          </p:cNvPr>
          <p:cNvPicPr>
            <a:picLocks noChangeAspect="1"/>
          </p:cNvPicPr>
          <p:nvPr/>
        </p:nvPicPr>
        <p:blipFill>
          <a:blip r:embed="rId6"/>
          <a:stretch>
            <a:fillRect/>
          </a:stretch>
        </p:blipFill>
        <p:spPr>
          <a:xfrm>
            <a:off x="5399434" y="4171852"/>
            <a:ext cx="219075" cy="171450"/>
          </a:xfrm>
          <a:prstGeom prst="rect">
            <a:avLst/>
          </a:prstGeom>
        </p:spPr>
      </p:pic>
      <p:sp>
        <p:nvSpPr>
          <p:cNvPr id="51" name="TextBox 50">
            <a:extLst>
              <a:ext uri="{FF2B5EF4-FFF2-40B4-BE49-F238E27FC236}">
                <a16:creationId xmlns:a16="http://schemas.microsoft.com/office/drawing/2014/main" id="{AC2458B6-D261-79AC-AD71-C0A290850D08}"/>
              </a:ext>
            </a:extLst>
          </p:cNvPr>
          <p:cNvSpPr txBox="1"/>
          <p:nvPr/>
        </p:nvSpPr>
        <p:spPr>
          <a:xfrm>
            <a:off x="5399434" y="2185889"/>
            <a:ext cx="5874990" cy="553998"/>
          </a:xfrm>
          <a:prstGeom prst="rect">
            <a:avLst/>
          </a:prstGeom>
          <a:noFill/>
        </p:spPr>
        <p:txBody>
          <a:bodyPr wrap="square" lIns="0" tIns="0" rIns="0" bIns="0" anchor="t">
            <a:spAutoFit/>
          </a:bodyPr>
          <a:lstStyle/>
          <a:p>
            <a:pPr algn="l"/>
            <a:r>
              <a:rPr b="0" i="0" u="none">
                <a:solidFill>
                  <a:srgbClr val="475569"/>
                </a:solidFill>
                <a:latin typeface="Plus Jakarta Sans"/>
              </a:rPr>
              <a:t>Tăng cường tính chủ động, hào hứng tự luyện tập và cải thiện rõ rệt điểm số ở các bài kiểm tra định kỳ.</a:t>
            </a:r>
          </a:p>
        </p:txBody>
      </p:sp>
      <p:sp>
        <p:nvSpPr>
          <p:cNvPr id="53" name="TextBox 52">
            <a:extLst>
              <a:ext uri="{FF2B5EF4-FFF2-40B4-BE49-F238E27FC236}">
                <a16:creationId xmlns:a16="http://schemas.microsoft.com/office/drawing/2014/main" id="{55F88AC9-520F-AEAB-76B4-D9C9B5A01D04}"/>
              </a:ext>
            </a:extLst>
          </p:cNvPr>
          <p:cNvSpPr txBox="1"/>
          <p:nvPr/>
        </p:nvSpPr>
        <p:spPr>
          <a:xfrm>
            <a:off x="5399434" y="3300314"/>
            <a:ext cx="5874990" cy="553998"/>
          </a:xfrm>
          <a:prstGeom prst="rect">
            <a:avLst/>
          </a:prstGeom>
          <a:noFill/>
        </p:spPr>
        <p:txBody>
          <a:bodyPr wrap="square" lIns="0" tIns="0" rIns="0" bIns="0" anchor="t">
            <a:spAutoFit/>
          </a:bodyPr>
          <a:lstStyle/>
          <a:p>
            <a:pPr algn="l"/>
            <a:r>
              <a:rPr b="0" i="0" u="none" dirty="0" err="1">
                <a:solidFill>
                  <a:srgbClr val="475569"/>
                </a:solidFill>
                <a:latin typeface="Plus Jakarta Sans"/>
              </a:rPr>
              <a:t>Tiết</a:t>
            </a:r>
            <a:r>
              <a:rPr b="0" i="0" u="none" dirty="0">
                <a:solidFill>
                  <a:srgbClr val="475569"/>
                </a:solidFill>
                <a:latin typeface="Plus Jakarta Sans"/>
              </a:rPr>
              <a:t> </a:t>
            </a:r>
            <a:r>
              <a:rPr b="0" i="0" u="none" dirty="0" err="1">
                <a:solidFill>
                  <a:srgbClr val="475569"/>
                </a:solidFill>
                <a:latin typeface="Plus Jakarta Sans"/>
              </a:rPr>
              <a:t>kiệm</a:t>
            </a:r>
            <a:r>
              <a:rPr b="0" i="0" u="none" dirty="0">
                <a:solidFill>
                  <a:srgbClr val="475569"/>
                </a:solidFill>
                <a:latin typeface="Plus Jakarta Sans"/>
              </a:rPr>
              <a:t> </a:t>
            </a:r>
            <a:r>
              <a:rPr b="0" i="0" u="none" dirty="0" err="1">
                <a:solidFill>
                  <a:srgbClr val="475569"/>
                </a:solidFill>
                <a:latin typeface="Plus Jakarta Sans"/>
              </a:rPr>
              <a:t>hơn</a:t>
            </a:r>
            <a:r>
              <a:rPr b="0" i="0" u="none" dirty="0">
                <a:solidFill>
                  <a:srgbClr val="475569"/>
                </a:solidFill>
                <a:latin typeface="Plus Jakarta Sans"/>
              </a:rPr>
              <a:t> 50% </a:t>
            </a:r>
            <a:r>
              <a:rPr b="0" i="0" u="none" dirty="0" err="1">
                <a:solidFill>
                  <a:srgbClr val="475569"/>
                </a:solidFill>
                <a:latin typeface="Plus Jakarta Sans"/>
              </a:rPr>
              <a:t>thời</a:t>
            </a:r>
            <a:r>
              <a:rPr b="0" i="0" u="none" dirty="0">
                <a:solidFill>
                  <a:srgbClr val="475569"/>
                </a:solidFill>
                <a:latin typeface="Plus Jakarta Sans"/>
              </a:rPr>
              <a:t> </a:t>
            </a:r>
            <a:r>
              <a:rPr b="0" i="0" u="none" dirty="0" err="1">
                <a:solidFill>
                  <a:srgbClr val="475569"/>
                </a:solidFill>
                <a:latin typeface="Plus Jakarta Sans"/>
              </a:rPr>
              <a:t>gian</a:t>
            </a:r>
            <a:r>
              <a:rPr b="0" i="0" u="none" dirty="0">
                <a:solidFill>
                  <a:srgbClr val="475569"/>
                </a:solidFill>
                <a:latin typeface="Plus Jakarta Sans"/>
              </a:rPr>
              <a:t> </a:t>
            </a:r>
            <a:r>
              <a:rPr b="0" i="0" u="none" dirty="0" err="1">
                <a:solidFill>
                  <a:srgbClr val="475569"/>
                </a:solidFill>
                <a:latin typeface="Plus Jakarta Sans"/>
              </a:rPr>
              <a:t>soạn</a:t>
            </a:r>
            <a:r>
              <a:rPr b="0" i="0" u="none" dirty="0">
                <a:solidFill>
                  <a:srgbClr val="475569"/>
                </a:solidFill>
                <a:latin typeface="Plus Jakarta Sans"/>
              </a:rPr>
              <a:t> </a:t>
            </a:r>
            <a:r>
              <a:rPr b="0" i="0" u="none" dirty="0" err="1">
                <a:solidFill>
                  <a:srgbClr val="475569"/>
                </a:solidFill>
                <a:latin typeface="Plus Jakarta Sans"/>
              </a:rPr>
              <a:t>bài</a:t>
            </a:r>
            <a:r>
              <a:rPr b="0" i="0" u="none" dirty="0">
                <a:solidFill>
                  <a:srgbClr val="475569"/>
                </a:solidFill>
                <a:latin typeface="Plus Jakarta Sans"/>
              </a:rPr>
              <a:t> </a:t>
            </a:r>
            <a:r>
              <a:rPr b="0" i="0" u="none" dirty="0" err="1">
                <a:solidFill>
                  <a:srgbClr val="475569"/>
                </a:solidFill>
                <a:latin typeface="Plus Jakarta Sans"/>
              </a:rPr>
              <a:t>và</a:t>
            </a:r>
            <a:r>
              <a:rPr b="0" i="0" u="none" dirty="0">
                <a:solidFill>
                  <a:srgbClr val="475569"/>
                </a:solidFill>
                <a:latin typeface="Plus Jakarta Sans"/>
              </a:rPr>
              <a:t> </a:t>
            </a:r>
            <a:r>
              <a:rPr b="0" i="0" u="none" dirty="0" err="1">
                <a:solidFill>
                  <a:srgbClr val="475569"/>
                </a:solidFill>
                <a:latin typeface="Plus Jakarta Sans"/>
              </a:rPr>
              <a:t>viết</a:t>
            </a:r>
            <a:r>
              <a:rPr b="0" i="0" u="none" dirty="0">
                <a:solidFill>
                  <a:srgbClr val="475569"/>
                </a:solidFill>
                <a:latin typeface="Plus Jakarta Sans"/>
              </a:rPr>
              <a:t> </a:t>
            </a:r>
            <a:r>
              <a:rPr b="0" i="0" u="none" dirty="0" err="1">
                <a:solidFill>
                  <a:srgbClr val="475569"/>
                </a:solidFill>
                <a:latin typeface="Plus Jakarta Sans"/>
              </a:rPr>
              <a:t>nhận</a:t>
            </a:r>
            <a:r>
              <a:rPr b="0" i="0" u="none" dirty="0">
                <a:solidFill>
                  <a:srgbClr val="475569"/>
                </a:solidFill>
                <a:latin typeface="Plus Jakarta Sans"/>
              </a:rPr>
              <a:t> </a:t>
            </a:r>
            <a:r>
              <a:rPr b="0" i="0" u="none" dirty="0" err="1">
                <a:solidFill>
                  <a:srgbClr val="475569"/>
                </a:solidFill>
                <a:latin typeface="Plus Jakarta Sans"/>
              </a:rPr>
              <a:t>xét</a:t>
            </a:r>
            <a:r>
              <a:rPr b="0" i="0" u="none" dirty="0">
                <a:solidFill>
                  <a:srgbClr val="475569"/>
                </a:solidFill>
                <a:latin typeface="Plus Jakarta Sans"/>
              </a:rPr>
              <a:t>; </a:t>
            </a:r>
            <a:r>
              <a:rPr b="0" i="0" u="none" dirty="0" err="1">
                <a:solidFill>
                  <a:srgbClr val="475569"/>
                </a:solidFill>
                <a:latin typeface="Plus Jakarta Sans"/>
              </a:rPr>
              <a:t>nắm</a:t>
            </a:r>
            <a:r>
              <a:rPr b="0" i="0" u="none" dirty="0">
                <a:solidFill>
                  <a:srgbClr val="475569"/>
                </a:solidFill>
                <a:latin typeface="Plus Jakarta Sans"/>
              </a:rPr>
              <a:t> </a:t>
            </a:r>
            <a:r>
              <a:rPr b="0" i="0" u="none" dirty="0" err="1">
                <a:solidFill>
                  <a:srgbClr val="475569"/>
                </a:solidFill>
                <a:latin typeface="Plus Jakarta Sans"/>
              </a:rPr>
              <a:t>bắt</a:t>
            </a:r>
            <a:r>
              <a:rPr b="0" i="0" u="none" dirty="0">
                <a:solidFill>
                  <a:srgbClr val="475569"/>
                </a:solidFill>
                <a:latin typeface="Plus Jakarta Sans"/>
              </a:rPr>
              <a:t> </a:t>
            </a:r>
            <a:r>
              <a:rPr b="0" i="0" u="none" dirty="0" err="1">
                <a:solidFill>
                  <a:srgbClr val="475569"/>
                </a:solidFill>
                <a:latin typeface="Plus Jakarta Sans"/>
              </a:rPr>
              <a:t>ngay</a:t>
            </a:r>
            <a:r>
              <a:rPr b="0" i="0" u="none" dirty="0">
                <a:solidFill>
                  <a:srgbClr val="475569"/>
                </a:solidFill>
                <a:latin typeface="Plus Jakarta Sans"/>
              </a:rPr>
              <a:t> </a:t>
            </a:r>
            <a:r>
              <a:rPr b="0" i="0" u="none" dirty="0" err="1">
                <a:solidFill>
                  <a:srgbClr val="475569"/>
                </a:solidFill>
                <a:latin typeface="Plus Jakarta Sans"/>
              </a:rPr>
              <a:t>các</a:t>
            </a:r>
            <a:r>
              <a:rPr b="0" i="0" u="none" dirty="0">
                <a:solidFill>
                  <a:srgbClr val="475569"/>
                </a:solidFill>
                <a:latin typeface="Plus Jakarta Sans"/>
              </a:rPr>
              <a:t> </a:t>
            </a:r>
            <a:r>
              <a:rPr b="0" i="0" u="none" dirty="0" err="1">
                <a:solidFill>
                  <a:srgbClr val="475569"/>
                </a:solidFill>
                <a:latin typeface="Plus Jakarta Sans"/>
              </a:rPr>
              <a:t>lỗ</a:t>
            </a:r>
            <a:r>
              <a:rPr b="0" i="0" u="none" dirty="0">
                <a:solidFill>
                  <a:srgbClr val="475569"/>
                </a:solidFill>
                <a:latin typeface="Plus Jakarta Sans"/>
              </a:rPr>
              <a:t> </a:t>
            </a:r>
            <a:r>
              <a:rPr b="0" i="0" u="none" dirty="0" err="1">
                <a:solidFill>
                  <a:srgbClr val="475569"/>
                </a:solidFill>
                <a:latin typeface="Plus Jakarta Sans"/>
              </a:rPr>
              <a:t>hổng</a:t>
            </a:r>
            <a:r>
              <a:rPr b="0" i="0" u="none" dirty="0">
                <a:solidFill>
                  <a:srgbClr val="475569"/>
                </a:solidFill>
                <a:latin typeface="Plus Jakarta Sans"/>
              </a:rPr>
              <a:t> </a:t>
            </a:r>
            <a:r>
              <a:rPr b="0" i="0" u="none" dirty="0" err="1">
                <a:solidFill>
                  <a:srgbClr val="475569"/>
                </a:solidFill>
                <a:latin typeface="Plus Jakarta Sans"/>
              </a:rPr>
              <a:t>kiến</a:t>
            </a:r>
            <a:r>
              <a:rPr b="0" i="0" u="none" dirty="0">
                <a:solidFill>
                  <a:srgbClr val="475569"/>
                </a:solidFill>
                <a:latin typeface="Plus Jakarta Sans"/>
              </a:rPr>
              <a:t> </a:t>
            </a:r>
            <a:r>
              <a:rPr b="0" i="0" u="none" dirty="0" err="1">
                <a:solidFill>
                  <a:srgbClr val="475569"/>
                </a:solidFill>
                <a:latin typeface="Plus Jakarta Sans"/>
              </a:rPr>
              <a:t>thức</a:t>
            </a:r>
            <a:r>
              <a:rPr b="0" i="0" u="none" dirty="0">
                <a:solidFill>
                  <a:srgbClr val="475569"/>
                </a:solidFill>
                <a:latin typeface="Plus Jakarta Sans"/>
              </a:rPr>
              <a:t> </a:t>
            </a:r>
            <a:r>
              <a:rPr b="0" i="0" u="none" dirty="0" err="1">
                <a:solidFill>
                  <a:srgbClr val="475569"/>
                </a:solidFill>
                <a:latin typeface="Plus Jakarta Sans"/>
              </a:rPr>
              <a:t>chung</a:t>
            </a:r>
            <a:r>
              <a:rPr b="0" i="0" u="none" dirty="0">
                <a:solidFill>
                  <a:srgbClr val="475569"/>
                </a:solidFill>
                <a:latin typeface="Plus Jakarta Sans"/>
              </a:rPr>
              <a:t> </a:t>
            </a:r>
            <a:r>
              <a:rPr b="0" i="0" u="none" dirty="0" err="1">
                <a:solidFill>
                  <a:srgbClr val="475569"/>
                </a:solidFill>
                <a:latin typeface="Plus Jakarta Sans"/>
              </a:rPr>
              <a:t>của</a:t>
            </a:r>
            <a:r>
              <a:rPr b="0" i="0" u="none" dirty="0">
                <a:solidFill>
                  <a:srgbClr val="475569"/>
                </a:solidFill>
                <a:latin typeface="Plus Jakarta Sans"/>
              </a:rPr>
              <a:t> </a:t>
            </a:r>
            <a:r>
              <a:rPr b="0" i="0" u="none" dirty="0" err="1">
                <a:solidFill>
                  <a:srgbClr val="475569"/>
                </a:solidFill>
                <a:latin typeface="Plus Jakarta Sans"/>
              </a:rPr>
              <a:t>cả</a:t>
            </a:r>
            <a:r>
              <a:rPr b="0" i="0" u="none" dirty="0">
                <a:solidFill>
                  <a:srgbClr val="475569"/>
                </a:solidFill>
                <a:latin typeface="Plus Jakarta Sans"/>
              </a:rPr>
              <a:t> </a:t>
            </a:r>
            <a:r>
              <a:rPr b="0" i="0" u="none" dirty="0" err="1">
                <a:solidFill>
                  <a:srgbClr val="475569"/>
                </a:solidFill>
                <a:latin typeface="Plus Jakarta Sans"/>
              </a:rPr>
              <a:t>lớp</a:t>
            </a:r>
            <a:r>
              <a:rPr b="0" i="0" u="none" dirty="0">
                <a:solidFill>
                  <a:srgbClr val="475569"/>
                </a:solidFill>
                <a:latin typeface="Plus Jakarta Sans"/>
              </a:rPr>
              <a:t>.</a:t>
            </a:r>
          </a:p>
        </p:txBody>
      </p:sp>
      <p:sp>
        <p:nvSpPr>
          <p:cNvPr id="55" name="TextBox 54">
            <a:extLst>
              <a:ext uri="{FF2B5EF4-FFF2-40B4-BE49-F238E27FC236}">
                <a16:creationId xmlns:a16="http://schemas.microsoft.com/office/drawing/2014/main" id="{B3DB68A7-A0DE-BE90-5F9F-95C9862E10EB}"/>
              </a:ext>
            </a:extLst>
          </p:cNvPr>
          <p:cNvSpPr txBox="1"/>
          <p:nvPr/>
        </p:nvSpPr>
        <p:spPr>
          <a:xfrm>
            <a:off x="5399434" y="4414739"/>
            <a:ext cx="5874990" cy="553998"/>
          </a:xfrm>
          <a:prstGeom prst="rect">
            <a:avLst/>
          </a:prstGeom>
          <a:noFill/>
        </p:spPr>
        <p:txBody>
          <a:bodyPr wrap="square" lIns="0" tIns="0" rIns="0" bIns="0" anchor="t">
            <a:spAutoFit/>
          </a:bodyPr>
          <a:lstStyle/>
          <a:p>
            <a:pPr algn="l"/>
            <a:r>
              <a:rPr b="0" i="0" u="none" dirty="0" err="1">
                <a:solidFill>
                  <a:srgbClr val="475569"/>
                </a:solidFill>
                <a:latin typeface="Plus Jakarta Sans"/>
              </a:rPr>
              <a:t>Phụ</a:t>
            </a:r>
            <a:r>
              <a:rPr b="0" i="0" u="none" dirty="0">
                <a:solidFill>
                  <a:srgbClr val="475569"/>
                </a:solidFill>
                <a:latin typeface="Plus Jakarta Sans"/>
              </a:rPr>
              <a:t> </a:t>
            </a:r>
            <a:r>
              <a:rPr b="0" i="0" u="none" dirty="0" err="1">
                <a:solidFill>
                  <a:srgbClr val="475569"/>
                </a:solidFill>
                <a:latin typeface="Plus Jakarta Sans"/>
              </a:rPr>
              <a:t>huynh</a:t>
            </a:r>
            <a:r>
              <a:rPr b="0" i="0" u="none" dirty="0">
                <a:solidFill>
                  <a:srgbClr val="475569"/>
                </a:solidFill>
                <a:latin typeface="Plus Jakarta Sans"/>
              </a:rPr>
              <a:t> an </a:t>
            </a:r>
            <a:r>
              <a:rPr b="0" i="0" u="none" dirty="0" err="1">
                <a:solidFill>
                  <a:srgbClr val="475569"/>
                </a:solidFill>
                <a:latin typeface="Plus Jakarta Sans"/>
              </a:rPr>
              <a:t>tâm</a:t>
            </a:r>
            <a:r>
              <a:rPr b="0" i="0" u="none" dirty="0">
                <a:solidFill>
                  <a:srgbClr val="475569"/>
                </a:solidFill>
                <a:latin typeface="Plus Jakarta Sans"/>
              </a:rPr>
              <a:t> </a:t>
            </a:r>
            <a:r>
              <a:rPr b="0" i="0" u="none" dirty="0" err="1">
                <a:solidFill>
                  <a:srgbClr val="475569"/>
                </a:solidFill>
                <a:latin typeface="Plus Jakarta Sans"/>
              </a:rPr>
              <a:t>và</a:t>
            </a:r>
            <a:r>
              <a:rPr b="0" i="0" u="none" dirty="0">
                <a:solidFill>
                  <a:srgbClr val="475569"/>
                </a:solidFill>
                <a:latin typeface="Plus Jakarta Sans"/>
              </a:rPr>
              <a:t> </a:t>
            </a:r>
            <a:r>
              <a:rPr b="0" i="0" u="none" dirty="0" err="1">
                <a:solidFill>
                  <a:srgbClr val="475569"/>
                </a:solidFill>
                <a:latin typeface="Plus Jakarta Sans"/>
              </a:rPr>
              <a:t>đánh</a:t>
            </a:r>
            <a:r>
              <a:rPr b="0" i="0" u="none" dirty="0">
                <a:solidFill>
                  <a:srgbClr val="475569"/>
                </a:solidFill>
                <a:latin typeface="Plus Jakarta Sans"/>
              </a:rPr>
              <a:t> </a:t>
            </a:r>
            <a:r>
              <a:rPr b="0" i="0" u="none" dirty="0" err="1">
                <a:solidFill>
                  <a:srgbClr val="475569"/>
                </a:solidFill>
                <a:latin typeface="Plus Jakarta Sans"/>
              </a:rPr>
              <a:t>giá</a:t>
            </a:r>
            <a:r>
              <a:rPr b="0" i="0" u="none" dirty="0">
                <a:solidFill>
                  <a:srgbClr val="475569"/>
                </a:solidFill>
                <a:latin typeface="Plus Jakarta Sans"/>
              </a:rPr>
              <a:t> </a:t>
            </a:r>
            <a:r>
              <a:rPr b="0" i="0" u="none" dirty="0" err="1">
                <a:solidFill>
                  <a:srgbClr val="475569"/>
                </a:solidFill>
                <a:latin typeface="Plus Jakarta Sans"/>
              </a:rPr>
              <a:t>cao</a:t>
            </a:r>
            <a:r>
              <a:rPr b="0" i="0" u="none" dirty="0">
                <a:solidFill>
                  <a:srgbClr val="475569"/>
                </a:solidFill>
                <a:latin typeface="Plus Jakarta Sans"/>
              </a:rPr>
              <a:t> </a:t>
            </a:r>
            <a:r>
              <a:rPr b="0" i="0" u="none" dirty="0" err="1">
                <a:solidFill>
                  <a:srgbClr val="475569"/>
                </a:solidFill>
                <a:latin typeface="Plus Jakarta Sans"/>
              </a:rPr>
              <a:t>hình</a:t>
            </a:r>
            <a:r>
              <a:rPr b="0" i="0" u="none" dirty="0">
                <a:solidFill>
                  <a:srgbClr val="475569"/>
                </a:solidFill>
                <a:latin typeface="Plus Jakarta Sans"/>
              </a:rPr>
              <a:t> </a:t>
            </a:r>
            <a:r>
              <a:rPr b="0" i="0" u="none" dirty="0" err="1">
                <a:solidFill>
                  <a:srgbClr val="475569"/>
                </a:solidFill>
                <a:latin typeface="Plus Jakarta Sans"/>
              </a:rPr>
              <a:t>thức</a:t>
            </a:r>
            <a:r>
              <a:rPr b="0" i="0" u="none" dirty="0">
                <a:solidFill>
                  <a:srgbClr val="475569"/>
                </a:solidFill>
                <a:latin typeface="Plus Jakarta Sans"/>
              </a:rPr>
              <a:t> </a:t>
            </a:r>
            <a:r>
              <a:rPr b="0" i="0" u="none" dirty="0" err="1">
                <a:solidFill>
                  <a:srgbClr val="475569"/>
                </a:solidFill>
                <a:latin typeface="Plus Jakarta Sans"/>
              </a:rPr>
              <a:t>ôn</a:t>
            </a:r>
            <a:r>
              <a:rPr b="0" i="0" u="none" dirty="0">
                <a:solidFill>
                  <a:srgbClr val="475569"/>
                </a:solidFill>
                <a:latin typeface="Plus Jakarta Sans"/>
              </a:rPr>
              <a:t> </a:t>
            </a:r>
            <a:r>
              <a:rPr b="0" i="0" u="none" dirty="0" err="1">
                <a:solidFill>
                  <a:srgbClr val="475569"/>
                </a:solidFill>
                <a:latin typeface="Plus Jakarta Sans"/>
              </a:rPr>
              <a:t>luyện</a:t>
            </a:r>
            <a:r>
              <a:rPr b="0" i="0" u="none" dirty="0">
                <a:solidFill>
                  <a:srgbClr val="475569"/>
                </a:solidFill>
                <a:latin typeface="Plus Jakarta Sans"/>
              </a:rPr>
              <a:t> khoa </a:t>
            </a:r>
            <a:r>
              <a:rPr b="0" i="0" u="none" dirty="0" err="1">
                <a:solidFill>
                  <a:srgbClr val="475569"/>
                </a:solidFill>
                <a:latin typeface="Plus Jakarta Sans"/>
              </a:rPr>
              <a:t>học</a:t>
            </a:r>
            <a:r>
              <a:rPr b="0" i="0" u="none" dirty="0">
                <a:solidFill>
                  <a:srgbClr val="475569"/>
                </a:solidFill>
                <a:latin typeface="Plus Jakarta Sans"/>
              </a:rPr>
              <a:t>, </a:t>
            </a:r>
            <a:r>
              <a:rPr b="0" i="0" u="none" dirty="0" err="1">
                <a:solidFill>
                  <a:srgbClr val="475569"/>
                </a:solidFill>
                <a:latin typeface="Plus Jakarta Sans"/>
              </a:rPr>
              <a:t>không</a:t>
            </a:r>
            <a:r>
              <a:rPr b="0" i="0" u="none" dirty="0">
                <a:solidFill>
                  <a:srgbClr val="475569"/>
                </a:solidFill>
                <a:latin typeface="Plus Jakarta Sans"/>
              </a:rPr>
              <a:t> lo </a:t>
            </a:r>
            <a:r>
              <a:rPr b="0" i="0" u="none" dirty="0" err="1">
                <a:solidFill>
                  <a:srgbClr val="475569"/>
                </a:solidFill>
                <a:latin typeface="Plus Jakarta Sans"/>
              </a:rPr>
              <a:t>ngại</a:t>
            </a:r>
            <a:r>
              <a:rPr b="0" i="0" u="none" dirty="0">
                <a:solidFill>
                  <a:srgbClr val="475569"/>
                </a:solidFill>
                <a:latin typeface="Plus Jakarta Sans"/>
              </a:rPr>
              <a:t> con </a:t>
            </a:r>
            <a:r>
              <a:rPr b="0" i="0" u="none" dirty="0" err="1">
                <a:solidFill>
                  <a:srgbClr val="475569"/>
                </a:solidFill>
                <a:latin typeface="Plus Jakarta Sans"/>
              </a:rPr>
              <a:t>lạm</a:t>
            </a:r>
            <a:r>
              <a:rPr b="0" i="0" u="none" dirty="0">
                <a:solidFill>
                  <a:srgbClr val="475569"/>
                </a:solidFill>
                <a:latin typeface="Plus Jakarta Sans"/>
              </a:rPr>
              <a:t> </a:t>
            </a:r>
            <a:r>
              <a:rPr b="0" i="0" u="none" dirty="0" err="1">
                <a:solidFill>
                  <a:srgbClr val="475569"/>
                </a:solidFill>
                <a:latin typeface="Plus Jakarta Sans"/>
              </a:rPr>
              <a:t>dụng</a:t>
            </a:r>
            <a:r>
              <a:rPr b="0" i="0" u="none" dirty="0">
                <a:solidFill>
                  <a:srgbClr val="475569"/>
                </a:solidFill>
                <a:latin typeface="Plus Jakarta Sans"/>
              </a:rPr>
              <a:t> </a:t>
            </a:r>
            <a:r>
              <a:rPr b="0" i="0" u="none" dirty="0" err="1">
                <a:solidFill>
                  <a:srgbClr val="475569"/>
                </a:solidFill>
                <a:latin typeface="Plus Jakarta Sans"/>
              </a:rPr>
              <a:t>mạng</a:t>
            </a:r>
            <a:r>
              <a:rPr b="0" i="0" u="none" dirty="0">
                <a:solidFill>
                  <a:srgbClr val="475569"/>
                </a:solidFill>
                <a:latin typeface="Plus Jakarta Sans"/>
              </a:rPr>
              <a:t> </a:t>
            </a:r>
            <a:r>
              <a:rPr b="0" i="0" u="none" dirty="0" err="1">
                <a:solidFill>
                  <a:srgbClr val="475569"/>
                </a:solidFill>
                <a:latin typeface="Plus Jakarta Sans"/>
              </a:rPr>
              <a:t>xã</a:t>
            </a:r>
            <a:r>
              <a:rPr b="0" i="0" u="none" dirty="0">
                <a:solidFill>
                  <a:srgbClr val="475569"/>
                </a:solidFill>
                <a:latin typeface="Plus Jakarta Sans"/>
              </a:rPr>
              <a:t> </a:t>
            </a:r>
            <a:r>
              <a:rPr b="0" i="0" u="none" dirty="0" err="1">
                <a:solidFill>
                  <a:srgbClr val="475569"/>
                </a:solidFill>
                <a:latin typeface="Plus Jakarta Sans"/>
              </a:rPr>
              <a:t>hội</a:t>
            </a:r>
            <a:r>
              <a:rPr b="0" i="0" u="none" dirty="0">
                <a:solidFill>
                  <a:srgbClr val="475569"/>
                </a:solidFill>
                <a:latin typeface="Plus Jakarta Sans"/>
              </a:rPr>
              <a:t>.</a:t>
            </a:r>
          </a:p>
        </p:txBody>
      </p:sp>
      <p:sp>
        <p:nvSpPr>
          <p:cNvPr id="57" name="TextBox 56">
            <a:extLst>
              <a:ext uri="{FF2B5EF4-FFF2-40B4-BE49-F238E27FC236}">
                <a16:creationId xmlns:a16="http://schemas.microsoft.com/office/drawing/2014/main" id="{FA4C4733-5349-2F5F-97B0-D4D8F81BC7C8}"/>
              </a:ext>
            </a:extLst>
          </p:cNvPr>
          <p:cNvSpPr txBox="1"/>
          <p:nvPr/>
        </p:nvSpPr>
        <p:spPr>
          <a:xfrm>
            <a:off x="5666134" y="1789404"/>
            <a:ext cx="2045753" cy="369332"/>
          </a:xfrm>
          <a:prstGeom prst="rect">
            <a:avLst/>
          </a:prstGeom>
          <a:noFill/>
        </p:spPr>
        <p:txBody>
          <a:bodyPr wrap="none" lIns="0" tIns="0" rIns="0" bIns="0" anchor="t">
            <a:spAutoFit/>
          </a:bodyPr>
          <a:lstStyle/>
          <a:p>
            <a:pPr algn="l"/>
            <a:r>
              <a:rPr sz="2400" b="1" i="0" u="none" dirty="0" err="1">
                <a:solidFill>
                  <a:srgbClr val="0B1F5C"/>
                </a:solidFill>
                <a:latin typeface="Plus Jakarta Sans"/>
              </a:rPr>
              <a:t>Đối</a:t>
            </a:r>
            <a:r>
              <a:rPr sz="2400" b="1" i="0" u="none" dirty="0">
                <a:solidFill>
                  <a:srgbClr val="0B1F5C"/>
                </a:solidFill>
                <a:latin typeface="Plus Jakarta Sans"/>
              </a:rPr>
              <a:t> </a:t>
            </a:r>
            <a:r>
              <a:rPr sz="2400" b="1" i="0" u="none" dirty="0" err="1">
                <a:solidFill>
                  <a:srgbClr val="0B1F5C"/>
                </a:solidFill>
                <a:latin typeface="Plus Jakarta Sans"/>
              </a:rPr>
              <a:t>với</a:t>
            </a:r>
            <a:r>
              <a:rPr sz="2400" b="1" i="0" u="none" dirty="0">
                <a:solidFill>
                  <a:srgbClr val="0B1F5C"/>
                </a:solidFill>
                <a:latin typeface="Plus Jakarta Sans"/>
              </a:rPr>
              <a:t> </a:t>
            </a:r>
            <a:r>
              <a:rPr sz="2400" b="1" i="0" u="none" dirty="0" err="1">
                <a:solidFill>
                  <a:srgbClr val="0B1F5C"/>
                </a:solidFill>
                <a:latin typeface="Plus Jakarta Sans"/>
              </a:rPr>
              <a:t>học</a:t>
            </a:r>
            <a:r>
              <a:rPr sz="2400" b="1" i="0" u="none" dirty="0">
                <a:solidFill>
                  <a:srgbClr val="0B1F5C"/>
                </a:solidFill>
                <a:latin typeface="Plus Jakarta Sans"/>
              </a:rPr>
              <a:t> </a:t>
            </a:r>
            <a:r>
              <a:rPr sz="2400" b="1" i="0" u="none" dirty="0" err="1">
                <a:solidFill>
                  <a:srgbClr val="0B1F5C"/>
                </a:solidFill>
                <a:latin typeface="Plus Jakarta Sans"/>
              </a:rPr>
              <a:t>sinh</a:t>
            </a:r>
            <a:endParaRPr sz="2400" b="1" i="0" u="none" dirty="0">
              <a:solidFill>
                <a:srgbClr val="0B1F5C"/>
              </a:solidFill>
              <a:latin typeface="Plus Jakarta Sans"/>
            </a:endParaRPr>
          </a:p>
        </p:txBody>
      </p:sp>
      <p:sp>
        <p:nvSpPr>
          <p:cNvPr id="59" name="TextBox 58">
            <a:extLst>
              <a:ext uri="{FF2B5EF4-FFF2-40B4-BE49-F238E27FC236}">
                <a16:creationId xmlns:a16="http://schemas.microsoft.com/office/drawing/2014/main" id="{B90870E0-9048-D1EE-9E32-39070081127B}"/>
              </a:ext>
            </a:extLst>
          </p:cNvPr>
          <p:cNvSpPr txBox="1"/>
          <p:nvPr/>
        </p:nvSpPr>
        <p:spPr>
          <a:xfrm>
            <a:off x="5666134" y="2912306"/>
            <a:ext cx="2138727" cy="369332"/>
          </a:xfrm>
          <a:prstGeom prst="rect">
            <a:avLst/>
          </a:prstGeom>
          <a:noFill/>
        </p:spPr>
        <p:txBody>
          <a:bodyPr wrap="none" lIns="0" tIns="0" rIns="0" bIns="0" anchor="t">
            <a:spAutoFit/>
          </a:bodyPr>
          <a:lstStyle/>
          <a:p>
            <a:pPr algn="l"/>
            <a:r>
              <a:rPr sz="2400" b="1" i="0" u="none" dirty="0" err="1">
                <a:solidFill>
                  <a:srgbClr val="0B1F5C"/>
                </a:solidFill>
                <a:latin typeface="Plus Jakarta Sans"/>
              </a:rPr>
              <a:t>Đối</a:t>
            </a:r>
            <a:r>
              <a:rPr sz="2400" b="1" i="0" u="none" dirty="0">
                <a:solidFill>
                  <a:srgbClr val="0B1F5C"/>
                </a:solidFill>
                <a:latin typeface="Plus Jakarta Sans"/>
              </a:rPr>
              <a:t> </a:t>
            </a:r>
            <a:r>
              <a:rPr sz="2400" b="1" i="0" u="none" dirty="0" err="1">
                <a:solidFill>
                  <a:srgbClr val="0B1F5C"/>
                </a:solidFill>
                <a:latin typeface="Plus Jakarta Sans"/>
              </a:rPr>
              <a:t>với</a:t>
            </a:r>
            <a:r>
              <a:rPr sz="2400" b="1" i="0" u="none" dirty="0">
                <a:solidFill>
                  <a:srgbClr val="0B1F5C"/>
                </a:solidFill>
                <a:latin typeface="Plus Jakarta Sans"/>
              </a:rPr>
              <a:t> </a:t>
            </a:r>
            <a:r>
              <a:rPr sz="2400" b="1" i="0" u="none" dirty="0" err="1">
                <a:solidFill>
                  <a:srgbClr val="0B1F5C"/>
                </a:solidFill>
                <a:latin typeface="Plus Jakarta Sans"/>
              </a:rPr>
              <a:t>giáo</a:t>
            </a:r>
            <a:r>
              <a:rPr sz="2400" b="1" i="0" u="none" dirty="0">
                <a:solidFill>
                  <a:srgbClr val="0B1F5C"/>
                </a:solidFill>
                <a:latin typeface="Plus Jakarta Sans"/>
              </a:rPr>
              <a:t> </a:t>
            </a:r>
            <a:r>
              <a:rPr sz="2400" b="1" i="0" u="none" dirty="0" err="1">
                <a:solidFill>
                  <a:srgbClr val="0B1F5C"/>
                </a:solidFill>
                <a:latin typeface="Plus Jakarta Sans"/>
              </a:rPr>
              <a:t>viên</a:t>
            </a:r>
            <a:endParaRPr sz="2400" b="1" i="0" u="none" dirty="0">
              <a:solidFill>
                <a:srgbClr val="0B1F5C"/>
              </a:solidFill>
              <a:latin typeface="Plus Jakarta Sans"/>
            </a:endParaRPr>
          </a:p>
        </p:txBody>
      </p:sp>
      <p:sp>
        <p:nvSpPr>
          <p:cNvPr id="61" name="TextBox 60">
            <a:extLst>
              <a:ext uri="{FF2B5EF4-FFF2-40B4-BE49-F238E27FC236}">
                <a16:creationId xmlns:a16="http://schemas.microsoft.com/office/drawing/2014/main" id="{9CE3F5DE-9C08-F3EB-66F4-28E4229A39E1}"/>
              </a:ext>
            </a:extLst>
          </p:cNvPr>
          <p:cNvSpPr txBox="1"/>
          <p:nvPr/>
        </p:nvSpPr>
        <p:spPr>
          <a:xfrm>
            <a:off x="5713759" y="4071835"/>
            <a:ext cx="2935099" cy="369332"/>
          </a:xfrm>
          <a:prstGeom prst="rect">
            <a:avLst/>
          </a:prstGeom>
          <a:noFill/>
        </p:spPr>
        <p:txBody>
          <a:bodyPr wrap="none" lIns="0" tIns="0" rIns="0" bIns="0" anchor="t">
            <a:spAutoFit/>
          </a:bodyPr>
          <a:lstStyle/>
          <a:p>
            <a:pPr algn="l"/>
            <a:r>
              <a:rPr sz="2400" b="1" i="0" u="none" dirty="0" err="1">
                <a:solidFill>
                  <a:srgbClr val="0B1F5C"/>
                </a:solidFill>
                <a:latin typeface="Plus Jakarta Sans"/>
              </a:rPr>
              <a:t>Phản</a:t>
            </a:r>
            <a:r>
              <a:rPr sz="2400" b="1" i="0" u="none" dirty="0">
                <a:solidFill>
                  <a:srgbClr val="0B1F5C"/>
                </a:solidFill>
                <a:latin typeface="Plus Jakarta Sans"/>
              </a:rPr>
              <a:t> </a:t>
            </a:r>
            <a:r>
              <a:rPr sz="2400" b="1" i="0" u="none" dirty="0" err="1">
                <a:solidFill>
                  <a:srgbClr val="0B1F5C"/>
                </a:solidFill>
                <a:latin typeface="Plus Jakarta Sans"/>
              </a:rPr>
              <a:t>hồi</a:t>
            </a:r>
            <a:r>
              <a:rPr sz="2400" b="1" i="0" u="none" dirty="0">
                <a:solidFill>
                  <a:srgbClr val="0B1F5C"/>
                </a:solidFill>
                <a:latin typeface="Plus Jakarta Sans"/>
              </a:rPr>
              <a:t> </a:t>
            </a:r>
            <a:r>
              <a:rPr sz="2400" b="1" i="0" u="none" dirty="0" err="1">
                <a:solidFill>
                  <a:srgbClr val="0B1F5C"/>
                </a:solidFill>
                <a:latin typeface="Plus Jakarta Sans"/>
              </a:rPr>
              <a:t>từ</a:t>
            </a:r>
            <a:r>
              <a:rPr sz="2400" b="1" i="0" u="none" dirty="0">
                <a:solidFill>
                  <a:srgbClr val="0B1F5C"/>
                </a:solidFill>
                <a:latin typeface="Plus Jakarta Sans"/>
              </a:rPr>
              <a:t> </a:t>
            </a:r>
            <a:r>
              <a:rPr sz="2400" b="1" i="0" u="none" dirty="0" err="1">
                <a:solidFill>
                  <a:srgbClr val="0B1F5C"/>
                </a:solidFill>
                <a:latin typeface="Plus Jakarta Sans"/>
              </a:rPr>
              <a:t>phụ</a:t>
            </a:r>
            <a:r>
              <a:rPr sz="2400" b="1" i="0" u="none" dirty="0">
                <a:solidFill>
                  <a:srgbClr val="0B1F5C"/>
                </a:solidFill>
                <a:latin typeface="Plus Jakarta Sans"/>
              </a:rPr>
              <a:t> </a:t>
            </a:r>
            <a:r>
              <a:rPr sz="2400" b="1" i="0" u="none" dirty="0" err="1">
                <a:solidFill>
                  <a:srgbClr val="0B1F5C"/>
                </a:solidFill>
                <a:latin typeface="Plus Jakarta Sans"/>
              </a:rPr>
              <a:t>huynh</a:t>
            </a:r>
            <a:endParaRPr sz="2400" b="1" i="0" u="none" dirty="0">
              <a:solidFill>
                <a:srgbClr val="0B1F5C"/>
              </a:solidFill>
              <a:latin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Be Vietnam Pro" pitchFamily="34" charset="0"/>
                <a:ea typeface="Be Vietnam Pro" pitchFamily="34" charset="-122"/>
                <a:cs typeface="Be Vietnam Pro" pitchFamily="34" charset="-120"/>
              </a:rPr>
              <a:t> TỔNG KẾT VÀ PHÁT TRIỂN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789404719"/>
              </p:ext>
            </p:extLst>
          </p:nvPr>
        </p:nvGraphicFramePr>
        <p:xfrm>
          <a:off x="619760" y="1267460"/>
          <a:ext cx="10962639" cy="2095500"/>
        </p:xfrm>
        <a:graphic>
          <a:graphicData uri="http://schemas.openxmlformats.org/drawingml/2006/table">
            <a:tbl>
              <a:tblPr/>
              <a:tblGrid>
                <a:gridCol w="3654213">
                  <a:extLst>
                    <a:ext uri="{9D8B030D-6E8A-4147-A177-3AD203B41FA5}">
                      <a16:colId xmlns:a16="http://schemas.microsoft.com/office/drawing/2014/main" val="20000"/>
                    </a:ext>
                  </a:extLst>
                </a:gridCol>
                <a:gridCol w="3654213">
                  <a:extLst>
                    <a:ext uri="{9D8B030D-6E8A-4147-A177-3AD203B41FA5}">
                      <a16:colId xmlns:a16="http://schemas.microsoft.com/office/drawing/2014/main" val="20001"/>
                    </a:ext>
                  </a:extLst>
                </a:gridCol>
                <a:gridCol w="3654213">
                  <a:extLst>
                    <a:ext uri="{9D8B030D-6E8A-4147-A177-3AD203B41FA5}">
                      <a16:colId xmlns:a16="http://schemas.microsoft.com/office/drawing/2014/main" val="20002"/>
                    </a:ext>
                  </a:extLst>
                </a:gridCol>
              </a:tblGrid>
              <a:tr h="419100">
                <a:tc>
                  <a:txBody>
                    <a:bodyPr/>
                    <a:lstStyle/>
                    <a:p>
                      <a:pPr marL="0" indent="0">
                        <a:lnSpc>
                          <a:spcPts val="1820"/>
                        </a:lnSpc>
                        <a:buNone/>
                      </a:pP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dirty="0">
                          <a:solidFill>
                            <a:srgbClr val="4A5072"/>
                          </a:solidFill>
                          <a:latin typeface="Be Vietnam Pro" pitchFamily="34" charset="0"/>
                          <a:ea typeface="Be Vietnam Pro" pitchFamily="34" charset="-122"/>
                          <a:cs typeface="Be Vietnam Pro" pitchFamily="34" charset="-120"/>
                        </a:rPr>
                        <a:t>Trước đây</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dirty="0">
                          <a:solidFill>
                            <a:srgbClr val="FF0000"/>
                          </a:solidFill>
                          <a:latin typeface="Be Vietnam Pro" pitchFamily="34" charset="0"/>
                          <a:ea typeface="Be Vietnam Pro" pitchFamily="34" charset="-122"/>
                          <a:cs typeface="Be Vietnam Pro" pitchFamily="34" charset="-120"/>
                        </a:rPr>
                        <a:t>Với Vương quốc Từ hay – Câu đẹp</a:t>
                      </a:r>
                      <a:endParaRPr lang="en-US" sz="1300" dirty="0">
                        <a:solidFill>
                          <a:srgbClr val="FF0000"/>
                        </a:solidFill>
                        <a:latin typeface="Be Vietnam Pro" charset="0"/>
                        <a:ea typeface="Be Vietnam Pro" charset="0"/>
                        <a:cs typeface="Be Vietnam Pro" charset="0"/>
                      </a:endParaRPr>
                    </a:p>
                  </a:txBody>
                  <a:tcPr marL="127000" marR="1270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419100">
                <a:tc>
                  <a:txBody>
                    <a:bodyPr/>
                    <a:lstStyle/>
                    <a:p>
                      <a:pPr marL="0" indent="0">
                        <a:lnSpc>
                          <a:spcPts val="1820"/>
                        </a:lnSpc>
                        <a:buNone/>
                      </a:pPr>
                      <a:r>
                        <a:rPr lang="en-US" sz="1300" dirty="0">
                          <a:solidFill>
                            <a:srgbClr val="000054"/>
                          </a:solidFill>
                          <a:latin typeface="Be Vietnam Pro" pitchFamily="34" charset="0"/>
                          <a:ea typeface="Be Vietnam Pro" pitchFamily="34" charset="-122"/>
                          <a:cs typeface="Be Vietnam Pro" pitchFamily="34" charset="-120"/>
                        </a:rPr>
                        <a:t>Bài tập</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4A5072"/>
                          </a:solidFill>
                          <a:latin typeface="Be Vietnam Pro" pitchFamily="34" charset="0"/>
                          <a:ea typeface="Be Vietnam Pro" pitchFamily="34" charset="-122"/>
                          <a:cs typeface="Be Vietnam Pro" pitchFamily="34" charset="-120"/>
                        </a:rPr>
                        <a:t>Phiếu giấy, chấm sau</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Chấm và giải thích ngay từng câu</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19100">
                <a:tc>
                  <a:txBody>
                    <a:bodyPr/>
                    <a:lstStyle/>
                    <a:p>
                      <a:pPr marL="0" indent="0">
                        <a:lnSpc>
                          <a:spcPts val="1820"/>
                        </a:lnSpc>
                        <a:buNone/>
                      </a:pPr>
                      <a:r>
                        <a:rPr lang="en-US" sz="1300" dirty="0">
                          <a:solidFill>
                            <a:srgbClr val="000054"/>
                          </a:solidFill>
                          <a:latin typeface="Be Vietnam Pro" pitchFamily="34" charset="0"/>
                          <a:ea typeface="Be Vietnam Pro" pitchFamily="34" charset="-122"/>
                          <a:cs typeface="Be Vietnam Pro" pitchFamily="34" charset="-120"/>
                        </a:rPr>
                        <a:t>Phân hoá</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4A5072"/>
                          </a:solidFill>
                          <a:latin typeface="Be Vietnam Pro" pitchFamily="34" charset="0"/>
                          <a:ea typeface="Be Vietnam Pro" pitchFamily="34" charset="-122"/>
                          <a:cs typeface="Be Vietnam Pro" pitchFamily="34" charset="-120"/>
                        </a:rPr>
                        <a:t>Một đề chung cho cả lớp</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3 mức, mở khoá theo năng lực từng em</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19100">
                <a:tc>
                  <a:txBody>
                    <a:bodyPr/>
                    <a:lstStyle/>
                    <a:p>
                      <a:pPr marL="0" indent="0">
                        <a:lnSpc>
                          <a:spcPts val="1820"/>
                        </a:lnSpc>
                        <a:buNone/>
                      </a:pPr>
                      <a:r>
                        <a:rPr lang="en-US" sz="1300" dirty="0">
                          <a:solidFill>
                            <a:srgbClr val="000054"/>
                          </a:solidFill>
                          <a:latin typeface="Be Vietnam Pro" pitchFamily="34" charset="0"/>
                          <a:ea typeface="Be Vietnam Pro" pitchFamily="34" charset="-122"/>
                          <a:cs typeface="Be Vietnam Pro" pitchFamily="34" charset="-120"/>
                        </a:rPr>
                        <a:t>Theo dõi</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4A5072"/>
                          </a:solidFill>
                          <a:latin typeface="Be Vietnam Pro" pitchFamily="34" charset="0"/>
                          <a:ea typeface="Be Vietnam Pro" pitchFamily="34" charset="-122"/>
                          <a:cs typeface="Be Vietnam Pro" pitchFamily="34" charset="-120"/>
                        </a:rPr>
                        <a:t>Cô tổng hợp thủ công</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Bảng kết quả theo chủ điểm, tải CSV</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19100">
                <a:tc>
                  <a:txBody>
                    <a:bodyPr/>
                    <a:lstStyle/>
                    <a:p>
                      <a:pPr marL="0" indent="0">
                        <a:lnSpc>
                          <a:spcPts val="1820"/>
                        </a:lnSpc>
                        <a:buNone/>
                      </a:pPr>
                      <a:r>
                        <a:rPr lang="en-US" sz="1300" dirty="0">
                          <a:solidFill>
                            <a:srgbClr val="000054"/>
                          </a:solidFill>
                          <a:latin typeface="Be Vietnam Pro" pitchFamily="34" charset="0"/>
                          <a:ea typeface="Be Vietnam Pro" pitchFamily="34" charset="-122"/>
                          <a:cs typeface="Be Vietnam Pro" pitchFamily="34" charset="-120"/>
                        </a:rPr>
                        <a:t>Nhận xét</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4A5072"/>
                          </a:solidFill>
                          <a:latin typeface="Be Vietnam Pro" pitchFamily="34" charset="0"/>
                          <a:ea typeface="Be Vietnam Pro" pitchFamily="34" charset="-122"/>
                          <a:cs typeface="Be Vietnam Pro" pitchFamily="34" charset="-120"/>
                        </a:rPr>
                        <a:t>Viết tay cho từng em</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B1F3B"/>
                          </a:solidFill>
                          <a:latin typeface="Be Vietnam Pro" pitchFamily="34" charset="0"/>
                          <a:ea typeface="Be Vietnam Pro" pitchFamily="34" charset="-122"/>
                          <a:cs typeface="Be Vietnam Pro" pitchFamily="34" charset="-120"/>
                        </a:rPr>
                        <a:t>AI viết nháp, cô sửa và duyệt</a:t>
                      </a:r>
                      <a:endParaRPr lang="en-US" sz="1300" dirty="0">
                        <a:latin typeface="Be Vietnam Pro"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1"/>
          <p:cNvSpPr/>
          <p:nvPr/>
        </p:nvSpPr>
        <p:spPr>
          <a:xfrm>
            <a:off x="609600" y="3591564"/>
            <a:ext cx="5397500" cy="1089660"/>
          </a:xfrm>
          <a:prstGeom prst="roundRect">
            <a:avLst>
              <a:gd name="adj" fmla="val 9324"/>
            </a:avLst>
          </a:prstGeom>
          <a:solidFill>
            <a:srgbClr val="EEF3FC"/>
          </a:solidFill>
          <a:ln/>
        </p:spPr>
      </p:sp>
      <p:sp>
        <p:nvSpPr>
          <p:cNvPr id="6" name="Text 2"/>
          <p:cNvSpPr/>
          <p:nvPr/>
        </p:nvSpPr>
        <p:spPr>
          <a:xfrm>
            <a:off x="812800" y="3769364"/>
            <a:ext cx="51408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Bền vững, dễ nhân rộng</a:t>
            </a:r>
            <a:endParaRPr lang="en-US" sz="1500" dirty="0"/>
          </a:p>
        </p:txBody>
      </p:sp>
      <p:sp>
        <p:nvSpPr>
          <p:cNvPr id="7" name="Text 3"/>
          <p:cNvSpPr/>
          <p:nvPr/>
        </p:nvSpPr>
        <p:spPr>
          <a:xfrm>
            <a:off x="812800" y="4061464"/>
            <a:ext cx="5140833"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B1F3B"/>
                </a:solidFill>
                <a:latin typeface="Be Vietnam Pro" pitchFamily="34" charset="0"/>
                <a:ea typeface="Be Vietnam Pro" pitchFamily="34" charset="-122"/>
                <a:cs typeface="Be Vietnam Pro" pitchFamily="34" charset="-120"/>
              </a:rPr>
              <a:t>Một tệp HTML, mở bằng trình duyệt, không cần máy chủ. Thay ngân hàng câu hỏi là dùng được cho lớp, khối khác.</a:t>
            </a:r>
            <a:endParaRPr lang="en-US" sz="1200" dirty="0"/>
          </a:p>
        </p:txBody>
      </p:sp>
      <p:sp>
        <p:nvSpPr>
          <p:cNvPr id="8" name="Shape 4"/>
          <p:cNvSpPr/>
          <p:nvPr/>
        </p:nvSpPr>
        <p:spPr>
          <a:xfrm>
            <a:off x="6184900" y="3591564"/>
            <a:ext cx="5397500" cy="1089660"/>
          </a:xfrm>
          <a:prstGeom prst="roundRect">
            <a:avLst>
              <a:gd name="adj" fmla="val 9324"/>
            </a:avLst>
          </a:prstGeom>
          <a:solidFill>
            <a:srgbClr val="EEF3FC"/>
          </a:solidFill>
          <a:ln/>
        </p:spPr>
      </p:sp>
      <p:sp>
        <p:nvSpPr>
          <p:cNvPr id="9" name="Text 5"/>
          <p:cNvSpPr/>
          <p:nvPr/>
        </p:nvSpPr>
        <p:spPr>
          <a:xfrm>
            <a:off x="6388100" y="3769364"/>
            <a:ext cx="51408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54"/>
                </a:solidFill>
                <a:latin typeface="Be Vietnam Pro" pitchFamily="34" charset="0"/>
                <a:ea typeface="Be Vietnam Pro" pitchFamily="34" charset="-122"/>
                <a:cs typeface="Be Vietnam Pro" pitchFamily="34" charset="-120"/>
              </a:rPr>
              <a:t>Định hướng phát triển</a:t>
            </a:r>
            <a:endParaRPr lang="en-US" sz="1500" dirty="0"/>
          </a:p>
        </p:txBody>
      </p:sp>
      <p:sp>
        <p:nvSpPr>
          <p:cNvPr id="10" name="Text 6"/>
          <p:cNvSpPr/>
          <p:nvPr/>
        </p:nvSpPr>
        <p:spPr>
          <a:xfrm>
            <a:off x="6388100" y="4061464"/>
            <a:ext cx="5140833"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B1F3B"/>
                </a:solidFill>
                <a:latin typeface="Be Vietnam Pro" pitchFamily="34" charset="0"/>
                <a:ea typeface="Be Vietnam Pro" pitchFamily="34" charset="-122"/>
                <a:cs typeface="Be Vietnam Pro" pitchFamily="34" charset="-120"/>
              </a:rPr>
              <a:t>[Chia sẻ cho tổ chuyên môn khối 4; mở rộng sang lớp 3, lớp 5; bổ sung câu hỏi AI đã duyệt…]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304800" y="248527"/>
            <a:ext cx="3999722" cy="444500"/>
          </a:xfrm>
          <a:prstGeom prst="rect">
            <a:avLst/>
          </a:prstGeom>
          <a:noFill/>
          <a:ln/>
        </p:spPr>
        <p:txBody>
          <a:bodyPr wrap="square" lIns="0" tIns="0" rIns="0" bIns="0" rtlCol="0" anchor="t">
            <a:normAutofit/>
          </a:bodyPr>
          <a:lstStyle/>
          <a:p>
            <a:pPr>
              <a:lnSpc>
                <a:spcPts val="3300"/>
              </a:lnSpc>
            </a:pPr>
            <a:r>
              <a:rPr lang="en-US" sz="3000" b="1" i="0" dirty="0">
                <a:solidFill>
                  <a:srgbClr val="000054"/>
                </a:solidFill>
                <a:latin typeface="Be Vietnam Pro" pitchFamily="34" charset="0"/>
                <a:ea typeface="Be Vietnam Pro" pitchFamily="34" charset="-122"/>
                <a:cs typeface="Be Vietnam Pro" pitchFamily="34" charset="-120"/>
              </a:rPr>
              <a:t>TÀI LI</a:t>
            </a:r>
            <a:r>
              <a:rPr lang="en-US" b="1" dirty="0"/>
              <a:t>ỆU</a:t>
            </a:r>
            <a:r>
              <a:rPr lang="en-US" sz="3000" b="1" i="0" dirty="0">
                <a:solidFill>
                  <a:srgbClr val="000054"/>
                </a:solidFill>
                <a:latin typeface="Be Vietnam Pro" pitchFamily="34" charset="0"/>
                <a:ea typeface="Be Vietnam Pro" pitchFamily="34" charset="-122"/>
                <a:cs typeface="Be Vietnam Pro" pitchFamily="34" charset="-120"/>
              </a:rPr>
              <a:t> ĐÍNH KÈM</a:t>
            </a:r>
            <a:endParaRPr lang="en-US" sz="3000" dirty="0"/>
          </a:p>
        </p:txBody>
      </p:sp>
      <p:sp>
        <p:nvSpPr>
          <p:cNvPr id="15" name="Shape 12"/>
          <p:cNvSpPr/>
          <p:nvPr/>
        </p:nvSpPr>
        <p:spPr>
          <a:xfrm>
            <a:off x="6885993" y="1282699"/>
            <a:ext cx="4696408" cy="4315668"/>
          </a:xfrm>
          <a:prstGeom prst="roundRect">
            <a:avLst>
              <a:gd name="adj" fmla="val 3228"/>
            </a:avLst>
          </a:prstGeom>
          <a:solidFill>
            <a:srgbClr val="EEF3FC"/>
          </a:solidFill>
          <a:ln/>
        </p:spPr>
      </p:sp>
      <p:pic>
        <p:nvPicPr>
          <p:cNvPr id="16" name="Image 1" descr="Màn hình trạm học Danh từ với phần Ghi nhớ và ba mức luyện tập"/>
          <p:cNvPicPr>
            <a:picLocks noChangeAspect="1"/>
          </p:cNvPicPr>
          <p:nvPr/>
        </p:nvPicPr>
        <p:blipFill>
          <a:blip r:embed="rId4"/>
          <a:srcRect l="72" r="72"/>
          <a:stretch/>
        </p:blipFill>
        <p:spPr>
          <a:xfrm>
            <a:off x="7094076" y="1661160"/>
            <a:ext cx="4488324" cy="2809239"/>
          </a:xfrm>
          <a:prstGeom prst="roundRect">
            <a:avLst>
              <a:gd name="adj" fmla="val 3448"/>
            </a:avLst>
          </a:prstGeom>
        </p:spPr>
      </p:pic>
      <p:sp>
        <p:nvSpPr>
          <p:cNvPr id="17" name="Text 13"/>
          <p:cNvSpPr/>
          <p:nvPr/>
        </p:nvSpPr>
        <p:spPr>
          <a:xfrm>
            <a:off x="7742682" y="4833616"/>
            <a:ext cx="3636518"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A4170"/>
                </a:solidFill>
                <a:latin typeface="Be Vietnam Pro" pitchFamily="34" charset="0"/>
                <a:ea typeface="Be Vietnam Pro" pitchFamily="34" charset="-122"/>
                <a:cs typeface="Be Vietnam Pro" pitchFamily="34" charset="-120"/>
              </a:rPr>
              <a:t>Các đường dẫn được chia sẻ ở chế độ công khai và rút gọn bằng tinyurl/bitly.</a:t>
            </a:r>
            <a:endParaRPr lang="en-US" sz="1200" dirty="0"/>
          </a:p>
        </p:txBody>
      </p:sp>
      <p:sp>
        <p:nvSpPr>
          <p:cNvPr id="14" name="Rounded Rectangle 5">
            <a:extLst>
              <a:ext uri="{FF2B5EF4-FFF2-40B4-BE49-F238E27FC236}">
                <a16:creationId xmlns:a16="http://schemas.microsoft.com/office/drawing/2014/main" id="{A148021D-4002-9B29-2C93-6E3695F93F75}"/>
              </a:ext>
            </a:extLst>
          </p:cNvPr>
          <p:cNvSpPr/>
          <p:nvPr/>
        </p:nvSpPr>
        <p:spPr>
          <a:xfrm>
            <a:off x="304800" y="746807"/>
            <a:ext cx="5543550" cy="1123950"/>
          </a:xfrm>
          <a:prstGeom prst="roundRect">
            <a:avLst>
              <a:gd name="adj" fmla="val 10169"/>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6">
            <a:extLst>
              <a:ext uri="{FF2B5EF4-FFF2-40B4-BE49-F238E27FC236}">
                <a16:creationId xmlns:a16="http://schemas.microsoft.com/office/drawing/2014/main" id="{A8F090E6-27B2-C87E-368B-51176279CC7C}"/>
              </a:ext>
            </a:extLst>
          </p:cNvPr>
          <p:cNvSpPr/>
          <p:nvPr/>
        </p:nvSpPr>
        <p:spPr>
          <a:xfrm>
            <a:off x="352425" y="2035015"/>
            <a:ext cx="5543550" cy="1123950"/>
          </a:xfrm>
          <a:prstGeom prst="roundRect">
            <a:avLst>
              <a:gd name="adj" fmla="val 10169"/>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7">
            <a:extLst>
              <a:ext uri="{FF2B5EF4-FFF2-40B4-BE49-F238E27FC236}">
                <a16:creationId xmlns:a16="http://schemas.microsoft.com/office/drawing/2014/main" id="{27C3C5AE-ADC0-3479-EAD0-170352CBC1EB}"/>
              </a:ext>
            </a:extLst>
          </p:cNvPr>
          <p:cNvSpPr/>
          <p:nvPr/>
        </p:nvSpPr>
        <p:spPr>
          <a:xfrm>
            <a:off x="304800" y="3280457"/>
            <a:ext cx="5543550" cy="1123950"/>
          </a:xfrm>
          <a:prstGeom prst="roundRect">
            <a:avLst>
              <a:gd name="adj" fmla="val 10169"/>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8">
            <a:extLst>
              <a:ext uri="{FF2B5EF4-FFF2-40B4-BE49-F238E27FC236}">
                <a16:creationId xmlns:a16="http://schemas.microsoft.com/office/drawing/2014/main" id="{4448A815-35C2-9451-6F1A-8F88D56E87F3}"/>
              </a:ext>
            </a:extLst>
          </p:cNvPr>
          <p:cNvSpPr/>
          <p:nvPr/>
        </p:nvSpPr>
        <p:spPr>
          <a:xfrm>
            <a:off x="302856" y="4522401"/>
            <a:ext cx="5543550" cy="1123950"/>
          </a:xfrm>
          <a:prstGeom prst="roundRect">
            <a:avLst>
              <a:gd name="adj" fmla="val 10169"/>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9">
            <a:extLst>
              <a:ext uri="{FF2B5EF4-FFF2-40B4-BE49-F238E27FC236}">
                <a16:creationId xmlns:a16="http://schemas.microsoft.com/office/drawing/2014/main" id="{8327D23E-8ABF-4D0F-92CE-C30279AD7895}"/>
              </a:ext>
            </a:extLst>
          </p:cNvPr>
          <p:cNvSpPr/>
          <p:nvPr/>
        </p:nvSpPr>
        <p:spPr>
          <a:xfrm>
            <a:off x="1133475" y="1451657"/>
            <a:ext cx="1990725" cy="238125"/>
          </a:xfrm>
          <a:prstGeom prst="roundRect">
            <a:avLst>
              <a:gd name="adj" fmla="val 16000"/>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10">
            <a:extLst>
              <a:ext uri="{FF2B5EF4-FFF2-40B4-BE49-F238E27FC236}">
                <a16:creationId xmlns:a16="http://schemas.microsoft.com/office/drawing/2014/main" id="{EDF48752-A828-2503-C50A-3D26A8C8B462}"/>
              </a:ext>
            </a:extLst>
          </p:cNvPr>
          <p:cNvSpPr/>
          <p:nvPr/>
        </p:nvSpPr>
        <p:spPr>
          <a:xfrm>
            <a:off x="1181100" y="2739865"/>
            <a:ext cx="1771650" cy="238125"/>
          </a:xfrm>
          <a:prstGeom prst="roundRect">
            <a:avLst>
              <a:gd name="adj" fmla="val 16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11">
            <a:extLst>
              <a:ext uri="{FF2B5EF4-FFF2-40B4-BE49-F238E27FC236}">
                <a16:creationId xmlns:a16="http://schemas.microsoft.com/office/drawing/2014/main" id="{B3A75F87-AB72-87FA-E2B6-0B491FB88900}"/>
              </a:ext>
            </a:extLst>
          </p:cNvPr>
          <p:cNvSpPr/>
          <p:nvPr/>
        </p:nvSpPr>
        <p:spPr>
          <a:xfrm>
            <a:off x="1133475" y="3985307"/>
            <a:ext cx="1381125" cy="238125"/>
          </a:xfrm>
          <a:prstGeom prst="roundRect">
            <a:avLst>
              <a:gd name="adj" fmla="val 16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12">
            <a:extLst>
              <a:ext uri="{FF2B5EF4-FFF2-40B4-BE49-F238E27FC236}">
                <a16:creationId xmlns:a16="http://schemas.microsoft.com/office/drawing/2014/main" id="{0181E276-5235-CB8F-102C-D0A0C08A31DF}"/>
              </a:ext>
            </a:extLst>
          </p:cNvPr>
          <p:cNvSpPr/>
          <p:nvPr/>
        </p:nvSpPr>
        <p:spPr>
          <a:xfrm>
            <a:off x="1131531" y="5227251"/>
            <a:ext cx="1666875" cy="238125"/>
          </a:xfrm>
          <a:prstGeom prst="roundRect">
            <a:avLst>
              <a:gd name="adj" fmla="val 16000"/>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mage.png">
            <a:extLst>
              <a:ext uri="{FF2B5EF4-FFF2-40B4-BE49-F238E27FC236}">
                <a16:creationId xmlns:a16="http://schemas.microsoft.com/office/drawing/2014/main" id="{226AED55-FBB6-5C67-302D-51EF352E353B}"/>
              </a:ext>
            </a:extLst>
          </p:cNvPr>
          <p:cNvPicPr>
            <a:picLocks noChangeAspect="1"/>
          </p:cNvPicPr>
          <p:nvPr/>
        </p:nvPicPr>
        <p:blipFill>
          <a:blip r:embed="rId5"/>
          <a:stretch>
            <a:fillRect/>
          </a:stretch>
        </p:blipFill>
        <p:spPr>
          <a:xfrm>
            <a:off x="523875" y="965882"/>
            <a:ext cx="457200" cy="457200"/>
          </a:xfrm>
          <a:prstGeom prst="rect">
            <a:avLst/>
          </a:prstGeom>
        </p:spPr>
      </p:pic>
      <p:pic>
        <p:nvPicPr>
          <p:cNvPr id="35" name="Picture 34" descr="image.png">
            <a:extLst>
              <a:ext uri="{FF2B5EF4-FFF2-40B4-BE49-F238E27FC236}">
                <a16:creationId xmlns:a16="http://schemas.microsoft.com/office/drawing/2014/main" id="{D7B338F2-DF9C-B999-FEE4-38C405E64E96}"/>
              </a:ext>
            </a:extLst>
          </p:cNvPr>
          <p:cNvPicPr>
            <a:picLocks noChangeAspect="1"/>
          </p:cNvPicPr>
          <p:nvPr/>
        </p:nvPicPr>
        <p:blipFill>
          <a:blip r:embed="rId6"/>
          <a:stretch>
            <a:fillRect/>
          </a:stretch>
        </p:blipFill>
        <p:spPr>
          <a:xfrm>
            <a:off x="571500" y="2254090"/>
            <a:ext cx="457200" cy="457200"/>
          </a:xfrm>
          <a:prstGeom prst="rect">
            <a:avLst/>
          </a:prstGeom>
        </p:spPr>
      </p:pic>
      <p:pic>
        <p:nvPicPr>
          <p:cNvPr id="37" name="Picture 36" descr="image.png">
            <a:extLst>
              <a:ext uri="{FF2B5EF4-FFF2-40B4-BE49-F238E27FC236}">
                <a16:creationId xmlns:a16="http://schemas.microsoft.com/office/drawing/2014/main" id="{5C33B837-347F-AA48-C2FA-F6EA41FE1684}"/>
              </a:ext>
            </a:extLst>
          </p:cNvPr>
          <p:cNvPicPr>
            <a:picLocks noChangeAspect="1"/>
          </p:cNvPicPr>
          <p:nvPr/>
        </p:nvPicPr>
        <p:blipFill>
          <a:blip r:embed="rId7"/>
          <a:stretch>
            <a:fillRect/>
          </a:stretch>
        </p:blipFill>
        <p:spPr>
          <a:xfrm>
            <a:off x="523875" y="3499532"/>
            <a:ext cx="457200" cy="457200"/>
          </a:xfrm>
          <a:prstGeom prst="rect">
            <a:avLst/>
          </a:prstGeom>
        </p:spPr>
      </p:pic>
      <p:pic>
        <p:nvPicPr>
          <p:cNvPr id="39" name="Picture 38" descr="image.png">
            <a:extLst>
              <a:ext uri="{FF2B5EF4-FFF2-40B4-BE49-F238E27FC236}">
                <a16:creationId xmlns:a16="http://schemas.microsoft.com/office/drawing/2014/main" id="{1612F031-4101-6475-60C3-9FEB93BD8606}"/>
              </a:ext>
            </a:extLst>
          </p:cNvPr>
          <p:cNvPicPr>
            <a:picLocks noChangeAspect="1"/>
          </p:cNvPicPr>
          <p:nvPr/>
        </p:nvPicPr>
        <p:blipFill>
          <a:blip r:embed="rId8"/>
          <a:stretch>
            <a:fillRect/>
          </a:stretch>
        </p:blipFill>
        <p:spPr>
          <a:xfrm>
            <a:off x="521931" y="4741476"/>
            <a:ext cx="457200" cy="457200"/>
          </a:xfrm>
          <a:prstGeom prst="rect">
            <a:avLst/>
          </a:prstGeom>
        </p:spPr>
      </p:pic>
      <p:pic>
        <p:nvPicPr>
          <p:cNvPr id="41" name="Picture 40" descr="image.png">
            <a:extLst>
              <a:ext uri="{FF2B5EF4-FFF2-40B4-BE49-F238E27FC236}">
                <a16:creationId xmlns:a16="http://schemas.microsoft.com/office/drawing/2014/main" id="{28D27859-44EE-00E0-87C8-3AEF53843268}"/>
              </a:ext>
            </a:extLst>
          </p:cNvPr>
          <p:cNvPicPr>
            <a:picLocks noChangeAspect="1"/>
          </p:cNvPicPr>
          <p:nvPr/>
        </p:nvPicPr>
        <p:blipFill>
          <a:blip r:embed="rId9"/>
          <a:stretch>
            <a:fillRect/>
          </a:stretch>
        </p:blipFill>
        <p:spPr>
          <a:xfrm>
            <a:off x="647700" y="1089707"/>
            <a:ext cx="209550" cy="209550"/>
          </a:xfrm>
          <a:prstGeom prst="rect">
            <a:avLst/>
          </a:prstGeom>
        </p:spPr>
      </p:pic>
      <p:pic>
        <p:nvPicPr>
          <p:cNvPr id="43" name="Picture 42" descr="image.png">
            <a:extLst>
              <a:ext uri="{FF2B5EF4-FFF2-40B4-BE49-F238E27FC236}">
                <a16:creationId xmlns:a16="http://schemas.microsoft.com/office/drawing/2014/main" id="{9B7F9F7A-3BD8-0B51-0A2A-9514F454C929}"/>
              </a:ext>
            </a:extLst>
          </p:cNvPr>
          <p:cNvPicPr>
            <a:picLocks noChangeAspect="1"/>
          </p:cNvPicPr>
          <p:nvPr/>
        </p:nvPicPr>
        <p:blipFill>
          <a:blip r:embed="rId10"/>
          <a:stretch>
            <a:fillRect/>
          </a:stretch>
        </p:blipFill>
        <p:spPr>
          <a:xfrm>
            <a:off x="690562" y="2368390"/>
            <a:ext cx="219075" cy="228600"/>
          </a:xfrm>
          <a:prstGeom prst="rect">
            <a:avLst/>
          </a:prstGeom>
        </p:spPr>
      </p:pic>
      <p:pic>
        <p:nvPicPr>
          <p:cNvPr id="45" name="Picture 44" descr="image.png">
            <a:extLst>
              <a:ext uri="{FF2B5EF4-FFF2-40B4-BE49-F238E27FC236}">
                <a16:creationId xmlns:a16="http://schemas.microsoft.com/office/drawing/2014/main" id="{BC8AF5AD-DCE2-06D2-9B59-CA1FB1089A66}"/>
              </a:ext>
            </a:extLst>
          </p:cNvPr>
          <p:cNvPicPr>
            <a:picLocks noChangeAspect="1"/>
          </p:cNvPicPr>
          <p:nvPr/>
        </p:nvPicPr>
        <p:blipFill>
          <a:blip r:embed="rId11"/>
          <a:stretch>
            <a:fillRect/>
          </a:stretch>
        </p:blipFill>
        <p:spPr>
          <a:xfrm>
            <a:off x="633412" y="3623357"/>
            <a:ext cx="238125" cy="209550"/>
          </a:xfrm>
          <a:prstGeom prst="rect">
            <a:avLst/>
          </a:prstGeom>
        </p:spPr>
      </p:pic>
      <p:pic>
        <p:nvPicPr>
          <p:cNvPr id="47" name="Picture 46" descr="image.png">
            <a:extLst>
              <a:ext uri="{FF2B5EF4-FFF2-40B4-BE49-F238E27FC236}">
                <a16:creationId xmlns:a16="http://schemas.microsoft.com/office/drawing/2014/main" id="{53A8DDAB-890F-6586-72A0-2F0F9B79C237}"/>
              </a:ext>
            </a:extLst>
          </p:cNvPr>
          <p:cNvPicPr>
            <a:picLocks noChangeAspect="1"/>
          </p:cNvPicPr>
          <p:nvPr/>
        </p:nvPicPr>
        <p:blipFill>
          <a:blip r:embed="rId12"/>
          <a:stretch>
            <a:fillRect/>
          </a:stretch>
        </p:blipFill>
        <p:spPr>
          <a:xfrm>
            <a:off x="645756" y="4865301"/>
            <a:ext cx="209550" cy="209550"/>
          </a:xfrm>
          <a:prstGeom prst="rect">
            <a:avLst/>
          </a:prstGeom>
        </p:spPr>
      </p:pic>
      <p:sp>
        <p:nvSpPr>
          <p:cNvPr id="49" name="TextBox 48">
            <a:extLst>
              <a:ext uri="{FF2B5EF4-FFF2-40B4-BE49-F238E27FC236}">
                <a16:creationId xmlns:a16="http://schemas.microsoft.com/office/drawing/2014/main" id="{13AD97F9-0DBA-EB75-93BF-1D29CFFDA7A6}"/>
              </a:ext>
            </a:extLst>
          </p:cNvPr>
          <p:cNvSpPr txBox="1"/>
          <p:nvPr/>
        </p:nvSpPr>
        <p:spPr>
          <a:xfrm>
            <a:off x="1133475" y="965882"/>
            <a:ext cx="3987998" cy="200025"/>
          </a:xfrm>
          <a:prstGeom prst="rect">
            <a:avLst/>
          </a:prstGeom>
          <a:noFill/>
        </p:spPr>
        <p:txBody>
          <a:bodyPr wrap="none" lIns="0" tIns="0" rIns="0" bIns="0" anchor="t">
            <a:spAutoFit/>
          </a:bodyPr>
          <a:lstStyle/>
          <a:p>
            <a:pPr algn="l"/>
            <a:r>
              <a:rPr sz="1200" b="1" i="0" u="none">
                <a:solidFill>
                  <a:srgbClr val="0B1F5C"/>
                </a:solidFill>
                <a:latin typeface="Plus Jakarta Sans"/>
              </a:rPr>
              <a:t>Trang Dùng Thử Ứng Dụng</a:t>
            </a:r>
          </a:p>
        </p:txBody>
      </p:sp>
      <p:sp>
        <p:nvSpPr>
          <p:cNvPr id="51" name="TextBox 50">
            <a:extLst>
              <a:ext uri="{FF2B5EF4-FFF2-40B4-BE49-F238E27FC236}">
                <a16:creationId xmlns:a16="http://schemas.microsoft.com/office/drawing/2014/main" id="{E05280E5-62C6-D72B-1684-84FA883C6B7E}"/>
              </a:ext>
            </a:extLst>
          </p:cNvPr>
          <p:cNvSpPr txBox="1"/>
          <p:nvPr/>
        </p:nvSpPr>
        <p:spPr>
          <a:xfrm>
            <a:off x="1133475" y="1204007"/>
            <a:ext cx="3798093" cy="152400"/>
          </a:xfrm>
          <a:prstGeom prst="rect">
            <a:avLst/>
          </a:prstGeom>
          <a:noFill/>
        </p:spPr>
        <p:txBody>
          <a:bodyPr wrap="none" lIns="0" tIns="0" rIns="0" bIns="0" anchor="t">
            <a:spAutoFit/>
          </a:bodyPr>
          <a:lstStyle/>
          <a:p>
            <a:pPr algn="l"/>
            <a:r>
              <a:rPr sz="975" b="0" i="0" u="none">
                <a:solidFill>
                  <a:srgbClr val="64748B"/>
                </a:solidFill>
                <a:latin typeface="Plus Jakarta Sans"/>
              </a:rPr>
              <a:t>Trải nghiệm đầy đủ 35 trạm bài học trên nền tảng web.</a:t>
            </a:r>
          </a:p>
        </p:txBody>
      </p:sp>
      <p:sp>
        <p:nvSpPr>
          <p:cNvPr id="53" name="TextBox 52">
            <a:extLst>
              <a:ext uri="{FF2B5EF4-FFF2-40B4-BE49-F238E27FC236}">
                <a16:creationId xmlns:a16="http://schemas.microsoft.com/office/drawing/2014/main" id="{6FF7E3D8-3BD9-F8FB-543D-1AAF74A03E85}"/>
              </a:ext>
            </a:extLst>
          </p:cNvPr>
          <p:cNvSpPr txBox="1"/>
          <p:nvPr/>
        </p:nvSpPr>
        <p:spPr>
          <a:xfrm>
            <a:off x="1228725" y="1489757"/>
            <a:ext cx="1895475" cy="161925"/>
          </a:xfrm>
          <a:prstGeom prst="rect">
            <a:avLst/>
          </a:prstGeom>
          <a:noFill/>
        </p:spPr>
        <p:txBody>
          <a:bodyPr wrap="square" lIns="0" tIns="0" rIns="0" bIns="0" anchor="t">
            <a:spAutoFit/>
          </a:bodyPr>
          <a:lstStyle/>
          <a:p>
            <a:pPr algn="l"/>
            <a:r>
              <a:rPr sz="900" b="1" i="0" u="none">
                <a:solidFill>
                  <a:srgbClr val="0284C7"/>
                </a:solidFill>
                <a:latin typeface="Plus Jakarta Sans"/>
              </a:rPr>
              <a:t>GitHub Pages / Vercel Live Demo</a:t>
            </a:r>
          </a:p>
        </p:txBody>
      </p:sp>
      <p:sp>
        <p:nvSpPr>
          <p:cNvPr id="55" name="TextBox 54">
            <a:extLst>
              <a:ext uri="{FF2B5EF4-FFF2-40B4-BE49-F238E27FC236}">
                <a16:creationId xmlns:a16="http://schemas.microsoft.com/office/drawing/2014/main" id="{5CDB21D8-030D-2DA4-2AD5-CBD2E26517BA}"/>
              </a:ext>
            </a:extLst>
          </p:cNvPr>
          <p:cNvSpPr txBox="1"/>
          <p:nvPr/>
        </p:nvSpPr>
        <p:spPr>
          <a:xfrm>
            <a:off x="1181100" y="2254090"/>
            <a:ext cx="3550443" cy="200025"/>
          </a:xfrm>
          <a:prstGeom prst="rect">
            <a:avLst/>
          </a:prstGeom>
          <a:noFill/>
        </p:spPr>
        <p:txBody>
          <a:bodyPr wrap="none" lIns="0" tIns="0" rIns="0" bIns="0" anchor="t">
            <a:spAutoFit/>
          </a:bodyPr>
          <a:lstStyle/>
          <a:p>
            <a:pPr algn="l"/>
            <a:r>
              <a:rPr sz="1200" b="1" i="0" u="none">
                <a:solidFill>
                  <a:srgbClr val="0B1F5C"/>
                </a:solidFill>
                <a:latin typeface="Plus Jakarta Sans"/>
              </a:rPr>
              <a:t>Mã Nguồn Mở (Repository)</a:t>
            </a:r>
          </a:p>
        </p:txBody>
      </p:sp>
      <p:sp>
        <p:nvSpPr>
          <p:cNvPr id="57" name="TextBox 56">
            <a:extLst>
              <a:ext uri="{FF2B5EF4-FFF2-40B4-BE49-F238E27FC236}">
                <a16:creationId xmlns:a16="http://schemas.microsoft.com/office/drawing/2014/main" id="{7EE1353F-1088-EFBB-6A5F-BD78658E9DBA}"/>
              </a:ext>
            </a:extLst>
          </p:cNvPr>
          <p:cNvSpPr txBox="1"/>
          <p:nvPr/>
        </p:nvSpPr>
        <p:spPr>
          <a:xfrm>
            <a:off x="1181100" y="2492215"/>
            <a:ext cx="3381375" cy="152400"/>
          </a:xfrm>
          <a:prstGeom prst="rect">
            <a:avLst/>
          </a:prstGeom>
          <a:noFill/>
        </p:spPr>
        <p:txBody>
          <a:bodyPr wrap="none" lIns="0" tIns="0" rIns="0" bIns="0" anchor="t">
            <a:spAutoFit/>
          </a:bodyPr>
          <a:lstStyle/>
          <a:p>
            <a:pPr algn="l"/>
            <a:r>
              <a:rPr sz="975" b="0" i="0" u="none">
                <a:solidFill>
                  <a:srgbClr val="64748B"/>
                </a:solidFill>
                <a:latin typeface="Plus Jakarta Sans"/>
              </a:rPr>
              <a:t>github.com/dungptt-dng/tramtu-vacau-lop4</a:t>
            </a:r>
          </a:p>
        </p:txBody>
      </p:sp>
      <p:sp>
        <p:nvSpPr>
          <p:cNvPr id="59" name="TextBox 58">
            <a:extLst>
              <a:ext uri="{FF2B5EF4-FFF2-40B4-BE49-F238E27FC236}">
                <a16:creationId xmlns:a16="http://schemas.microsoft.com/office/drawing/2014/main" id="{C492EC96-D89A-A6F0-0F69-A57549C12B91}"/>
              </a:ext>
            </a:extLst>
          </p:cNvPr>
          <p:cNvSpPr txBox="1"/>
          <p:nvPr/>
        </p:nvSpPr>
        <p:spPr>
          <a:xfrm>
            <a:off x="1276350" y="2777965"/>
            <a:ext cx="1676400" cy="161925"/>
          </a:xfrm>
          <a:prstGeom prst="rect">
            <a:avLst/>
          </a:prstGeom>
          <a:noFill/>
        </p:spPr>
        <p:txBody>
          <a:bodyPr wrap="square" lIns="0" tIns="0" rIns="0" bIns="0" anchor="t">
            <a:spAutoFit/>
          </a:bodyPr>
          <a:lstStyle/>
          <a:p>
            <a:pPr algn="l"/>
            <a:r>
              <a:rPr sz="900" b="1" i="0" u="none">
                <a:solidFill>
                  <a:srgbClr val="334155"/>
                </a:solidFill>
                <a:latin typeface="Plus Jakarta Sans"/>
              </a:rPr>
              <a:t>Single File HTML Architecture</a:t>
            </a:r>
          </a:p>
        </p:txBody>
      </p:sp>
      <p:sp>
        <p:nvSpPr>
          <p:cNvPr id="61" name="TextBox 60">
            <a:extLst>
              <a:ext uri="{FF2B5EF4-FFF2-40B4-BE49-F238E27FC236}">
                <a16:creationId xmlns:a16="http://schemas.microsoft.com/office/drawing/2014/main" id="{09B88F74-D5A8-F380-5D3C-783F19B4FCEF}"/>
              </a:ext>
            </a:extLst>
          </p:cNvPr>
          <p:cNvSpPr txBox="1"/>
          <p:nvPr/>
        </p:nvSpPr>
        <p:spPr>
          <a:xfrm>
            <a:off x="1133475" y="3499532"/>
            <a:ext cx="4950618" cy="200025"/>
          </a:xfrm>
          <a:prstGeom prst="rect">
            <a:avLst/>
          </a:prstGeom>
          <a:noFill/>
        </p:spPr>
        <p:txBody>
          <a:bodyPr wrap="none" lIns="0" tIns="0" rIns="0" bIns="0" anchor="t">
            <a:spAutoFit/>
          </a:bodyPr>
          <a:lstStyle/>
          <a:p>
            <a:pPr algn="l"/>
            <a:r>
              <a:rPr sz="1200" b="1" i="0" u="none">
                <a:solidFill>
                  <a:srgbClr val="0B1F5C"/>
                </a:solidFill>
                <a:latin typeface="Plus Jakarta Sans"/>
              </a:rPr>
              <a:t>Video Clip Giới Thiệu</a:t>
            </a:r>
          </a:p>
        </p:txBody>
      </p:sp>
      <p:sp>
        <p:nvSpPr>
          <p:cNvPr id="63" name="TextBox 62">
            <a:extLst>
              <a:ext uri="{FF2B5EF4-FFF2-40B4-BE49-F238E27FC236}">
                <a16:creationId xmlns:a16="http://schemas.microsoft.com/office/drawing/2014/main" id="{B3DDC88A-627D-BEAE-D91A-877C82A5AED3}"/>
              </a:ext>
            </a:extLst>
          </p:cNvPr>
          <p:cNvSpPr txBox="1"/>
          <p:nvPr/>
        </p:nvSpPr>
        <p:spPr>
          <a:xfrm>
            <a:off x="1133475" y="3737657"/>
            <a:ext cx="4714875" cy="152400"/>
          </a:xfrm>
          <a:prstGeom prst="rect">
            <a:avLst/>
          </a:prstGeom>
          <a:noFill/>
        </p:spPr>
        <p:txBody>
          <a:bodyPr wrap="none" lIns="0" tIns="0" rIns="0" bIns="0" anchor="t">
            <a:spAutoFit/>
          </a:bodyPr>
          <a:lstStyle/>
          <a:p>
            <a:pPr algn="l"/>
            <a:r>
              <a:rPr sz="975" b="0" i="0" u="none">
                <a:solidFill>
                  <a:srgbClr val="64748B"/>
                </a:solidFill>
                <a:latin typeface="Plus Jakarta Sans"/>
              </a:rPr>
              <a:t>Video quay lại quá trình học sinh thao tác và cô hướng dẫn trên lớp.</a:t>
            </a:r>
          </a:p>
        </p:txBody>
      </p:sp>
      <p:sp>
        <p:nvSpPr>
          <p:cNvPr id="65" name="TextBox 64">
            <a:extLst>
              <a:ext uri="{FF2B5EF4-FFF2-40B4-BE49-F238E27FC236}">
                <a16:creationId xmlns:a16="http://schemas.microsoft.com/office/drawing/2014/main" id="{D554EF9D-C666-97CC-785B-B46320B4ACFB}"/>
              </a:ext>
            </a:extLst>
          </p:cNvPr>
          <p:cNvSpPr txBox="1"/>
          <p:nvPr/>
        </p:nvSpPr>
        <p:spPr>
          <a:xfrm>
            <a:off x="1228725" y="4023407"/>
            <a:ext cx="1285875" cy="161925"/>
          </a:xfrm>
          <a:prstGeom prst="rect">
            <a:avLst/>
          </a:prstGeom>
          <a:noFill/>
        </p:spPr>
        <p:txBody>
          <a:bodyPr wrap="square" lIns="0" tIns="0" rIns="0" bIns="0" anchor="t">
            <a:spAutoFit/>
          </a:bodyPr>
          <a:lstStyle/>
          <a:p>
            <a:pPr algn="l"/>
            <a:r>
              <a:rPr sz="900" b="1" i="0" u="none">
                <a:solidFill>
                  <a:srgbClr val="B91C1C"/>
                </a:solidFill>
                <a:latin typeface="Plus Jakarta Sans"/>
              </a:rPr>
              <a:t>YouTube Video Demo</a:t>
            </a:r>
          </a:p>
        </p:txBody>
      </p:sp>
      <p:sp>
        <p:nvSpPr>
          <p:cNvPr id="67" name="TextBox 66">
            <a:extLst>
              <a:ext uri="{FF2B5EF4-FFF2-40B4-BE49-F238E27FC236}">
                <a16:creationId xmlns:a16="http://schemas.microsoft.com/office/drawing/2014/main" id="{56A76619-88B3-A007-3CA0-929C187D145F}"/>
              </a:ext>
            </a:extLst>
          </p:cNvPr>
          <p:cNvSpPr txBox="1"/>
          <p:nvPr/>
        </p:nvSpPr>
        <p:spPr>
          <a:xfrm>
            <a:off x="1131531" y="4741476"/>
            <a:ext cx="4338042" cy="200025"/>
          </a:xfrm>
          <a:prstGeom prst="rect">
            <a:avLst/>
          </a:prstGeom>
          <a:noFill/>
        </p:spPr>
        <p:txBody>
          <a:bodyPr wrap="none" lIns="0" tIns="0" rIns="0" bIns="0" anchor="t">
            <a:spAutoFit/>
          </a:bodyPr>
          <a:lstStyle/>
          <a:p>
            <a:pPr algn="l"/>
            <a:r>
              <a:rPr sz="1200" b="1" i="0" u="none">
                <a:solidFill>
                  <a:srgbClr val="0B1F5C"/>
                </a:solidFill>
                <a:latin typeface="Plus Jakarta Sans"/>
              </a:rPr>
              <a:t>Kho Minh Chứng Google Drive</a:t>
            </a:r>
          </a:p>
        </p:txBody>
      </p:sp>
      <p:sp>
        <p:nvSpPr>
          <p:cNvPr id="69" name="TextBox 68">
            <a:extLst>
              <a:ext uri="{FF2B5EF4-FFF2-40B4-BE49-F238E27FC236}">
                <a16:creationId xmlns:a16="http://schemas.microsoft.com/office/drawing/2014/main" id="{36719DDC-0609-FA72-C8E0-3C25517244D3}"/>
              </a:ext>
            </a:extLst>
          </p:cNvPr>
          <p:cNvSpPr txBox="1"/>
          <p:nvPr/>
        </p:nvSpPr>
        <p:spPr>
          <a:xfrm>
            <a:off x="1131531" y="4979601"/>
            <a:ext cx="4131468" cy="152400"/>
          </a:xfrm>
          <a:prstGeom prst="rect">
            <a:avLst/>
          </a:prstGeom>
          <a:noFill/>
        </p:spPr>
        <p:txBody>
          <a:bodyPr wrap="none" lIns="0" tIns="0" rIns="0" bIns="0" anchor="t">
            <a:spAutoFit/>
          </a:bodyPr>
          <a:lstStyle/>
          <a:p>
            <a:pPr algn="l"/>
            <a:r>
              <a:rPr sz="975" b="0" i="0" u="none">
                <a:solidFill>
                  <a:srgbClr val="64748B"/>
                </a:solidFill>
                <a:latin typeface="Plus Jakarta Sans"/>
              </a:rPr>
              <a:t>Hình ảnh học tập, tệp kết quả CSV và phiếu khảo sát ý kiến.</a:t>
            </a:r>
          </a:p>
        </p:txBody>
      </p:sp>
      <p:sp>
        <p:nvSpPr>
          <p:cNvPr id="71" name="TextBox 70">
            <a:extLst>
              <a:ext uri="{FF2B5EF4-FFF2-40B4-BE49-F238E27FC236}">
                <a16:creationId xmlns:a16="http://schemas.microsoft.com/office/drawing/2014/main" id="{0FA753BB-6512-5BA6-57BE-955F47350B6C}"/>
              </a:ext>
            </a:extLst>
          </p:cNvPr>
          <p:cNvSpPr txBox="1"/>
          <p:nvPr/>
        </p:nvSpPr>
        <p:spPr>
          <a:xfrm>
            <a:off x="1226781" y="5265351"/>
            <a:ext cx="1571625" cy="161925"/>
          </a:xfrm>
          <a:prstGeom prst="rect">
            <a:avLst/>
          </a:prstGeom>
          <a:noFill/>
        </p:spPr>
        <p:txBody>
          <a:bodyPr wrap="square" lIns="0" tIns="0" rIns="0" bIns="0" anchor="t">
            <a:spAutoFit/>
          </a:bodyPr>
          <a:lstStyle/>
          <a:p>
            <a:pPr algn="l"/>
            <a:r>
              <a:rPr sz="900" b="1" i="0" u="none">
                <a:solidFill>
                  <a:srgbClr val="B45309"/>
                </a:solidFill>
                <a:latin typeface="Plus Jakarta Sans"/>
              </a:rPr>
              <a:t>Google Drive Public Folder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00054"/>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25019" b="25019"/>
          <a:stretch/>
        </p:blipFill>
        <p:spPr>
          <a:xfrm>
            <a:off x="0" y="0"/>
            <a:ext cx="12192000" cy="6858000"/>
          </a:xfrm>
          <a:prstGeom prst="rect">
            <a:avLst/>
          </a:prstGeom>
        </p:spPr>
      </p:pic>
      <p:pic>
        <p:nvPicPr>
          <p:cNvPr id="3" name="Image 1" descr="Giải thưởng Tiên phong ứng dụng AI trong giáo dục Việt Nam 2026"/>
          <p:cNvPicPr>
            <a:picLocks noChangeAspect="1"/>
          </p:cNvPicPr>
          <p:nvPr/>
        </p:nvPicPr>
        <p:blipFill>
          <a:blip r:embed="rId4"/>
          <a:srcRect t="4" b="4"/>
          <a:stretch/>
        </p:blipFill>
        <p:spPr>
          <a:xfrm>
            <a:off x="0" y="0"/>
            <a:ext cx="12192000" cy="1917700"/>
          </a:xfrm>
          <a:prstGeom prst="rect">
            <a:avLst/>
          </a:prstGeom>
        </p:spPr>
      </p:pic>
      <p:sp>
        <p:nvSpPr>
          <p:cNvPr id="4" name="Text 0"/>
          <p:cNvSpPr>
            <a:spLocks noGrp="1"/>
          </p:cNvSpPr>
          <p:nvPr>
            <p:ph type="title"/>
          </p:nvPr>
        </p:nvSpPr>
        <p:spPr>
          <a:xfrm>
            <a:off x="445008" y="2984500"/>
            <a:ext cx="11301984" cy="695960"/>
          </a:xfrm>
          <a:prstGeom prst="rect">
            <a:avLst/>
          </a:prstGeom>
          <a:noFill/>
          <a:ln/>
        </p:spPr>
        <p:txBody>
          <a:bodyPr wrap="square" lIns="0" tIns="0" rIns="0" bIns="0" rtlCol="0" anchor="t">
            <a:normAutofit/>
          </a:bodyPr>
          <a:lstStyle/>
          <a:p>
            <a:pPr marL="0" indent="0" algn="ctr">
              <a:lnSpc>
                <a:spcPts val="5280"/>
              </a:lnSpc>
              <a:buNone/>
            </a:pPr>
            <a:r>
              <a:rPr lang="en-US" sz="4800" b="1" i="0" dirty="0">
                <a:solidFill>
                  <a:srgbClr val="FFFFFF"/>
                </a:solidFill>
                <a:latin typeface="Be Vietnam Pro" pitchFamily="34" charset="0"/>
                <a:ea typeface="Be Vietnam Pro" pitchFamily="34" charset="-122"/>
                <a:cs typeface="Be Vietnam Pro" pitchFamily="34" charset="-120"/>
              </a:rPr>
              <a:t>TRÂN TRỌNG CẢM ƠN!</a:t>
            </a:r>
            <a:endParaRPr lang="en-US" sz="4800" dirty="0"/>
          </a:p>
        </p:txBody>
      </p:sp>
      <p:sp>
        <p:nvSpPr>
          <p:cNvPr id="5" name="Text 1"/>
          <p:cNvSpPr/>
          <p:nvPr/>
        </p:nvSpPr>
        <p:spPr>
          <a:xfrm>
            <a:off x="445008" y="3810000"/>
            <a:ext cx="11301984" cy="322580"/>
          </a:xfrm>
          <a:prstGeom prst="rect">
            <a:avLst/>
          </a:prstGeom>
          <a:noFill/>
          <a:ln/>
        </p:spPr>
        <p:txBody>
          <a:bodyPr wrap="square" lIns="0" tIns="0" rIns="0" bIns="0" rtlCol="0" anchor="t">
            <a:normAutofit/>
          </a:bodyPr>
          <a:lstStyle/>
          <a:p>
            <a:pPr marL="0" indent="0" algn="ctr">
              <a:lnSpc>
                <a:spcPts val="2340"/>
              </a:lnSpc>
              <a:buNone/>
            </a:pPr>
            <a:r>
              <a:rPr lang="en-US" sz="1800" b="1" dirty="0">
                <a:solidFill>
                  <a:srgbClr val="FFEA00"/>
                </a:solidFill>
                <a:latin typeface="Be Vietnam Pro" pitchFamily="34" charset="0"/>
                <a:ea typeface="Be Vietnam Pro" pitchFamily="34" charset="-122"/>
                <a:cs typeface="Be Vietnam Pro" pitchFamily="34" charset="-120"/>
              </a:rPr>
              <a:t>Vương quốc Từ hay – Câu đẹp Lớp 4</a:t>
            </a:r>
            <a:endParaRPr lang="en-US" sz="1800" dirty="0"/>
          </a:p>
        </p:txBody>
      </p:sp>
      <p:sp>
        <p:nvSpPr>
          <p:cNvPr id="6" name="Text 2"/>
          <p:cNvSpPr/>
          <p:nvPr/>
        </p:nvSpPr>
        <p:spPr>
          <a:xfrm>
            <a:off x="445008" y="4191000"/>
            <a:ext cx="11301984"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FFFFFF"/>
                </a:solidFill>
                <a:latin typeface="Be Vietnam Pro" pitchFamily="34" charset="0"/>
                <a:ea typeface="Be Vietnam Pro" pitchFamily="34" charset="-122"/>
                <a:cs typeface="Be Vietnam Pro" pitchFamily="34" charset="-120"/>
              </a:rPr>
              <a:t>Phạm Thị Thùy Dung · Trường Tiểu học Huỳnh Ngọc Huệ, Đà Nẵng</a:t>
            </a:r>
            <a:endParaRPr lang="en-US" sz="1400" dirty="0"/>
          </a:p>
        </p:txBody>
      </p:sp>
    </p:spTree>
  </p:cSld>
  <p:clrMapOvr>
    <a:masterClrMapping/>
  </p:clrMapOvr>
</p:sld>
</file>

<file path=ppt/theme/theme1.xml><?xml version="1.0" encoding="utf-8"?>
<a:theme xmlns:a="http://schemas.openxmlformats.org/drawingml/2006/main" name="Vương quốc Từ hay – Câu đẹp Lớp 4">
  <a:themeElements>
    <a:clrScheme name="Vương quốc Từ hay – Câu đẹp Lớp 4">
      <a:dk1>
        <a:srgbClr val="000054"/>
      </a:dk1>
      <a:lt1>
        <a:srgbClr val="FFFFFF"/>
      </a:lt1>
      <a:dk2>
        <a:srgbClr val="40407F"/>
      </a:dk2>
      <a:lt2>
        <a:srgbClr val="E6E6EE"/>
      </a:lt2>
      <a:accent1>
        <a:srgbClr val="1E5BD8"/>
      </a:accent1>
      <a:accent2>
        <a:srgbClr val="FFEA00"/>
      </a:accent2>
      <a:accent3>
        <a:srgbClr val="E61E2A"/>
      </a:accent3>
      <a:accent4>
        <a:srgbClr val="12207A"/>
      </a:accent4>
      <a:accent5>
        <a:srgbClr val="3A4170"/>
      </a:accent5>
      <a:accent6>
        <a:srgbClr val="4A5072"/>
      </a:accent6>
      <a:hlink>
        <a:srgbClr val="0563C1"/>
      </a:hlink>
      <a:folHlink>
        <a:srgbClr val="954F72"/>
      </a:folHlink>
    </a:clrScheme>
    <a:fontScheme name="Vương quốc Từ hay – Câu đẹp Lớp 4">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2102</Words>
  <Application>Microsoft Office PowerPoint</Application>
  <PresentationFormat>Widescreen</PresentationFormat>
  <Paragraphs>215</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Barlow Condensed Black</vt:lpstr>
      <vt:lpstr>Be Vietnam Pro Bold</vt:lpstr>
      <vt:lpstr>Arial</vt:lpstr>
      <vt:lpstr>Plus Jakarta Sans</vt:lpstr>
      <vt:lpstr>Be Vietnam Pro</vt:lpstr>
      <vt:lpstr>Vương quốc Từ hay – Câu đẹp Lớp 4</vt:lpstr>
      <vt:lpstr>VƯƠNG QUỐC TỪ HAY – CÂU ĐẸP LỚP 4</vt:lpstr>
      <vt:lpstr>DÀN Ý SLIDE</vt:lpstr>
      <vt:lpstr>PowerPoint Presentation</vt:lpstr>
      <vt:lpstr>BỐI CẢNH VÀ VẤN ĐỀ</vt:lpstr>
      <vt:lpstr>Ý TƯỞNG VÀ GIẢI PHÁP</vt:lpstr>
      <vt:lpstr> GÓC HỌC SINH</vt:lpstr>
      <vt:lpstr>PHẢN HỒI VÀ THÁM TỬ AI</vt:lpstr>
      <vt:lpstr>TRỢ LÝ AI CHO GIÁO VIÊN</vt:lpstr>
      <vt:lpstr>ĐẠO ĐỨC KHI DÙNG AI</vt:lpstr>
      <vt:lpstr>TRIỂN KHAI THỰC TẾ</vt:lpstr>
      <vt:lpstr>KẾT QUẢ VÀ TÁC ĐỘNG</vt:lpstr>
      <vt:lpstr> TỔNG KẾT VÀ PHÁT TRIỂN</vt:lpstr>
      <vt:lpstr>TÀI LIỆU ĐÍNH KÈM</vt:lpstr>
      <vt:lpstr>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Vương quốc Từ hay – Câu đẹp Lớp 4</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Hieu Tran</cp:lastModifiedBy>
  <cp:revision>6</cp:revision>
  <dcterms:created xsi:type="dcterms:W3CDTF">2026-10-23T04:34:42Z</dcterms:created>
  <dcterms:modified xsi:type="dcterms:W3CDTF">2026-10-24T07:29:02Z</dcterms:modified>
</cp:coreProperties>
</file>